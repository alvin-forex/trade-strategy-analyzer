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2286000"/>
            <a:ext cx="12191695" cy="2560320"/>
          </a:xfrm>
          <a:prstGeom prst="rect">
            <a:avLst/>
          </a:prstGeom>
          <a:solidFill>
            <a:srgbClr val="0F3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457200"/>
          </a:xfrm>
          <a:prstGeom prst="rect">
            <a:avLst/>
          </a:prstGeom>
          <a:noFill/>
        </p:spPr>
        <p:txBody>
          <a:bodyPr wrap="square">
            <a:spAutoFit/>
          </a:bodyPr>
          <a:lstStyle/>
          <a:p>
            <a:pPr algn="l">
              <a:defRPr sz="1600" b="1">
                <a:solidFill>
                  <a:srgbClr val="A0A8B8"/>
                </a:solidFill>
                <a:latin typeface="Segoe UI"/>
              </a:defRPr>
            </a:pPr>
            <a:r>
              <a:t>TRADE STRATEGY ANALYZER</a:t>
            </a:r>
          </a:p>
        </p:txBody>
      </p:sp>
      <p:sp>
        <p:nvSpPr>
          <p:cNvPr id="4" name="TextBox 3"/>
          <p:cNvSpPr txBox="1"/>
          <p:nvPr/>
        </p:nvSpPr>
        <p:spPr>
          <a:xfrm>
            <a:off x="914400" y="2468880"/>
            <a:ext cx="10058400" cy="1097280"/>
          </a:xfrm>
          <a:prstGeom prst="rect">
            <a:avLst/>
          </a:prstGeom>
          <a:noFill/>
        </p:spPr>
        <p:txBody>
          <a:bodyPr wrap="square">
            <a:spAutoFit/>
          </a:bodyPr>
          <a:lstStyle/>
          <a:p>
            <a:pPr algn="l">
              <a:defRPr sz="4800" b="1">
                <a:solidFill>
                  <a:srgbClr val="F0F0F0"/>
                </a:solidFill>
                <a:latin typeface="Segoe UI"/>
              </a:defRPr>
            </a:pPr>
            <a:r>
              <a:t>系統架構說明書</a:t>
            </a:r>
          </a:p>
        </p:txBody>
      </p:sp>
      <p:sp>
        <p:nvSpPr>
          <p:cNvPr id="5" name="TextBox 4"/>
          <p:cNvSpPr txBox="1"/>
          <p:nvPr/>
        </p:nvSpPr>
        <p:spPr>
          <a:xfrm>
            <a:off x="914400" y="3566160"/>
            <a:ext cx="10058400" cy="548640"/>
          </a:xfrm>
          <a:prstGeom prst="rect">
            <a:avLst/>
          </a:prstGeom>
          <a:noFill/>
        </p:spPr>
        <p:txBody>
          <a:bodyPr wrap="square">
            <a:spAutoFit/>
          </a:bodyPr>
          <a:lstStyle/>
          <a:p>
            <a:pPr algn="l">
              <a:defRPr sz="2000" b="0">
                <a:solidFill>
                  <a:srgbClr val="CCDDFF"/>
                </a:solidFill>
                <a:latin typeface="Segoe UI"/>
              </a:defRPr>
            </a:pPr>
            <a:r>
              <a:t>每頁功能 · 使用方法 · 計算原理 · 流程演示 · 風險分析</a:t>
            </a:r>
          </a:p>
        </p:txBody>
      </p:sp>
      <p:sp>
        <p:nvSpPr>
          <p:cNvPr id="6" name="TextBox 5"/>
          <p:cNvSpPr txBox="1"/>
          <p:nvPr/>
        </p:nvSpPr>
        <p:spPr>
          <a:xfrm>
            <a:off x="914400" y="5303520"/>
            <a:ext cx="4572000" cy="365760"/>
          </a:xfrm>
          <a:prstGeom prst="rect">
            <a:avLst/>
          </a:prstGeom>
          <a:noFill/>
        </p:spPr>
        <p:txBody>
          <a:bodyPr wrap="square">
            <a:spAutoFit/>
          </a:bodyPr>
          <a:lstStyle/>
          <a:p>
            <a:pPr algn="l">
              <a:defRPr sz="1400" b="0">
                <a:solidFill>
                  <a:srgbClr val="A0A8B8"/>
                </a:solidFill>
                <a:latin typeface="Segoe UI"/>
              </a:defRPr>
            </a:pPr>
            <a:r>
              <a:t>版本 v0.7  |  2026-05-18</a:t>
            </a:r>
          </a:p>
        </p:txBody>
      </p:sp>
      <p:sp>
        <p:nvSpPr>
          <p:cNvPr id="7" name="TextBox 6"/>
          <p:cNvSpPr txBox="1"/>
          <p:nvPr/>
        </p:nvSpPr>
        <p:spPr>
          <a:xfrm>
            <a:off x="914400" y="5669280"/>
            <a:ext cx="4572000" cy="365760"/>
          </a:xfrm>
          <a:prstGeom prst="rect">
            <a:avLst/>
          </a:prstGeom>
          <a:noFill/>
        </p:spPr>
        <p:txBody>
          <a:bodyPr wrap="square">
            <a:spAutoFit/>
          </a:bodyPr>
          <a:lstStyle/>
          <a:p>
            <a:pPr algn="l">
              <a:defRPr sz="1400" b="0">
                <a:solidFill>
                  <a:srgbClr val="A0A8B8"/>
                </a:solidFill>
                <a:latin typeface="Segoe UI"/>
              </a:defRPr>
            </a:pPr>
            <a:r>
              <a:t>丁蟹 🦀 + Alvin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目錄 — 20 個功能頁面一覽</a:t>
            </a:r>
          </a:p>
        </p:txBody>
      </p:sp>
      <p:sp>
        <p:nvSpPr>
          <p:cNvPr id="4" name="Rounded Rectangle 3"/>
          <p:cNvSpPr/>
          <p:nvPr/>
        </p:nvSpPr>
        <p:spPr>
          <a:xfrm>
            <a:off x="548640" y="137160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44752"/>
            <a:ext cx="2377440" cy="320040"/>
          </a:xfrm>
          <a:prstGeom prst="rect">
            <a:avLst/>
          </a:prstGeom>
          <a:noFill/>
        </p:spPr>
        <p:txBody>
          <a:bodyPr wrap="square">
            <a:spAutoFit/>
          </a:bodyPr>
          <a:lstStyle/>
          <a:p>
            <a:pPr algn="l">
              <a:defRPr sz="1500" b="1">
                <a:solidFill>
                  <a:srgbClr val="E94560"/>
                </a:solidFill>
                <a:latin typeface="Segoe UI"/>
              </a:defRPr>
            </a:pPr>
            <a:r>
              <a:t>📈 收益曲線</a:t>
            </a:r>
          </a:p>
        </p:txBody>
      </p:sp>
      <p:sp>
        <p:nvSpPr>
          <p:cNvPr id="6" name="TextBox 5"/>
          <p:cNvSpPr txBox="1"/>
          <p:nvPr/>
        </p:nvSpPr>
        <p:spPr>
          <a:xfrm>
            <a:off x="685800" y="1810512"/>
            <a:ext cx="2377440" cy="274320"/>
          </a:xfrm>
          <a:prstGeom prst="rect">
            <a:avLst/>
          </a:prstGeom>
          <a:noFill/>
        </p:spPr>
        <p:txBody>
          <a:bodyPr wrap="square">
            <a:spAutoFit/>
          </a:bodyPr>
          <a:lstStyle/>
          <a:p>
            <a:pPr algn="l">
              <a:defRPr sz="1100" b="0">
                <a:solidFill>
                  <a:srgbClr val="A0A8B8"/>
                </a:solidFill>
                <a:latin typeface="Segoe UI"/>
              </a:defRPr>
            </a:pPr>
            <a:r>
              <a:t>Equity Curve</a:t>
            </a:r>
          </a:p>
        </p:txBody>
      </p:sp>
      <p:sp>
        <p:nvSpPr>
          <p:cNvPr id="7" name="Rounded Rectangle 6"/>
          <p:cNvSpPr/>
          <p:nvPr/>
        </p:nvSpPr>
        <p:spPr>
          <a:xfrm>
            <a:off x="3383280" y="137160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444752"/>
            <a:ext cx="2377440" cy="320040"/>
          </a:xfrm>
          <a:prstGeom prst="rect">
            <a:avLst/>
          </a:prstGeom>
          <a:noFill/>
        </p:spPr>
        <p:txBody>
          <a:bodyPr wrap="square">
            <a:spAutoFit/>
          </a:bodyPr>
          <a:lstStyle/>
          <a:p>
            <a:pPr algn="l">
              <a:defRPr sz="1500" b="1">
                <a:solidFill>
                  <a:srgbClr val="E94560"/>
                </a:solidFill>
                <a:latin typeface="Segoe UI"/>
              </a:defRPr>
            </a:pPr>
            <a:r>
              <a:t>🎯 質量評分</a:t>
            </a:r>
          </a:p>
        </p:txBody>
      </p:sp>
      <p:sp>
        <p:nvSpPr>
          <p:cNvPr id="9" name="TextBox 8"/>
          <p:cNvSpPr txBox="1"/>
          <p:nvPr/>
        </p:nvSpPr>
        <p:spPr>
          <a:xfrm>
            <a:off x="3520440" y="1810512"/>
            <a:ext cx="2377440" cy="274320"/>
          </a:xfrm>
          <a:prstGeom prst="rect">
            <a:avLst/>
          </a:prstGeom>
          <a:noFill/>
        </p:spPr>
        <p:txBody>
          <a:bodyPr wrap="square">
            <a:spAutoFit/>
          </a:bodyPr>
          <a:lstStyle/>
          <a:p>
            <a:pPr algn="l">
              <a:defRPr sz="1100" b="0">
                <a:solidFill>
                  <a:srgbClr val="A0A8B8"/>
                </a:solidFill>
                <a:latin typeface="Segoe UI"/>
              </a:defRPr>
            </a:pPr>
            <a:r>
              <a:t>Quality Scoring</a:t>
            </a:r>
          </a:p>
        </p:txBody>
      </p:sp>
      <p:sp>
        <p:nvSpPr>
          <p:cNvPr id="10" name="Rounded Rectangle 9"/>
          <p:cNvSpPr/>
          <p:nvPr/>
        </p:nvSpPr>
        <p:spPr>
          <a:xfrm>
            <a:off x="6217920" y="137160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444752"/>
            <a:ext cx="2377440" cy="320040"/>
          </a:xfrm>
          <a:prstGeom prst="rect">
            <a:avLst/>
          </a:prstGeom>
          <a:noFill/>
        </p:spPr>
        <p:txBody>
          <a:bodyPr wrap="square">
            <a:spAutoFit/>
          </a:bodyPr>
          <a:lstStyle/>
          <a:p>
            <a:pPr algn="l">
              <a:defRPr sz="1500" b="1">
                <a:solidFill>
                  <a:srgbClr val="E94560"/>
                </a:solidFill>
                <a:latin typeface="Segoe UI"/>
              </a:defRPr>
            </a:pPr>
            <a:r>
              <a:t>💱 貨幣對</a:t>
            </a:r>
          </a:p>
        </p:txBody>
      </p:sp>
      <p:sp>
        <p:nvSpPr>
          <p:cNvPr id="12" name="TextBox 11"/>
          <p:cNvSpPr txBox="1"/>
          <p:nvPr/>
        </p:nvSpPr>
        <p:spPr>
          <a:xfrm>
            <a:off x="6355080" y="1810512"/>
            <a:ext cx="2377440" cy="274320"/>
          </a:xfrm>
          <a:prstGeom prst="rect">
            <a:avLst/>
          </a:prstGeom>
          <a:noFill/>
        </p:spPr>
        <p:txBody>
          <a:bodyPr wrap="square">
            <a:spAutoFit/>
          </a:bodyPr>
          <a:lstStyle/>
          <a:p>
            <a:pPr algn="l">
              <a:defRPr sz="1100" b="0">
                <a:solidFill>
                  <a:srgbClr val="A0A8B8"/>
                </a:solidFill>
                <a:latin typeface="Segoe UI"/>
              </a:defRPr>
            </a:pPr>
            <a:r>
              <a:t>Symbol Analysis</a:t>
            </a:r>
          </a:p>
        </p:txBody>
      </p:sp>
      <p:sp>
        <p:nvSpPr>
          <p:cNvPr id="13" name="Rounded Rectangle 12"/>
          <p:cNvSpPr/>
          <p:nvPr/>
        </p:nvSpPr>
        <p:spPr>
          <a:xfrm>
            <a:off x="9052560" y="137160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444752"/>
            <a:ext cx="2377440" cy="320040"/>
          </a:xfrm>
          <a:prstGeom prst="rect">
            <a:avLst/>
          </a:prstGeom>
          <a:noFill/>
        </p:spPr>
        <p:txBody>
          <a:bodyPr wrap="square">
            <a:spAutoFit/>
          </a:bodyPr>
          <a:lstStyle/>
          <a:p>
            <a:pPr algn="l">
              <a:defRPr sz="1500" b="1">
                <a:solidFill>
                  <a:srgbClr val="E94560"/>
                </a:solidFill>
                <a:latin typeface="Segoe UI"/>
              </a:defRPr>
            </a:pPr>
            <a:r>
              <a:t>📚 層數分析</a:t>
            </a:r>
          </a:p>
        </p:txBody>
      </p:sp>
      <p:sp>
        <p:nvSpPr>
          <p:cNvPr id="15" name="TextBox 14"/>
          <p:cNvSpPr txBox="1"/>
          <p:nvPr/>
        </p:nvSpPr>
        <p:spPr>
          <a:xfrm>
            <a:off x="9189720" y="1810512"/>
            <a:ext cx="2377440" cy="274320"/>
          </a:xfrm>
          <a:prstGeom prst="rect">
            <a:avLst/>
          </a:prstGeom>
          <a:noFill/>
        </p:spPr>
        <p:txBody>
          <a:bodyPr wrap="square">
            <a:spAutoFit/>
          </a:bodyPr>
          <a:lstStyle/>
          <a:p>
            <a:pPr algn="l">
              <a:defRPr sz="1100" b="0">
                <a:solidFill>
                  <a:srgbClr val="A0A8B8"/>
                </a:solidFill>
                <a:latin typeface="Segoe UI"/>
              </a:defRPr>
            </a:pPr>
            <a:r>
              <a:t>Layer Analysis</a:t>
            </a:r>
          </a:p>
        </p:txBody>
      </p:sp>
      <p:sp>
        <p:nvSpPr>
          <p:cNvPr id="16" name="Rounded Rectangle 15"/>
          <p:cNvSpPr/>
          <p:nvPr/>
        </p:nvSpPr>
        <p:spPr>
          <a:xfrm>
            <a:off x="548640" y="242316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496312"/>
            <a:ext cx="2377440" cy="320040"/>
          </a:xfrm>
          <a:prstGeom prst="rect">
            <a:avLst/>
          </a:prstGeom>
          <a:noFill/>
        </p:spPr>
        <p:txBody>
          <a:bodyPr wrap="square">
            <a:spAutoFit/>
          </a:bodyPr>
          <a:lstStyle/>
          <a:p>
            <a:pPr algn="l">
              <a:defRPr sz="1500" b="1">
                <a:solidFill>
                  <a:srgbClr val="E94560"/>
                </a:solidFill>
                <a:latin typeface="Segoe UI"/>
              </a:defRPr>
            </a:pPr>
            <a:r>
              <a:t>🕐 時段分析</a:t>
            </a:r>
          </a:p>
        </p:txBody>
      </p:sp>
      <p:sp>
        <p:nvSpPr>
          <p:cNvPr id="18" name="TextBox 17"/>
          <p:cNvSpPr txBox="1"/>
          <p:nvPr/>
        </p:nvSpPr>
        <p:spPr>
          <a:xfrm>
            <a:off x="685800" y="2862072"/>
            <a:ext cx="2377440" cy="274320"/>
          </a:xfrm>
          <a:prstGeom prst="rect">
            <a:avLst/>
          </a:prstGeom>
          <a:noFill/>
        </p:spPr>
        <p:txBody>
          <a:bodyPr wrap="square">
            <a:spAutoFit/>
          </a:bodyPr>
          <a:lstStyle/>
          <a:p>
            <a:pPr algn="l">
              <a:defRPr sz="1100" b="0">
                <a:solidFill>
                  <a:srgbClr val="A0A8B8"/>
                </a:solidFill>
                <a:latin typeface="Segoe UI"/>
              </a:defRPr>
            </a:pPr>
            <a:r>
              <a:t>Session Analysis</a:t>
            </a:r>
          </a:p>
        </p:txBody>
      </p:sp>
      <p:sp>
        <p:nvSpPr>
          <p:cNvPr id="19" name="Rounded Rectangle 18"/>
          <p:cNvSpPr/>
          <p:nvPr/>
        </p:nvSpPr>
        <p:spPr>
          <a:xfrm>
            <a:off x="3383280" y="242316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0440" y="2496312"/>
            <a:ext cx="2377440" cy="320040"/>
          </a:xfrm>
          <a:prstGeom prst="rect">
            <a:avLst/>
          </a:prstGeom>
          <a:noFill/>
        </p:spPr>
        <p:txBody>
          <a:bodyPr wrap="square">
            <a:spAutoFit/>
          </a:bodyPr>
          <a:lstStyle/>
          <a:p>
            <a:pPr algn="l">
              <a:defRPr sz="1500" b="1">
                <a:solidFill>
                  <a:srgbClr val="E94560"/>
                </a:solidFill>
                <a:latin typeface="Segoe UI"/>
              </a:defRPr>
            </a:pPr>
            <a:r>
              <a:t>⏱️ 持倉時間</a:t>
            </a:r>
          </a:p>
        </p:txBody>
      </p:sp>
      <p:sp>
        <p:nvSpPr>
          <p:cNvPr id="21" name="TextBox 20"/>
          <p:cNvSpPr txBox="1"/>
          <p:nvPr/>
        </p:nvSpPr>
        <p:spPr>
          <a:xfrm>
            <a:off x="3520440" y="2862072"/>
            <a:ext cx="2377440" cy="274320"/>
          </a:xfrm>
          <a:prstGeom prst="rect">
            <a:avLst/>
          </a:prstGeom>
          <a:noFill/>
        </p:spPr>
        <p:txBody>
          <a:bodyPr wrap="square">
            <a:spAutoFit/>
          </a:bodyPr>
          <a:lstStyle/>
          <a:p>
            <a:pPr algn="l">
              <a:defRPr sz="1100" b="0">
                <a:solidFill>
                  <a:srgbClr val="A0A8B8"/>
                </a:solidFill>
                <a:latin typeface="Segoe UI"/>
              </a:defRPr>
            </a:pPr>
            <a:r>
              <a:t>Holding Time</a:t>
            </a:r>
          </a:p>
        </p:txBody>
      </p:sp>
      <p:sp>
        <p:nvSpPr>
          <p:cNvPr id="22" name="Rounded Rectangle 21"/>
          <p:cNvSpPr/>
          <p:nvPr/>
        </p:nvSpPr>
        <p:spPr>
          <a:xfrm>
            <a:off x="6217920" y="242316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2496312"/>
            <a:ext cx="2377440" cy="320040"/>
          </a:xfrm>
          <a:prstGeom prst="rect">
            <a:avLst/>
          </a:prstGeom>
          <a:noFill/>
        </p:spPr>
        <p:txBody>
          <a:bodyPr wrap="square">
            <a:spAutoFit/>
          </a:bodyPr>
          <a:lstStyle/>
          <a:p>
            <a:pPr algn="l">
              <a:defRPr sz="1500" b="1">
                <a:solidFill>
                  <a:srgbClr val="E94560"/>
                </a:solidFill>
                <a:latin typeface="Segoe UI"/>
              </a:defRPr>
            </a:pPr>
            <a:r>
              <a:t>↔️ 方向分析</a:t>
            </a:r>
          </a:p>
        </p:txBody>
      </p:sp>
      <p:sp>
        <p:nvSpPr>
          <p:cNvPr id="24" name="TextBox 23"/>
          <p:cNvSpPr txBox="1"/>
          <p:nvPr/>
        </p:nvSpPr>
        <p:spPr>
          <a:xfrm>
            <a:off x="6355080" y="2862072"/>
            <a:ext cx="2377440" cy="274320"/>
          </a:xfrm>
          <a:prstGeom prst="rect">
            <a:avLst/>
          </a:prstGeom>
          <a:noFill/>
        </p:spPr>
        <p:txBody>
          <a:bodyPr wrap="square">
            <a:spAutoFit/>
          </a:bodyPr>
          <a:lstStyle/>
          <a:p>
            <a:pPr algn="l">
              <a:defRPr sz="1100" b="0">
                <a:solidFill>
                  <a:srgbClr val="A0A8B8"/>
                </a:solidFill>
                <a:latin typeface="Segoe UI"/>
              </a:defRPr>
            </a:pPr>
            <a:r>
              <a:t>Direction Analysis</a:t>
            </a:r>
          </a:p>
        </p:txBody>
      </p:sp>
      <p:sp>
        <p:nvSpPr>
          <p:cNvPr id="25" name="Rounded Rectangle 24"/>
          <p:cNvSpPr/>
          <p:nvPr/>
        </p:nvSpPr>
        <p:spPr>
          <a:xfrm>
            <a:off x="9052560" y="242316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20" y="2496312"/>
            <a:ext cx="2377440" cy="320040"/>
          </a:xfrm>
          <a:prstGeom prst="rect">
            <a:avLst/>
          </a:prstGeom>
          <a:noFill/>
        </p:spPr>
        <p:txBody>
          <a:bodyPr wrap="square">
            <a:spAutoFit/>
          </a:bodyPr>
          <a:lstStyle/>
          <a:p>
            <a:pPr algn="l">
              <a:defRPr sz="1500" b="1">
                <a:solidFill>
                  <a:srgbClr val="E94560"/>
                </a:solidFill>
                <a:latin typeface="Segoe UI"/>
              </a:defRPr>
            </a:pPr>
            <a:r>
              <a:t>🌐 市場語境</a:t>
            </a:r>
          </a:p>
        </p:txBody>
      </p:sp>
      <p:sp>
        <p:nvSpPr>
          <p:cNvPr id="27" name="TextBox 26"/>
          <p:cNvSpPr txBox="1"/>
          <p:nvPr/>
        </p:nvSpPr>
        <p:spPr>
          <a:xfrm>
            <a:off x="9189720" y="2862072"/>
            <a:ext cx="2377440" cy="274320"/>
          </a:xfrm>
          <a:prstGeom prst="rect">
            <a:avLst/>
          </a:prstGeom>
          <a:noFill/>
        </p:spPr>
        <p:txBody>
          <a:bodyPr wrap="square">
            <a:spAutoFit/>
          </a:bodyPr>
          <a:lstStyle/>
          <a:p>
            <a:pPr algn="l">
              <a:defRPr sz="1100" b="0">
                <a:solidFill>
                  <a:srgbClr val="A0A8B8"/>
                </a:solidFill>
                <a:latin typeface="Segoe UI"/>
              </a:defRPr>
            </a:pPr>
            <a:r>
              <a:t>Market Context</a:t>
            </a:r>
          </a:p>
        </p:txBody>
      </p:sp>
      <p:sp>
        <p:nvSpPr>
          <p:cNvPr id="28" name="Rounded Rectangle 27"/>
          <p:cNvSpPr/>
          <p:nvPr/>
        </p:nvSpPr>
        <p:spPr>
          <a:xfrm>
            <a:off x="548640" y="347472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547872"/>
            <a:ext cx="2377440" cy="320040"/>
          </a:xfrm>
          <a:prstGeom prst="rect">
            <a:avLst/>
          </a:prstGeom>
          <a:noFill/>
        </p:spPr>
        <p:txBody>
          <a:bodyPr wrap="square">
            <a:spAutoFit/>
          </a:bodyPr>
          <a:lstStyle/>
          <a:p>
            <a:pPr algn="l">
              <a:defRPr sz="1500" b="1">
                <a:solidFill>
                  <a:srgbClr val="E94560"/>
                </a:solidFill>
                <a:latin typeface="Segoe UI"/>
              </a:defRPr>
            </a:pPr>
            <a:r>
              <a:t>🔄 市況×策略</a:t>
            </a:r>
          </a:p>
        </p:txBody>
      </p:sp>
      <p:sp>
        <p:nvSpPr>
          <p:cNvPr id="30" name="TextBox 29"/>
          <p:cNvSpPr txBox="1"/>
          <p:nvPr/>
        </p:nvSpPr>
        <p:spPr>
          <a:xfrm>
            <a:off x="685800" y="3913631"/>
            <a:ext cx="2377440" cy="274320"/>
          </a:xfrm>
          <a:prstGeom prst="rect">
            <a:avLst/>
          </a:prstGeom>
          <a:noFill/>
        </p:spPr>
        <p:txBody>
          <a:bodyPr wrap="square">
            <a:spAutoFit/>
          </a:bodyPr>
          <a:lstStyle/>
          <a:p>
            <a:pPr algn="l">
              <a:defRPr sz="1100" b="0">
                <a:solidFill>
                  <a:srgbClr val="A0A8B8"/>
                </a:solidFill>
                <a:latin typeface="Segoe UI"/>
              </a:defRPr>
            </a:pPr>
            <a:r>
              <a:t>Market Regime</a:t>
            </a:r>
          </a:p>
        </p:txBody>
      </p:sp>
      <p:sp>
        <p:nvSpPr>
          <p:cNvPr id="31" name="Rounded Rectangle 30"/>
          <p:cNvSpPr/>
          <p:nvPr/>
        </p:nvSpPr>
        <p:spPr>
          <a:xfrm>
            <a:off x="3383280" y="347472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20440" y="3547872"/>
            <a:ext cx="2377440" cy="320040"/>
          </a:xfrm>
          <a:prstGeom prst="rect">
            <a:avLst/>
          </a:prstGeom>
          <a:noFill/>
        </p:spPr>
        <p:txBody>
          <a:bodyPr wrap="square">
            <a:spAutoFit/>
          </a:bodyPr>
          <a:lstStyle/>
          <a:p>
            <a:pPr algn="l">
              <a:defRPr sz="1500" b="1">
                <a:solidFill>
                  <a:srgbClr val="E94560"/>
                </a:solidFill>
                <a:latin typeface="Segoe UI"/>
              </a:defRPr>
            </a:pPr>
            <a:r>
              <a:t>⚖️ 策略對比</a:t>
            </a:r>
          </a:p>
        </p:txBody>
      </p:sp>
      <p:sp>
        <p:nvSpPr>
          <p:cNvPr id="33" name="TextBox 32"/>
          <p:cNvSpPr txBox="1"/>
          <p:nvPr/>
        </p:nvSpPr>
        <p:spPr>
          <a:xfrm>
            <a:off x="3520440" y="3913631"/>
            <a:ext cx="2377440" cy="274320"/>
          </a:xfrm>
          <a:prstGeom prst="rect">
            <a:avLst/>
          </a:prstGeom>
          <a:noFill/>
        </p:spPr>
        <p:txBody>
          <a:bodyPr wrap="square">
            <a:spAutoFit/>
          </a:bodyPr>
          <a:lstStyle/>
          <a:p>
            <a:pPr algn="l">
              <a:defRPr sz="1100" b="0">
                <a:solidFill>
                  <a:srgbClr val="A0A8B8"/>
                </a:solidFill>
                <a:latin typeface="Segoe UI"/>
              </a:defRPr>
            </a:pPr>
            <a:r>
              <a:t>Strategy Compare</a:t>
            </a:r>
          </a:p>
        </p:txBody>
      </p:sp>
      <p:sp>
        <p:nvSpPr>
          <p:cNvPr id="34" name="Rounded Rectangle 33"/>
          <p:cNvSpPr/>
          <p:nvPr/>
        </p:nvSpPr>
        <p:spPr>
          <a:xfrm>
            <a:off x="6217920" y="347472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3547872"/>
            <a:ext cx="2377440" cy="320040"/>
          </a:xfrm>
          <a:prstGeom prst="rect">
            <a:avLst/>
          </a:prstGeom>
          <a:noFill/>
        </p:spPr>
        <p:txBody>
          <a:bodyPr wrap="square">
            <a:spAutoFit/>
          </a:bodyPr>
          <a:lstStyle/>
          <a:p>
            <a:pPr algn="l">
              <a:defRPr sz="1500" b="1">
                <a:solidFill>
                  <a:srgbClr val="E94560"/>
                </a:solidFill>
                <a:latin typeface="Segoe UI"/>
              </a:defRPr>
            </a:pPr>
            <a:r>
              <a:t>🔍 貨幣穿透</a:t>
            </a:r>
          </a:p>
        </p:txBody>
      </p:sp>
      <p:sp>
        <p:nvSpPr>
          <p:cNvPr id="36" name="TextBox 35"/>
          <p:cNvSpPr txBox="1"/>
          <p:nvPr/>
        </p:nvSpPr>
        <p:spPr>
          <a:xfrm>
            <a:off x="6355080" y="3913631"/>
            <a:ext cx="2377440" cy="274320"/>
          </a:xfrm>
          <a:prstGeom prst="rect">
            <a:avLst/>
          </a:prstGeom>
          <a:noFill/>
        </p:spPr>
        <p:txBody>
          <a:bodyPr wrap="square">
            <a:spAutoFit/>
          </a:bodyPr>
          <a:lstStyle/>
          <a:p>
            <a:pPr algn="l">
              <a:defRPr sz="1100" b="0">
                <a:solidFill>
                  <a:srgbClr val="A0A8B8"/>
                </a:solidFill>
                <a:latin typeface="Segoe UI"/>
              </a:defRPr>
            </a:pPr>
            <a:r>
              <a:t>Symbol Drill</a:t>
            </a:r>
          </a:p>
        </p:txBody>
      </p:sp>
      <p:sp>
        <p:nvSpPr>
          <p:cNvPr id="37" name="Rounded Rectangle 36"/>
          <p:cNvSpPr/>
          <p:nvPr/>
        </p:nvSpPr>
        <p:spPr>
          <a:xfrm>
            <a:off x="9052560" y="347472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9720" y="3547872"/>
            <a:ext cx="2377440" cy="320040"/>
          </a:xfrm>
          <a:prstGeom prst="rect">
            <a:avLst/>
          </a:prstGeom>
          <a:noFill/>
        </p:spPr>
        <p:txBody>
          <a:bodyPr wrap="square">
            <a:spAutoFit/>
          </a:bodyPr>
          <a:lstStyle/>
          <a:p>
            <a:pPr algn="l">
              <a:defRPr sz="1500" b="1">
                <a:solidFill>
                  <a:srgbClr val="E94560"/>
                </a:solidFill>
                <a:latin typeface="Segoe UI"/>
              </a:defRPr>
            </a:pPr>
            <a:r>
              <a:t>🏆 Copy 推薦</a:t>
            </a:r>
          </a:p>
        </p:txBody>
      </p:sp>
      <p:sp>
        <p:nvSpPr>
          <p:cNvPr id="39" name="TextBox 38"/>
          <p:cNvSpPr txBox="1"/>
          <p:nvPr/>
        </p:nvSpPr>
        <p:spPr>
          <a:xfrm>
            <a:off x="9189720" y="3913631"/>
            <a:ext cx="2377440" cy="274320"/>
          </a:xfrm>
          <a:prstGeom prst="rect">
            <a:avLst/>
          </a:prstGeom>
          <a:noFill/>
        </p:spPr>
        <p:txBody>
          <a:bodyPr wrap="square">
            <a:spAutoFit/>
          </a:bodyPr>
          <a:lstStyle/>
          <a:p>
            <a:pPr algn="l">
              <a:defRPr sz="1100" b="0">
                <a:solidFill>
                  <a:srgbClr val="A0A8B8"/>
                </a:solidFill>
                <a:latin typeface="Segoe UI"/>
              </a:defRPr>
            </a:pPr>
            <a:r>
              <a:t>Copy Matrix</a:t>
            </a:r>
          </a:p>
        </p:txBody>
      </p:sp>
      <p:sp>
        <p:nvSpPr>
          <p:cNvPr id="40" name="Rounded Rectangle 39"/>
          <p:cNvSpPr/>
          <p:nvPr/>
        </p:nvSpPr>
        <p:spPr>
          <a:xfrm>
            <a:off x="548640" y="4526279"/>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4599431"/>
            <a:ext cx="2377440" cy="320040"/>
          </a:xfrm>
          <a:prstGeom prst="rect">
            <a:avLst/>
          </a:prstGeom>
          <a:noFill/>
        </p:spPr>
        <p:txBody>
          <a:bodyPr wrap="square">
            <a:spAutoFit/>
          </a:bodyPr>
          <a:lstStyle/>
          <a:p>
            <a:pPr algn="l">
              <a:defRPr sz="1500" b="1">
                <a:solidFill>
                  <a:srgbClr val="E94560"/>
                </a:solidFill>
                <a:latin typeface="Segoe UI"/>
              </a:defRPr>
            </a:pPr>
            <a:r>
              <a:t>📏 波幅分析</a:t>
            </a:r>
          </a:p>
        </p:txBody>
      </p:sp>
      <p:sp>
        <p:nvSpPr>
          <p:cNvPr id="42" name="TextBox 41"/>
          <p:cNvSpPr txBox="1"/>
          <p:nvPr/>
        </p:nvSpPr>
        <p:spPr>
          <a:xfrm>
            <a:off x="685800" y="4965192"/>
            <a:ext cx="2377440" cy="274320"/>
          </a:xfrm>
          <a:prstGeom prst="rect">
            <a:avLst/>
          </a:prstGeom>
          <a:noFill/>
        </p:spPr>
        <p:txBody>
          <a:bodyPr wrap="square">
            <a:spAutoFit/>
          </a:bodyPr>
          <a:lstStyle/>
          <a:p>
            <a:pPr algn="l">
              <a:defRPr sz="1100" b="0">
                <a:solidFill>
                  <a:srgbClr val="A0A8B8"/>
                </a:solidFill>
                <a:latin typeface="Segoe UI"/>
              </a:defRPr>
            </a:pPr>
            <a:r>
              <a:t>Volatility</a:t>
            </a:r>
          </a:p>
        </p:txBody>
      </p:sp>
      <p:sp>
        <p:nvSpPr>
          <p:cNvPr id="43" name="Rounded Rectangle 42"/>
          <p:cNvSpPr/>
          <p:nvPr/>
        </p:nvSpPr>
        <p:spPr>
          <a:xfrm>
            <a:off x="3383280" y="4526279"/>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20440" y="4599431"/>
            <a:ext cx="2377440" cy="320040"/>
          </a:xfrm>
          <a:prstGeom prst="rect">
            <a:avLst/>
          </a:prstGeom>
          <a:noFill/>
        </p:spPr>
        <p:txBody>
          <a:bodyPr wrap="square">
            <a:spAutoFit/>
          </a:bodyPr>
          <a:lstStyle/>
          <a:p>
            <a:pPr algn="l">
              <a:defRPr sz="1500" b="1">
                <a:solidFill>
                  <a:srgbClr val="E94560"/>
                </a:solidFill>
                <a:latin typeface="Segoe UI"/>
              </a:defRPr>
            </a:pPr>
            <a:r>
              <a:t>🎲 馬丁風險</a:t>
            </a:r>
          </a:p>
        </p:txBody>
      </p:sp>
      <p:sp>
        <p:nvSpPr>
          <p:cNvPr id="45" name="TextBox 44"/>
          <p:cNvSpPr txBox="1"/>
          <p:nvPr/>
        </p:nvSpPr>
        <p:spPr>
          <a:xfrm>
            <a:off x="3520440" y="4965192"/>
            <a:ext cx="2377440" cy="274320"/>
          </a:xfrm>
          <a:prstGeom prst="rect">
            <a:avLst/>
          </a:prstGeom>
          <a:noFill/>
        </p:spPr>
        <p:txBody>
          <a:bodyPr wrap="square">
            <a:spAutoFit/>
          </a:bodyPr>
          <a:lstStyle/>
          <a:p>
            <a:pPr algn="l">
              <a:defRPr sz="1100" b="0">
                <a:solidFill>
                  <a:srgbClr val="A0A8B8"/>
                </a:solidFill>
                <a:latin typeface="Segoe UI"/>
              </a:defRPr>
            </a:pPr>
            <a:r>
              <a:t>Martin Risk</a:t>
            </a:r>
          </a:p>
        </p:txBody>
      </p:sp>
      <p:sp>
        <p:nvSpPr>
          <p:cNvPr id="46" name="Rounded Rectangle 45"/>
          <p:cNvSpPr/>
          <p:nvPr/>
        </p:nvSpPr>
        <p:spPr>
          <a:xfrm>
            <a:off x="6217920" y="4526279"/>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4599431"/>
            <a:ext cx="2377440" cy="320040"/>
          </a:xfrm>
          <a:prstGeom prst="rect">
            <a:avLst/>
          </a:prstGeom>
          <a:noFill/>
        </p:spPr>
        <p:txBody>
          <a:bodyPr wrap="square">
            <a:spAutoFit/>
          </a:bodyPr>
          <a:lstStyle/>
          <a:p>
            <a:pPr algn="l">
              <a:defRPr sz="1500" b="1">
                <a:solidFill>
                  <a:srgbClr val="E94560"/>
                </a:solidFill>
                <a:latin typeface="Segoe UI"/>
              </a:defRPr>
            </a:pPr>
            <a:r>
              <a:t>📐 TP/SL</a:t>
            </a:r>
          </a:p>
        </p:txBody>
      </p:sp>
      <p:sp>
        <p:nvSpPr>
          <p:cNvPr id="48" name="TextBox 47"/>
          <p:cNvSpPr txBox="1"/>
          <p:nvPr/>
        </p:nvSpPr>
        <p:spPr>
          <a:xfrm>
            <a:off x="6355080" y="4965192"/>
            <a:ext cx="2377440" cy="274320"/>
          </a:xfrm>
          <a:prstGeom prst="rect">
            <a:avLst/>
          </a:prstGeom>
          <a:noFill/>
        </p:spPr>
        <p:txBody>
          <a:bodyPr wrap="square">
            <a:spAutoFit/>
          </a:bodyPr>
          <a:lstStyle/>
          <a:p>
            <a:pPr algn="l">
              <a:defRPr sz="1100" b="0">
                <a:solidFill>
                  <a:srgbClr val="A0A8B8"/>
                </a:solidFill>
                <a:latin typeface="Segoe UI"/>
              </a:defRPr>
            </a:pPr>
            <a:r>
              <a:t>TP/SL Analysis</a:t>
            </a:r>
          </a:p>
        </p:txBody>
      </p:sp>
      <p:sp>
        <p:nvSpPr>
          <p:cNvPr id="49" name="Rounded Rectangle 48"/>
          <p:cNvSpPr/>
          <p:nvPr/>
        </p:nvSpPr>
        <p:spPr>
          <a:xfrm>
            <a:off x="9052560" y="4526279"/>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89720" y="4599431"/>
            <a:ext cx="2377440" cy="320040"/>
          </a:xfrm>
          <a:prstGeom prst="rect">
            <a:avLst/>
          </a:prstGeom>
          <a:noFill/>
        </p:spPr>
        <p:txBody>
          <a:bodyPr wrap="square">
            <a:spAutoFit/>
          </a:bodyPr>
          <a:lstStyle/>
          <a:p>
            <a:pPr algn="l">
              <a:defRPr sz="1500" b="1">
                <a:solidFill>
                  <a:srgbClr val="E94560"/>
                </a:solidFill>
                <a:latin typeface="Segoe UI"/>
              </a:defRPr>
            </a:pPr>
            <a:r>
              <a:t>💰 Copy 模擬</a:t>
            </a:r>
          </a:p>
        </p:txBody>
      </p:sp>
      <p:sp>
        <p:nvSpPr>
          <p:cNvPr id="51" name="TextBox 50"/>
          <p:cNvSpPr txBox="1"/>
          <p:nvPr/>
        </p:nvSpPr>
        <p:spPr>
          <a:xfrm>
            <a:off x="9189720" y="4965192"/>
            <a:ext cx="2377440" cy="274320"/>
          </a:xfrm>
          <a:prstGeom prst="rect">
            <a:avLst/>
          </a:prstGeom>
          <a:noFill/>
        </p:spPr>
        <p:txBody>
          <a:bodyPr wrap="square">
            <a:spAutoFit/>
          </a:bodyPr>
          <a:lstStyle/>
          <a:p>
            <a:pPr algn="l">
              <a:defRPr sz="1100" b="0">
                <a:solidFill>
                  <a:srgbClr val="A0A8B8"/>
                </a:solidFill>
                <a:latin typeface="Segoe UI"/>
              </a:defRPr>
            </a:pPr>
            <a:r>
              <a:t>Copy Simulation</a:t>
            </a:r>
          </a:p>
        </p:txBody>
      </p:sp>
      <p:sp>
        <p:nvSpPr>
          <p:cNvPr id="52" name="Rounded Rectangle 51"/>
          <p:cNvSpPr/>
          <p:nvPr/>
        </p:nvSpPr>
        <p:spPr>
          <a:xfrm>
            <a:off x="548640" y="557784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 y="5650992"/>
            <a:ext cx="2377440" cy="320040"/>
          </a:xfrm>
          <a:prstGeom prst="rect">
            <a:avLst/>
          </a:prstGeom>
          <a:noFill/>
        </p:spPr>
        <p:txBody>
          <a:bodyPr wrap="square">
            <a:spAutoFit/>
          </a:bodyPr>
          <a:lstStyle/>
          <a:p>
            <a:pPr algn="l">
              <a:defRPr sz="1500" b="1">
                <a:solidFill>
                  <a:srgbClr val="E94560"/>
                </a:solidFill>
                <a:latin typeface="Segoe UI"/>
              </a:defRPr>
            </a:pPr>
            <a:r>
              <a:t>📋 倉位明細</a:t>
            </a:r>
          </a:p>
        </p:txBody>
      </p:sp>
      <p:sp>
        <p:nvSpPr>
          <p:cNvPr id="54" name="TextBox 53"/>
          <p:cNvSpPr txBox="1"/>
          <p:nvPr/>
        </p:nvSpPr>
        <p:spPr>
          <a:xfrm>
            <a:off x="685800" y="6016752"/>
            <a:ext cx="2377440" cy="274320"/>
          </a:xfrm>
          <a:prstGeom prst="rect">
            <a:avLst/>
          </a:prstGeom>
          <a:noFill/>
        </p:spPr>
        <p:txBody>
          <a:bodyPr wrap="square">
            <a:spAutoFit/>
          </a:bodyPr>
          <a:lstStyle/>
          <a:p>
            <a:pPr algn="l">
              <a:defRPr sz="1100" b="0">
                <a:solidFill>
                  <a:srgbClr val="A0A8B8"/>
                </a:solidFill>
                <a:latin typeface="Segoe UI"/>
              </a:defRPr>
            </a:pPr>
            <a:r>
              <a:t>Positions</a:t>
            </a:r>
          </a:p>
        </p:txBody>
      </p:sp>
      <p:sp>
        <p:nvSpPr>
          <p:cNvPr id="55" name="Rounded Rectangle 54"/>
          <p:cNvSpPr/>
          <p:nvPr/>
        </p:nvSpPr>
        <p:spPr>
          <a:xfrm>
            <a:off x="3383280" y="557784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520440" y="5650992"/>
            <a:ext cx="2377440" cy="320040"/>
          </a:xfrm>
          <a:prstGeom prst="rect">
            <a:avLst/>
          </a:prstGeom>
          <a:noFill/>
        </p:spPr>
        <p:txBody>
          <a:bodyPr wrap="square">
            <a:spAutoFit/>
          </a:bodyPr>
          <a:lstStyle/>
          <a:p>
            <a:pPr algn="l">
              <a:defRPr sz="1500" b="1">
                <a:solidFill>
                  <a:srgbClr val="E94560"/>
                </a:solidFill>
                <a:latin typeface="Segoe UI"/>
              </a:defRPr>
            </a:pPr>
            <a:r>
              <a:t>🔬 馬丁剖析V3</a:t>
            </a:r>
          </a:p>
        </p:txBody>
      </p:sp>
      <p:sp>
        <p:nvSpPr>
          <p:cNvPr id="57" name="TextBox 56"/>
          <p:cNvSpPr txBox="1"/>
          <p:nvPr/>
        </p:nvSpPr>
        <p:spPr>
          <a:xfrm>
            <a:off x="3520440" y="6016752"/>
            <a:ext cx="2377440" cy="274320"/>
          </a:xfrm>
          <a:prstGeom prst="rect">
            <a:avLst/>
          </a:prstGeom>
          <a:noFill/>
        </p:spPr>
        <p:txBody>
          <a:bodyPr wrap="square">
            <a:spAutoFit/>
          </a:bodyPr>
          <a:lstStyle/>
          <a:p>
            <a:pPr algn="l">
              <a:defRPr sz="1100" b="0">
                <a:solidFill>
                  <a:srgbClr val="A0A8B8"/>
                </a:solidFill>
                <a:latin typeface="Segoe UI"/>
              </a:defRPr>
            </a:pPr>
            <a:r>
              <a:t>Martin Autopsy</a:t>
            </a:r>
          </a:p>
        </p:txBody>
      </p:sp>
      <p:sp>
        <p:nvSpPr>
          <p:cNvPr id="58" name="Rounded Rectangle 57"/>
          <p:cNvSpPr/>
          <p:nvPr/>
        </p:nvSpPr>
        <p:spPr>
          <a:xfrm>
            <a:off x="6217920" y="557784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55080" y="5650992"/>
            <a:ext cx="2377440" cy="320040"/>
          </a:xfrm>
          <a:prstGeom prst="rect">
            <a:avLst/>
          </a:prstGeom>
          <a:noFill/>
        </p:spPr>
        <p:txBody>
          <a:bodyPr wrap="square">
            <a:spAutoFit/>
          </a:bodyPr>
          <a:lstStyle/>
          <a:p>
            <a:pPr algn="l">
              <a:defRPr sz="1500" b="1">
                <a:solidFill>
                  <a:srgbClr val="E94560"/>
                </a:solidFill>
                <a:latin typeface="Segoe UI"/>
              </a:defRPr>
            </a:pPr>
            <a:r>
              <a:t>⚙️ SET 參數</a:t>
            </a:r>
          </a:p>
        </p:txBody>
      </p:sp>
      <p:sp>
        <p:nvSpPr>
          <p:cNvPr id="60" name="TextBox 59"/>
          <p:cNvSpPr txBox="1"/>
          <p:nvPr/>
        </p:nvSpPr>
        <p:spPr>
          <a:xfrm>
            <a:off x="6355080" y="6016752"/>
            <a:ext cx="2377440" cy="274320"/>
          </a:xfrm>
          <a:prstGeom prst="rect">
            <a:avLst/>
          </a:prstGeom>
          <a:noFill/>
        </p:spPr>
        <p:txBody>
          <a:bodyPr wrap="square">
            <a:spAutoFit/>
          </a:bodyPr>
          <a:lstStyle/>
          <a:p>
            <a:pPr algn="l">
              <a:defRPr sz="1100" b="0">
                <a:solidFill>
                  <a:srgbClr val="A0A8B8"/>
                </a:solidFill>
                <a:latin typeface="Segoe UI"/>
              </a:defRPr>
            </a:pPr>
            <a:r>
              <a:t>SET Params</a:t>
            </a:r>
          </a:p>
        </p:txBody>
      </p:sp>
      <p:sp>
        <p:nvSpPr>
          <p:cNvPr id="61" name="Rounded Rectangle 60"/>
          <p:cNvSpPr/>
          <p:nvPr/>
        </p:nvSpPr>
        <p:spPr>
          <a:xfrm>
            <a:off x="9052560" y="5577840"/>
            <a:ext cx="2651760" cy="868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89720" y="5650992"/>
            <a:ext cx="2377440" cy="320040"/>
          </a:xfrm>
          <a:prstGeom prst="rect">
            <a:avLst/>
          </a:prstGeom>
          <a:noFill/>
        </p:spPr>
        <p:txBody>
          <a:bodyPr wrap="square">
            <a:spAutoFit/>
          </a:bodyPr>
          <a:lstStyle/>
          <a:p>
            <a:pPr algn="l">
              <a:defRPr sz="1500" b="1">
                <a:solidFill>
                  <a:srgbClr val="E94560"/>
                </a:solidFill>
                <a:latin typeface="Segoe UI"/>
              </a:defRPr>
            </a:pPr>
            <a:r>
              <a:t>📁 歷史記錄</a:t>
            </a:r>
          </a:p>
        </p:txBody>
      </p:sp>
      <p:sp>
        <p:nvSpPr>
          <p:cNvPr id="63" name="TextBox 62"/>
          <p:cNvSpPr txBox="1"/>
          <p:nvPr/>
        </p:nvSpPr>
        <p:spPr>
          <a:xfrm>
            <a:off x="9189720" y="6016752"/>
            <a:ext cx="2377440" cy="274320"/>
          </a:xfrm>
          <a:prstGeom prst="rect">
            <a:avLst/>
          </a:prstGeom>
          <a:noFill/>
        </p:spPr>
        <p:txBody>
          <a:bodyPr wrap="square">
            <a:spAutoFit/>
          </a:bodyPr>
          <a:lstStyle/>
          <a:p>
            <a:pPr algn="l">
              <a:defRPr sz="1100" b="0">
                <a:solidFill>
                  <a:srgbClr val="A0A8B8"/>
                </a:solidFill>
                <a:latin typeface="Segoe UI"/>
              </a:defRPr>
            </a:pPr>
            <a:r>
              <a:t>Archive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系統架構總覽</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數據流 + 前後端架構</a:t>
            </a:r>
          </a:p>
        </p:txBody>
      </p:sp>
      <p:sp>
        <p:nvSpPr>
          <p:cNvPr id="5" name="Rounded Rectangle 4"/>
          <p:cNvSpPr/>
          <p:nvPr/>
        </p:nvSpPr>
        <p:spPr>
          <a:xfrm>
            <a:off x="457200" y="1463040"/>
            <a:ext cx="1737360" cy="731520"/>
          </a:xfrm>
          <a:prstGeom prst="roundRect">
            <a:avLst/>
          </a:prstGeom>
          <a:solidFill>
            <a:srgbClr val="0F3D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CSV 上傳</a:t>
            </a:r>
            <a:br/>
            <a:r>
              <a:t>parseCSV()</a:t>
            </a:r>
          </a:p>
        </p:txBody>
      </p:sp>
      <p:sp>
        <p:nvSpPr>
          <p:cNvPr id="6" name="TextBox 5"/>
          <p:cNvSpPr txBox="1"/>
          <p:nvPr/>
        </p:nvSpPr>
        <p:spPr>
          <a:xfrm>
            <a:off x="2194560" y="1691640"/>
            <a:ext cx="228600" cy="274320"/>
          </a:xfrm>
          <a:prstGeom prst="rect">
            <a:avLst/>
          </a:prstGeom>
          <a:noFill/>
        </p:spPr>
        <p:txBody>
          <a:bodyPr wrap="square">
            <a:spAutoFit/>
          </a:bodyPr>
          <a:lstStyle/>
          <a:p>
            <a:pPr algn="ctr">
              <a:defRPr sz="2000" b="0">
                <a:solidFill>
                  <a:srgbClr val="A0A8B8"/>
                </a:solidFill>
                <a:latin typeface="Segoe UI"/>
              </a:defRPr>
            </a:pPr>
            <a:r>
              <a:t>→</a:t>
            </a:r>
          </a:p>
        </p:txBody>
      </p:sp>
      <p:sp>
        <p:nvSpPr>
          <p:cNvPr id="7" name="Rounded Rectangle 6"/>
          <p:cNvSpPr/>
          <p:nvPr/>
        </p:nvSpPr>
        <p:spPr>
          <a:xfrm>
            <a:off x="2377440" y="1463040"/>
            <a:ext cx="1737360" cy="731520"/>
          </a:xfrm>
          <a:prstGeom prst="roundRect">
            <a:avLst/>
          </a:prstGeom>
          <a:solidFill>
            <a:srgbClr val="0F3D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SET 上傳</a:t>
            </a:r>
            <a:br/>
            <a:r>
              <a:t>parseSET()</a:t>
            </a:r>
          </a:p>
        </p:txBody>
      </p:sp>
      <p:sp>
        <p:nvSpPr>
          <p:cNvPr id="8" name="TextBox 7"/>
          <p:cNvSpPr txBox="1"/>
          <p:nvPr/>
        </p:nvSpPr>
        <p:spPr>
          <a:xfrm>
            <a:off x="4114800" y="1691640"/>
            <a:ext cx="228600" cy="274320"/>
          </a:xfrm>
          <a:prstGeom prst="rect">
            <a:avLst/>
          </a:prstGeom>
          <a:noFill/>
        </p:spPr>
        <p:txBody>
          <a:bodyPr wrap="square">
            <a:spAutoFit/>
          </a:bodyPr>
          <a:lstStyle/>
          <a:p>
            <a:pPr algn="ctr">
              <a:defRPr sz="2000" b="0">
                <a:solidFill>
                  <a:srgbClr val="A0A8B8"/>
                </a:solidFill>
                <a:latin typeface="Segoe UI"/>
              </a:defRPr>
            </a:pPr>
            <a:r>
              <a:t>→</a:t>
            </a:r>
          </a:p>
        </p:txBody>
      </p:sp>
      <p:sp>
        <p:nvSpPr>
          <p:cNvPr id="9" name="Rounded Rectangle 8"/>
          <p:cNvSpPr/>
          <p:nvPr/>
        </p:nvSpPr>
        <p:spPr>
          <a:xfrm>
            <a:off x="4297680" y="1463040"/>
            <a:ext cx="1737360" cy="73152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層級偵測</a:t>
            </a:r>
            <a:br/>
            <a:r>
              <a:t>buildLayerMapping()</a:t>
            </a:r>
          </a:p>
        </p:txBody>
      </p:sp>
      <p:sp>
        <p:nvSpPr>
          <p:cNvPr id="10" name="TextBox 9"/>
          <p:cNvSpPr txBox="1"/>
          <p:nvPr/>
        </p:nvSpPr>
        <p:spPr>
          <a:xfrm>
            <a:off x="6035040" y="1691640"/>
            <a:ext cx="228600" cy="274320"/>
          </a:xfrm>
          <a:prstGeom prst="rect">
            <a:avLst/>
          </a:prstGeom>
          <a:noFill/>
        </p:spPr>
        <p:txBody>
          <a:bodyPr wrap="square">
            <a:spAutoFit/>
          </a:bodyPr>
          <a:lstStyle/>
          <a:p>
            <a:pPr algn="ctr">
              <a:defRPr sz="2000" b="0">
                <a:solidFill>
                  <a:srgbClr val="A0A8B8"/>
                </a:solidFill>
                <a:latin typeface="Segoe UI"/>
              </a:defRPr>
            </a:pPr>
            <a:r>
              <a:t>→</a:t>
            </a:r>
          </a:p>
        </p:txBody>
      </p:sp>
      <p:sp>
        <p:nvSpPr>
          <p:cNvPr id="11" name="Rounded Rectangle 10"/>
          <p:cNvSpPr/>
          <p:nvPr/>
        </p:nvSpPr>
        <p:spPr>
          <a:xfrm>
            <a:off x="6217920" y="1463040"/>
            <a:ext cx="1737360" cy="73152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倉位重構</a:t>
            </a:r>
            <a:br/>
            <a:r>
              <a:t>buildPositions()</a:t>
            </a:r>
          </a:p>
        </p:txBody>
      </p:sp>
      <p:sp>
        <p:nvSpPr>
          <p:cNvPr id="12" name="TextBox 11"/>
          <p:cNvSpPr txBox="1"/>
          <p:nvPr/>
        </p:nvSpPr>
        <p:spPr>
          <a:xfrm>
            <a:off x="7955280" y="1691640"/>
            <a:ext cx="228600" cy="274320"/>
          </a:xfrm>
          <a:prstGeom prst="rect">
            <a:avLst/>
          </a:prstGeom>
          <a:noFill/>
        </p:spPr>
        <p:txBody>
          <a:bodyPr wrap="square">
            <a:spAutoFit/>
          </a:bodyPr>
          <a:lstStyle/>
          <a:p>
            <a:pPr algn="ctr">
              <a:defRPr sz="2000" b="0">
                <a:solidFill>
                  <a:srgbClr val="A0A8B8"/>
                </a:solidFill>
                <a:latin typeface="Segoe UI"/>
              </a:defRPr>
            </a:pPr>
            <a:r>
              <a:t>→</a:t>
            </a:r>
          </a:p>
        </p:txBody>
      </p:sp>
      <p:sp>
        <p:nvSpPr>
          <p:cNvPr id="13" name="Rounded Rectangle 12"/>
          <p:cNvSpPr/>
          <p:nvPr/>
        </p:nvSpPr>
        <p:spPr>
          <a:xfrm>
            <a:off x="8138160" y="1463040"/>
            <a:ext cx="1737360" cy="73152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多維計算</a:t>
            </a:r>
            <a:br/>
            <a:r>
              <a:t>calcStats/Score...</a:t>
            </a:r>
          </a:p>
        </p:txBody>
      </p:sp>
      <p:sp>
        <p:nvSpPr>
          <p:cNvPr id="14" name="TextBox 13"/>
          <p:cNvSpPr txBox="1"/>
          <p:nvPr/>
        </p:nvSpPr>
        <p:spPr>
          <a:xfrm>
            <a:off x="9875520" y="1691640"/>
            <a:ext cx="228600" cy="274320"/>
          </a:xfrm>
          <a:prstGeom prst="rect">
            <a:avLst/>
          </a:prstGeom>
          <a:noFill/>
        </p:spPr>
        <p:txBody>
          <a:bodyPr wrap="square">
            <a:spAutoFit/>
          </a:bodyPr>
          <a:lstStyle/>
          <a:p>
            <a:pPr algn="ctr">
              <a:defRPr sz="2000" b="0">
                <a:solidFill>
                  <a:srgbClr val="A0A8B8"/>
                </a:solidFill>
                <a:latin typeface="Segoe UI"/>
              </a:defRPr>
            </a:pPr>
            <a:r>
              <a:t>→</a:t>
            </a:r>
          </a:p>
        </p:txBody>
      </p:sp>
      <p:sp>
        <p:nvSpPr>
          <p:cNvPr id="15" name="Rounded Rectangle 14"/>
          <p:cNvSpPr/>
          <p:nvPr/>
        </p:nvSpPr>
        <p:spPr>
          <a:xfrm>
            <a:off x="10058400" y="1463040"/>
            <a:ext cx="1737360" cy="731520"/>
          </a:xfrm>
          <a:prstGeom prst="round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20 個 Tab</a:t>
            </a:r>
            <a:br/>
            <a:r>
              <a:t>渲染展示</a:t>
            </a:r>
          </a:p>
        </p:txBody>
      </p:sp>
      <p:sp>
        <p:nvSpPr>
          <p:cNvPr id="16" name="Rounded Rectangle 15"/>
          <p:cNvSpPr/>
          <p:nvPr/>
        </p:nvSpPr>
        <p:spPr>
          <a:xfrm>
            <a:off x="457200" y="2743200"/>
            <a:ext cx="3657600" cy="36576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834640"/>
            <a:ext cx="3291840" cy="3474720"/>
          </a:xfrm>
          <a:prstGeom prst="rect">
            <a:avLst/>
          </a:prstGeom>
          <a:noFill/>
        </p:spPr>
        <p:txBody>
          <a:bodyPr wrap="square">
            <a:spAutoFit/>
          </a:bodyPr>
          <a:lstStyle/>
          <a:p>
            <a:pPr>
              <a:spcAft>
                <a:spcPts val="400"/>
              </a:spcAft>
              <a:defRPr sz="1600" b="1">
                <a:solidFill>
                  <a:srgbClr val="E94560"/>
                </a:solidFill>
                <a:latin typeface="Segoe UI"/>
              </a:defRPr>
            </a:pPr>
            <a:r>
              <a:t>🖥️ 前端（單文件 HTML）</a:t>
            </a:r>
          </a:p>
          <a:p>
            <a:pPr>
              <a:spcAft>
                <a:spcPts val="400"/>
              </a:spcAft>
              <a:defRPr sz="1200" b="0">
                <a:solidFill>
                  <a:srgbClr val="F0F0F0"/>
                </a:solidFill>
                <a:latin typeface="Segoe UI"/>
              </a:defRPr>
            </a:pPr>
            <a:r>
              <a:t>• 部署：GitHub Pages</a:t>
            </a:r>
          </a:p>
          <a:p>
            <a:pPr>
              <a:spcAft>
                <a:spcPts val="400"/>
              </a:spcAft>
              <a:defRPr sz="1200" b="0">
                <a:solidFill>
                  <a:srgbClr val="F0F0F0"/>
                </a:solidFill>
                <a:latin typeface="Segoe UI"/>
              </a:defRPr>
            </a:pPr>
            <a:r>
              <a:t>• 框架：純 JavaScript（零依賴）</a:t>
            </a:r>
          </a:p>
          <a:p>
            <a:pPr>
              <a:spcAft>
                <a:spcPts val="400"/>
              </a:spcAft>
              <a:defRPr sz="1200" b="0">
                <a:solidFill>
                  <a:srgbClr val="F0F0F0"/>
                </a:solidFill>
                <a:latin typeface="Segoe UI"/>
              </a:defRPr>
            </a:pPr>
            <a:r>
              <a:t>• 圖表：SVG 折線圖</a:t>
            </a:r>
          </a:p>
          <a:p>
            <a:pPr>
              <a:spcAft>
                <a:spcPts val="400"/>
              </a:spcAft>
              <a:defRPr sz="1200" b="0">
                <a:solidFill>
                  <a:srgbClr val="F0F0F0"/>
                </a:solidFill>
                <a:latin typeface="Segoe UI"/>
              </a:defRPr>
            </a:pPr>
            <a:r>
              <a:t>• 數據：用戶上傳 CSV + SET</a:t>
            </a:r>
          </a:p>
          <a:p>
            <a:pPr>
              <a:spcAft>
                <a:spcPts val="400"/>
              </a:spcAft>
              <a:defRPr sz="1200" b="0">
                <a:solidFill>
                  <a:srgbClr val="F0F0F0"/>
                </a:solidFill>
                <a:latin typeface="Segoe UI"/>
              </a:defRPr>
            </a:pPr>
            <a:r>
              <a:t>• 計算：全部客戶端本地完成</a:t>
            </a:r>
          </a:p>
          <a:p>
            <a:pPr>
              <a:spcAft>
                <a:spcPts val="400"/>
              </a:spcAft>
              <a:defRPr sz="1200" b="0">
                <a:solidFill>
                  <a:srgbClr val="4CAF50"/>
                </a:solidFill>
                <a:latin typeface="Segoe UI"/>
              </a:defRPr>
            </a:pPr>
            <a:r>
              <a:t>• 離線可用</a:t>
            </a:r>
          </a:p>
        </p:txBody>
      </p:sp>
      <p:sp>
        <p:nvSpPr>
          <p:cNvPr id="18" name="Rounded Rectangle 17"/>
          <p:cNvSpPr/>
          <p:nvPr/>
        </p:nvSpPr>
        <p:spPr>
          <a:xfrm>
            <a:off x="4389120" y="2743200"/>
            <a:ext cx="3657600" cy="36576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2834640"/>
            <a:ext cx="3291840" cy="3474720"/>
          </a:xfrm>
          <a:prstGeom prst="rect">
            <a:avLst/>
          </a:prstGeom>
          <a:noFill/>
        </p:spPr>
        <p:txBody>
          <a:bodyPr wrap="square">
            <a:spAutoFit/>
          </a:bodyPr>
          <a:lstStyle/>
          <a:p>
            <a:pPr>
              <a:spcAft>
                <a:spcPts val="400"/>
              </a:spcAft>
              <a:defRPr sz="1600" b="1">
                <a:solidFill>
                  <a:srgbClr val="E94560"/>
                </a:solidFill>
                <a:latin typeface="Segoe UI"/>
              </a:defRPr>
            </a:pPr>
            <a:r>
              <a:t>⚙️ 後端（Python）</a:t>
            </a:r>
          </a:p>
          <a:p>
            <a:pPr>
              <a:spcAft>
                <a:spcPts val="400"/>
              </a:spcAft>
              <a:defRPr sz="1200" b="0">
                <a:solidFill>
                  <a:srgbClr val="F0F0F0"/>
                </a:solidFill>
                <a:latin typeface="Segoe UI"/>
              </a:defRPr>
            </a:pPr>
            <a:r>
              <a:t>• DDE v3 評分引擎</a:t>
            </a:r>
          </a:p>
          <a:p>
            <a:pPr>
              <a:spcAft>
                <a:spcPts val="400"/>
              </a:spcAft>
              <a:defRPr sz="1200" b="0">
                <a:solidFill>
                  <a:srgbClr val="F0F0F0"/>
                </a:solidFill>
                <a:latin typeface="Segoe UI"/>
              </a:defRPr>
            </a:pPr>
            <a:r>
              <a:t>• Lot-Based 層級偵測</a:t>
            </a:r>
          </a:p>
          <a:p>
            <a:pPr>
              <a:spcAft>
                <a:spcPts val="400"/>
              </a:spcAft>
              <a:defRPr sz="1200" b="0">
                <a:solidFill>
                  <a:srgbClr val="F0F0F0"/>
                </a:solidFill>
                <a:latin typeface="Segoe UI"/>
              </a:defRPr>
            </a:pPr>
            <a:r>
              <a:t>• 69 Signals 批量分析</a:t>
            </a:r>
          </a:p>
          <a:p>
            <a:pPr>
              <a:spcAft>
                <a:spcPts val="400"/>
              </a:spcAft>
              <a:defRPr sz="1200" b="0">
                <a:solidFill>
                  <a:srgbClr val="F0F0F0"/>
                </a:solidFill>
                <a:latin typeface="Segoe UI"/>
              </a:defRPr>
            </a:pPr>
            <a:r>
              <a:t>• HTML 報告自動生成</a:t>
            </a:r>
          </a:p>
          <a:p>
            <a:pPr>
              <a:spcAft>
                <a:spcPts val="400"/>
              </a:spcAft>
              <a:defRPr sz="1200" b="0">
                <a:solidFill>
                  <a:srgbClr val="F0F0F0"/>
                </a:solidFill>
                <a:latin typeface="Segoe UI"/>
              </a:defRPr>
            </a:pPr>
            <a:r>
              <a:t>• FastAPI (localhost:8787)</a:t>
            </a:r>
          </a:p>
          <a:p>
            <a:pPr>
              <a:spcAft>
                <a:spcPts val="400"/>
              </a:spcAft>
              <a:defRPr sz="1200" b="0">
                <a:solidFill>
                  <a:srgbClr val="F0F0F0"/>
                </a:solidFill>
                <a:latin typeface="Segoe UI"/>
              </a:defRPr>
            </a:pPr>
            <a:r>
              <a:t>• AlgoForest Scraper</a:t>
            </a:r>
          </a:p>
        </p:txBody>
      </p:sp>
      <p:sp>
        <p:nvSpPr>
          <p:cNvPr id="20" name="Rounded Rectangle 19"/>
          <p:cNvSpPr/>
          <p:nvPr/>
        </p:nvSpPr>
        <p:spPr>
          <a:xfrm>
            <a:off x="8321040" y="2743200"/>
            <a:ext cx="3474720" cy="36576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2834640"/>
            <a:ext cx="3108960" cy="3474720"/>
          </a:xfrm>
          <a:prstGeom prst="rect">
            <a:avLst/>
          </a:prstGeom>
          <a:noFill/>
        </p:spPr>
        <p:txBody>
          <a:bodyPr wrap="square">
            <a:spAutoFit/>
          </a:bodyPr>
          <a:lstStyle/>
          <a:p>
            <a:pPr>
              <a:spcAft>
                <a:spcPts val="400"/>
              </a:spcAft>
              <a:defRPr sz="1600" b="1">
                <a:solidFill>
                  <a:srgbClr val="E94560"/>
                </a:solidFill>
                <a:latin typeface="Segoe UI"/>
              </a:defRPr>
            </a:pPr>
            <a:r>
              <a:t>💾 數據存儲</a:t>
            </a:r>
          </a:p>
          <a:p>
            <a:pPr>
              <a:spcAft>
                <a:spcPts val="400"/>
              </a:spcAft>
              <a:defRPr sz="1200" b="0">
                <a:solidFill>
                  <a:srgbClr val="F0F0F0"/>
                </a:solidFill>
                <a:latin typeface="Segoe UI"/>
              </a:defRPr>
            </a:pPr>
            <a:r>
              <a:t>• SQLite: analysis_history.db</a:t>
            </a:r>
          </a:p>
          <a:p>
            <a:pPr>
              <a:spcAft>
                <a:spcPts val="400"/>
              </a:spcAft>
              <a:defRPr sz="1200" b="0">
                <a:solidFill>
                  <a:srgbClr val="F0F0F0"/>
                </a:solidFill>
                <a:latin typeface="Segoe UI"/>
              </a:defRPr>
            </a:pPr>
            <a:r>
              <a:t>• JSON: batch/signal configs</a:t>
            </a:r>
          </a:p>
          <a:p>
            <a:pPr>
              <a:spcAft>
                <a:spcPts val="400"/>
              </a:spcAft>
              <a:defRPr sz="1200" b="0">
                <a:solidFill>
                  <a:srgbClr val="F0F0F0"/>
                </a:solidFill>
                <a:latin typeface="Segoe UI"/>
              </a:defRPr>
            </a:pPr>
            <a:r>
              <a:t>• CSV: 69 個信號交易數據</a:t>
            </a:r>
          </a:p>
          <a:p>
            <a:pPr>
              <a:spcAft>
                <a:spcPts val="400"/>
              </a:spcAft>
              <a:defRPr sz="1200" b="0">
                <a:solidFill>
                  <a:srgbClr val="F0F0F0"/>
                </a:solidFill>
                <a:latin typeface="Segoe UI"/>
              </a:defRPr>
            </a:pPr>
            <a:r>
              <a:t>• SET: EA 策略設定檔</a:t>
            </a:r>
          </a:p>
          <a:p>
            <a:pPr>
              <a:spcAft>
                <a:spcPts val="400"/>
              </a:spcAft>
              <a:defRPr sz="1200" b="0">
                <a:solidFill>
                  <a:srgbClr val="F0F0F0"/>
                </a:solidFill>
                <a:latin typeface="Segoe UI"/>
              </a:defRPr>
            </a:pPr>
            <a:r>
              <a:t>• localStorage: 前端存檔</a:t>
            </a:r>
          </a:p>
          <a:p>
            <a:pPr>
              <a:spcAft>
                <a:spcPts val="400"/>
              </a:spcAft>
              <a:defRPr sz="1200" b="0">
                <a:solidFill>
                  <a:srgbClr val="F0F0F0"/>
                </a:solidFill>
                <a:latin typeface="Segoe UI"/>
              </a:defRPr>
            </a:pPr>
            <a:r>
              <a:t>• MT4 .hst: D1 市場數據</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輸入數據規格</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CSV 交易數據 + SET 策略設定檔</a:t>
            </a:r>
          </a:p>
        </p:txBody>
      </p:sp>
      <p:sp>
        <p:nvSpPr>
          <p:cNvPr id="5" name="Rounded Rectangle 4"/>
          <p:cNvSpPr/>
          <p:nvPr/>
        </p:nvSpPr>
        <p:spPr>
          <a:xfrm>
            <a:off x="457200" y="1280160"/>
            <a:ext cx="5669280" cy="53035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5303520" cy="365760"/>
          </a:xfrm>
          <a:prstGeom prst="rect">
            <a:avLst/>
          </a:prstGeom>
          <a:noFill/>
        </p:spPr>
        <p:txBody>
          <a:bodyPr wrap="square">
            <a:spAutoFit/>
          </a:bodyPr>
          <a:lstStyle/>
          <a:p>
            <a:pPr algn="l">
              <a:defRPr sz="1500" b="1">
                <a:solidFill>
                  <a:srgbClr val="E94560"/>
                </a:solidFill>
                <a:latin typeface="Segoe UI"/>
              </a:defRPr>
            </a:pPr>
            <a:r>
              <a:t>📄 CSV 交易數據（AlgoForest 下載）</a:t>
            </a:r>
          </a:p>
        </p:txBody>
      </p:sp>
      <p:sp>
        <p:nvSpPr>
          <p:cNvPr id="7" name="TextBox 6"/>
          <p:cNvSpPr txBox="1"/>
          <p:nvPr/>
        </p:nvSpPr>
        <p:spPr>
          <a:xfrm>
            <a:off x="640080" y="1828800"/>
            <a:ext cx="5303520" cy="4572000"/>
          </a:xfrm>
          <a:prstGeom prst="rect">
            <a:avLst/>
          </a:prstGeom>
          <a:noFill/>
        </p:spPr>
        <p:txBody>
          <a:bodyPr wrap="square">
            <a:spAutoFit/>
          </a:bodyPr>
          <a:lstStyle/>
          <a:p>
            <a:pPr>
              <a:spcAft>
                <a:spcPts val="400"/>
              </a:spcAft>
              <a:defRPr sz="1100" b="0">
                <a:solidFill>
                  <a:srgbClr val="F0F0F0"/>
                </a:solidFill>
                <a:latin typeface="Segoe UI"/>
              </a:defRPr>
            </a:pPr>
            <a:r>
              <a:t>  Open Time / Close Time — 開平倉時間 → 時段分析、持倉時間</a:t>
            </a:r>
          </a:p>
          <a:p>
            <a:pPr>
              <a:spcAft>
                <a:spcPts val="400"/>
              </a:spcAft>
              <a:defRPr sz="1100" b="0">
                <a:solidFill>
                  <a:srgbClr val="F0F0F0"/>
                </a:solidFill>
                <a:latin typeface="Segoe UI"/>
              </a:defRPr>
            </a:pPr>
            <a:r>
              <a:t>  Type — buy/sell/balance/credit → 只處理 buy/sell</a:t>
            </a:r>
          </a:p>
          <a:p>
            <a:pPr>
              <a:spcAft>
                <a:spcPts val="400"/>
              </a:spcAft>
              <a:defRPr sz="1100" b="0">
                <a:solidFill>
                  <a:srgbClr val="F0F0F0"/>
                </a:solidFill>
                <a:latin typeface="Segoe UI"/>
              </a:defRPr>
            </a:pPr>
            <a:r>
              <a:t>  Lots — 手數 → Lot-Based 層級偵測核心</a:t>
            </a:r>
          </a:p>
          <a:p>
            <a:pPr>
              <a:spcAft>
                <a:spcPts val="400"/>
              </a:spcAft>
              <a:defRPr sz="1100" b="0">
                <a:solidFill>
                  <a:srgbClr val="F0F0F0"/>
                </a:solidFill>
                <a:latin typeface="Segoe UI"/>
              </a:defRPr>
            </a:pPr>
            <a:r>
              <a:t>  Symbol — 貨幣對 → 分組分析</a:t>
            </a:r>
          </a:p>
          <a:p>
            <a:pPr>
              <a:spcAft>
                <a:spcPts val="400"/>
              </a:spcAft>
              <a:defRPr sz="1100" b="0">
                <a:solidFill>
                  <a:srgbClr val="F0F0F0"/>
                </a:solidFill>
                <a:latin typeface="Segoe UI"/>
              </a:defRPr>
            </a:pPr>
            <a:r>
              <a:t>  Open Price / Close Price — 開平倉價 → 計算實際點差</a:t>
            </a:r>
          </a:p>
          <a:p>
            <a:pPr>
              <a:spcAft>
                <a:spcPts val="400"/>
              </a:spcAft>
              <a:defRPr sz="1100" b="0">
                <a:solidFill>
                  <a:srgbClr val="F0F0F0"/>
                </a:solidFill>
                <a:latin typeface="Segoe UI"/>
              </a:defRPr>
            </a:pPr>
            <a:r>
              <a:t>  Net Pips — 淨賺點數 → 方向判斷、盈虧</a:t>
            </a:r>
          </a:p>
          <a:p>
            <a:pPr>
              <a:spcAft>
                <a:spcPts val="400"/>
              </a:spcAft>
              <a:defRPr sz="1100" b="0">
                <a:solidFill>
                  <a:srgbClr val="F0F0F0"/>
                </a:solidFill>
                <a:latin typeface="Segoe UI"/>
              </a:defRPr>
            </a:pPr>
            <a:r>
              <a:t>  Net Profit — 淨盈虧 → 真實收益計算</a:t>
            </a:r>
          </a:p>
          <a:p>
            <a:pPr>
              <a:spcAft>
                <a:spcPts val="400"/>
              </a:spcAft>
              <a:defRPr sz="1100" b="0">
                <a:solidFill>
                  <a:srgbClr val="F0F0F0"/>
                </a:solidFill>
                <a:latin typeface="Segoe UI"/>
              </a:defRPr>
            </a:pPr>
            <a:r>
              <a:t>  Max Pips — 最大浮盈 → 入市時機、TP 建議</a:t>
            </a:r>
          </a:p>
          <a:p>
            <a:pPr>
              <a:spcAft>
                <a:spcPts val="400"/>
              </a:spcAft>
              <a:defRPr sz="1100" b="0">
                <a:solidFill>
                  <a:srgbClr val="F0F0F0"/>
                </a:solidFill>
                <a:latin typeface="Segoe UI"/>
              </a:defRPr>
            </a:pPr>
            <a:r>
              <a:t>  Max Loss Pips — 最大浮虧 → 風險承受、SL 建議</a:t>
            </a:r>
          </a:p>
          <a:p>
            <a:pPr>
              <a:spcAft>
                <a:spcPts val="400"/>
              </a:spcAft>
              <a:defRPr sz="1100" b="0">
                <a:solidFill>
                  <a:srgbClr val="F0F0F0"/>
                </a:solidFill>
                <a:latin typeface="Segoe UI"/>
              </a:defRPr>
            </a:pPr>
            <a:r>
              <a:t>  Commission / Swap — 手續費/隔夜息 → 成本分析</a:t>
            </a:r>
          </a:p>
          <a:p>
            <a:pPr>
              <a:spcAft>
                <a:spcPts val="400"/>
              </a:spcAft>
              <a:defRPr sz="1100" b="0">
                <a:solidFill>
                  <a:srgbClr val="F0F0F0"/>
                </a:solidFill>
                <a:latin typeface="Segoe UI"/>
              </a:defRPr>
            </a:pPr>
            <a:r>
              <a:t>  Magic Number — 88=BUY, 77=SELL → 策略識別</a:t>
            </a:r>
          </a:p>
          <a:p>
            <a:pPr>
              <a:spcAft>
                <a:spcPts val="400"/>
              </a:spcAft>
              <a:defRPr sz="1100" b="0">
                <a:solidFill>
                  <a:srgbClr val="F0F0F0"/>
                </a:solidFill>
                <a:latin typeface="Segoe UI"/>
              </a:defRPr>
            </a:pPr>
            <a:r>
              <a:t>  Holding Time — 持倉時間 → 效率分析</a:t>
            </a:r>
          </a:p>
        </p:txBody>
      </p:sp>
      <p:sp>
        <p:nvSpPr>
          <p:cNvPr id="8" name="Rounded Rectangle 7"/>
          <p:cNvSpPr/>
          <p:nvPr/>
        </p:nvSpPr>
        <p:spPr>
          <a:xfrm>
            <a:off x="6400800" y="1280160"/>
            <a:ext cx="5303520" cy="53035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371600"/>
            <a:ext cx="4937760" cy="365760"/>
          </a:xfrm>
          <a:prstGeom prst="rect">
            <a:avLst/>
          </a:prstGeom>
          <a:noFill/>
        </p:spPr>
        <p:txBody>
          <a:bodyPr wrap="square">
            <a:spAutoFit/>
          </a:bodyPr>
          <a:lstStyle/>
          <a:p>
            <a:pPr algn="l">
              <a:defRPr sz="1500" b="1">
                <a:solidFill>
                  <a:srgbClr val="E94560"/>
                </a:solidFill>
                <a:latin typeface="Segoe UI"/>
              </a:defRPr>
            </a:pPr>
            <a:r>
              <a:t>⚙️ SET 策略設定檔</a:t>
            </a:r>
          </a:p>
        </p:txBody>
      </p:sp>
      <p:sp>
        <p:nvSpPr>
          <p:cNvPr id="10" name="TextBox 9"/>
          <p:cNvSpPr txBox="1"/>
          <p:nvPr/>
        </p:nvSpPr>
        <p:spPr>
          <a:xfrm>
            <a:off x="6583680" y="1828800"/>
            <a:ext cx="4937760" cy="4572000"/>
          </a:xfrm>
          <a:prstGeom prst="rect">
            <a:avLst/>
          </a:prstGeom>
          <a:noFill/>
        </p:spPr>
        <p:txBody>
          <a:bodyPr wrap="square">
            <a:spAutoFit/>
          </a:bodyPr>
          <a:lstStyle/>
          <a:p>
            <a:pPr>
              <a:spcAft>
                <a:spcPts val="400"/>
              </a:spcAft>
              <a:defRPr sz="1300" b="1">
                <a:solidFill>
                  <a:srgbClr val="FFC107"/>
                </a:solidFill>
                <a:latin typeface="Segoe UI"/>
              </a:defRPr>
            </a:pPr>
            <a:r>
              <a:t>EA 家族對照表：</a:t>
            </a:r>
          </a:p>
          <a:p>
            <a:pPr>
              <a:spcAft>
                <a:spcPts val="400"/>
              </a:spcAft>
              <a:defRPr sz="1100" b="0">
                <a:solidFill>
                  <a:srgbClr val="CE93D8"/>
                </a:solidFill>
                <a:latin typeface="Segoe UI"/>
              </a:defRPr>
            </a:pPr>
            <a:r>
              <a:t>  Dragon Wave (DW) — LotMul×2.5 倍投，8 層</a:t>
            </a:r>
          </a:p>
          <a:p>
            <a:pPr>
              <a:spcAft>
                <a:spcPts val="400"/>
              </a:spcAft>
              <a:defRPr sz="1100" b="0">
                <a:solidFill>
                  <a:srgbClr val="A5D6A7"/>
                </a:solidFill>
                <a:latin typeface="Segoe UI"/>
              </a:defRPr>
            </a:pPr>
            <a:r>
              <a:t>  SMA — lotExp 指數遞增 + pipstep，7-15 層</a:t>
            </a:r>
          </a:p>
          <a:p>
            <a:pPr>
              <a:spcAft>
                <a:spcPts val="400"/>
              </a:spcAft>
              <a:defRPr sz="1100" b="0">
                <a:solidFill>
                  <a:srgbClr val="FFCC80"/>
                </a:solidFill>
                <a:latin typeface="Segoe UI"/>
              </a:defRPr>
            </a:pPr>
            <a:r>
              <a:t>  MKD — PipStep 網格，6-10 層</a:t>
            </a:r>
          </a:p>
          <a:p>
            <a:pPr>
              <a:spcAft>
                <a:spcPts val="400"/>
              </a:spcAft>
              <a:defRPr sz="1100" b="0">
                <a:solidFill>
                  <a:srgbClr val="90CAF9"/>
                </a:solidFill>
                <a:latin typeface="Segoe UI"/>
              </a:defRPr>
            </a:pPr>
            <a:r>
              <a:t>  S10 — 固定 lotSize 平注碼，MaxBuyCount=10</a:t>
            </a:r>
          </a:p>
          <a:p>
            <a:pPr>
              <a:spcAft>
                <a:spcPts val="400"/>
              </a:spcAft>
              <a:defRPr sz="1100" b="0">
                <a:solidFill>
                  <a:srgbClr val="F48FB1"/>
                </a:solidFill>
                <a:latin typeface="Segoe UI"/>
              </a:defRPr>
            </a:pPr>
            <a:r>
              <a:t>  Flash — CheckLevels，11 層</a:t>
            </a:r>
          </a:p>
          <a:p>
            <a:pPr>
              <a:spcAft>
                <a:spcPts val="400"/>
              </a:spcAft>
              <a:defRPr sz="1100" b="0">
                <a:solidFill>
                  <a:srgbClr val="B0BEC5"/>
                </a:solidFill>
                <a:latin typeface="Segoe UI"/>
              </a:defRPr>
            </a:pPr>
            <a:r>
              <a:t>  GEM — 無馬丁</a:t>
            </a:r>
          </a:p>
          <a:p>
            <a:pPr>
              <a:spcAft>
                <a:spcPts val="400"/>
              </a:spcAft>
              <a:defRPr sz="800" b="0">
                <a:solidFill>
                  <a:srgbClr val="F0F0F0"/>
                </a:solidFill>
                <a:latin typeface="Segoe UI"/>
              </a:defRPr>
            </a:pPr>
          </a:p>
          <a:p>
            <a:pPr>
              <a:spcAft>
                <a:spcPts val="400"/>
              </a:spcAft>
              <a:defRPr sz="1300" b="1">
                <a:solidFill>
                  <a:srgbClr val="FFC107"/>
                </a:solidFill>
                <a:latin typeface="Segoe UI"/>
              </a:defRPr>
            </a:pPr>
            <a:r>
              <a:t>層級偵測方法（v0.7 Lot-Based）：</a:t>
            </a:r>
          </a:p>
          <a:p>
            <a:pPr>
              <a:spcAft>
                <a:spcPts val="400"/>
              </a:spcAft>
              <a:defRPr sz="1100" b="0">
                <a:solidFill>
                  <a:srgbClr val="F0F0F0"/>
                </a:solidFill>
                <a:latin typeface="Segoe UI"/>
              </a:defRPr>
            </a:pPr>
            <a:r>
              <a:t>  1️⃣ Primary：signal_lot_mapping.json</a:t>
            </a:r>
          </a:p>
          <a:p>
            <a:pPr>
              <a:spcAft>
                <a:spcPts val="400"/>
              </a:spcAft>
              <a:defRPr sz="1100" b="0">
                <a:solidFill>
                  <a:srgbClr val="A0A8B8"/>
                </a:solidFill>
                <a:latin typeface="Segoe UI"/>
              </a:defRPr>
            </a:pPr>
            <a:r>
              <a:t>      → SET 檔 lot→level 對照表直接映射</a:t>
            </a:r>
          </a:p>
          <a:p>
            <a:pPr>
              <a:spcAft>
                <a:spcPts val="400"/>
              </a:spcAft>
              <a:defRPr sz="1100" b="0">
                <a:solidFill>
                  <a:srgbClr val="F0F0F0"/>
                </a:solidFill>
                <a:latin typeface="Segoe UI"/>
              </a:defRPr>
            </a:pPr>
            <a:r>
              <a:t>  2️⃣ Fallback：CSV Lots 唯一值推算</a:t>
            </a:r>
          </a:p>
          <a:p>
            <a:pPr>
              <a:spcAft>
                <a:spcPts val="400"/>
              </a:spcAft>
              <a:defRPr sz="1100" b="0">
                <a:solidFill>
                  <a:srgbClr val="A0A8B8"/>
                </a:solidFill>
                <a:latin typeface="Segoe UI"/>
              </a:defRPr>
            </a:pPr>
            <a:r>
              <a:t>      → 無 SET 時按 unique lot 排序</a:t>
            </a:r>
          </a:p>
          <a:p>
            <a:pPr>
              <a:spcAft>
                <a:spcPts val="400"/>
              </a:spcAft>
              <a:defRPr sz="1100" b="0">
                <a:solidFill>
                  <a:srgbClr val="F0F0F0"/>
                </a:solidFill>
                <a:latin typeface="Segoe UI"/>
              </a:defRPr>
            </a:pPr>
            <a:r>
              <a:t>  3️⃣ AutoLot 標記：lots &gt;&gt; SET layers</a:t>
            </a:r>
          </a:p>
          <a:p>
            <a:pPr>
              <a:spcAft>
                <a:spcPts val="400"/>
              </a:spcAft>
              <a:defRPr sz="800" b="0">
                <a:solidFill>
                  <a:srgbClr val="F0F0F0"/>
                </a:solidFill>
                <a:latin typeface="Segoe UI"/>
              </a:defRPr>
            </a:pPr>
          </a:p>
          <a:p>
            <a:pPr>
              <a:spcAft>
                <a:spcPts val="400"/>
              </a:spcAft>
              <a:defRPr sz="1200" b="1">
                <a:solidFill>
                  <a:srgbClr val="FF5722"/>
                </a:solidFill>
                <a:latin typeface="Segoe UI"/>
              </a:defRPr>
            </a:pPr>
            <a:r>
              <a:t>⚠️ 過濾規則：Type=balance/credit 必須排除！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DDE v3 評分系統 — 計算原理</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Copy Trade 場景專用：評估「跟單」可行性同回報</a:t>
            </a:r>
          </a:p>
        </p:txBody>
      </p:sp>
      <p:sp>
        <p:nvSpPr>
          <p:cNvPr id="5" name="Rounded Rectangle 4"/>
          <p:cNvSpPr/>
          <p:nvPr/>
        </p:nvSpPr>
        <p:spPr>
          <a:xfrm>
            <a:off x="457200" y="1280160"/>
            <a:ext cx="11247120" cy="1280160"/>
          </a:xfrm>
          <a:prstGeom prst="roundRect">
            <a:avLst/>
          </a:prstGeom>
          <a:solidFill>
            <a:srgbClr val="0F3D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457200"/>
          </a:xfrm>
          <a:prstGeom prst="rect">
            <a:avLst/>
          </a:prstGeom>
          <a:noFill/>
        </p:spPr>
        <p:txBody>
          <a:bodyPr wrap="square">
            <a:spAutoFit/>
          </a:bodyPr>
          <a:lstStyle/>
          <a:p>
            <a:pPr algn="ctr">
              <a:defRPr sz="2000" b="1">
                <a:solidFill>
                  <a:srgbClr val="F0F0F0"/>
                </a:solidFill>
                <a:latin typeface="Segoe UI"/>
              </a:defRPr>
            </a:pPr>
            <a:r>
              <a:t>DDE v3 Score = Trigger Rate (40%) + Alpha Capture Profit (40%) + DDE 回撤效率 (20%)</a:t>
            </a:r>
          </a:p>
        </p:txBody>
      </p:sp>
      <p:sp>
        <p:nvSpPr>
          <p:cNvPr id="7" name="TextBox 6"/>
          <p:cNvSpPr txBox="1"/>
          <p:nvPr/>
        </p:nvSpPr>
        <p:spPr>
          <a:xfrm>
            <a:off x="640080" y="1920240"/>
            <a:ext cx="10881360" cy="457200"/>
          </a:xfrm>
          <a:prstGeom prst="rect">
            <a:avLst/>
          </a:prstGeom>
          <a:noFill/>
        </p:spPr>
        <p:txBody>
          <a:bodyPr wrap="square">
            <a:spAutoFit/>
          </a:bodyPr>
          <a:lstStyle/>
          <a:p>
            <a:pPr algn="ctr">
              <a:defRPr sz="1400" b="0">
                <a:solidFill>
                  <a:srgbClr val="FFC107"/>
                </a:solidFill>
                <a:latin typeface="Segoe UI"/>
              </a:defRPr>
            </a:pPr>
            <a:r>
              <a:t>評級：⭐⭐⭐⭐ ≥80  |  ⭐⭐⭐ ≥60  |  ⭐⭐ ≥40  |  ⭐ &lt;40</a:t>
            </a:r>
          </a:p>
        </p:txBody>
      </p:sp>
      <p:sp>
        <p:nvSpPr>
          <p:cNvPr id="8" name="Rounded Rectangle 7"/>
          <p:cNvSpPr/>
          <p:nvPr/>
        </p:nvSpPr>
        <p:spPr>
          <a:xfrm>
            <a:off x="457200" y="2834640"/>
            <a:ext cx="3611880" cy="38404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80360"/>
            <a:ext cx="3337560" cy="457200"/>
          </a:xfrm>
          <a:prstGeom prst="rect">
            <a:avLst/>
          </a:prstGeom>
          <a:noFill/>
        </p:spPr>
        <p:txBody>
          <a:bodyPr wrap="square">
            <a:spAutoFit/>
          </a:bodyPr>
          <a:lstStyle/>
          <a:p>
            <a:pPr algn="l">
              <a:defRPr sz="1300" b="1">
                <a:solidFill>
                  <a:srgbClr val="E94560"/>
                </a:solidFill>
                <a:latin typeface="Segoe UI"/>
              </a:defRPr>
            </a:pPr>
            <a:r>
              <a:t>指標 1：Trigger Rate</a:t>
            </a:r>
            <a:br/>
            <a:r>
              <a:t>觸發率</a:t>
            </a:r>
          </a:p>
        </p:txBody>
      </p:sp>
      <p:sp>
        <p:nvSpPr>
          <p:cNvPr id="10" name="TextBox 9"/>
          <p:cNvSpPr txBox="1"/>
          <p:nvPr/>
        </p:nvSpPr>
        <p:spPr>
          <a:xfrm>
            <a:off x="594360" y="3337560"/>
            <a:ext cx="1645920" cy="274320"/>
          </a:xfrm>
          <a:prstGeom prst="rect">
            <a:avLst/>
          </a:prstGeom>
          <a:noFill/>
        </p:spPr>
        <p:txBody>
          <a:bodyPr wrap="square">
            <a:spAutoFit/>
          </a:bodyPr>
          <a:lstStyle/>
          <a:p>
            <a:pPr algn="l">
              <a:defRPr sz="1100" b="1">
                <a:solidFill>
                  <a:srgbClr val="FFC107"/>
                </a:solidFill>
                <a:latin typeface="Segoe UI"/>
              </a:defRPr>
            </a:pPr>
            <a:r>
              <a:t>權重：40%</a:t>
            </a:r>
          </a:p>
        </p:txBody>
      </p:sp>
      <p:sp>
        <p:nvSpPr>
          <p:cNvPr id="11" name="TextBox 10"/>
          <p:cNvSpPr txBox="1"/>
          <p:nvPr/>
        </p:nvSpPr>
        <p:spPr>
          <a:xfrm>
            <a:off x="594360" y="3611880"/>
            <a:ext cx="3337560" cy="2011680"/>
          </a:xfrm>
          <a:prstGeom prst="rect">
            <a:avLst/>
          </a:prstGeom>
          <a:noFill/>
        </p:spPr>
        <p:txBody>
          <a:bodyPr wrap="square">
            <a:spAutoFit/>
          </a:bodyPr>
          <a:lstStyle/>
          <a:p>
            <a:pPr algn="l">
              <a:defRPr sz="1000" b="0">
                <a:solidFill>
                  <a:srgbClr val="F0F0F0"/>
                </a:solidFill>
                <a:latin typeface="Segoe UI"/>
              </a:defRPr>
            </a:pPr>
            <a:r>
              <a:t>CoP: 觸發數/盈利交易數</a:t>
            </a:r>
            <a:br/>
            <a:r>
              <a:t>trigger = Max Pips ≥ wait_pips</a:t>
            </a:r>
            <a:br/>
            <a:r>
              <a:t>wait: 5, 10, 15, 20 pips</a:t>
            </a:r>
            <a:br/>
            <a:br/>
            <a:r>
              <a:t>CoL: 觸發數/虧損交易數</a:t>
            </a:r>
            <a:br/>
            <a:r>
              <a:t>trigger = |Max Loss Pips| ≥ wait_pips</a:t>
            </a:r>
            <a:br/>
            <a:r>
              <a:t>wait: 10, 15, 20, 25 pips</a:t>
            </a:r>
            <a:br/>
            <a:br/>
            <a:r>
              <a:t>Score = min(rate×100, 100) × 0.4</a:t>
            </a:r>
          </a:p>
        </p:txBody>
      </p:sp>
      <p:sp>
        <p:nvSpPr>
          <p:cNvPr id="12" name="Rounded Rectangle 11"/>
          <p:cNvSpPr/>
          <p:nvPr/>
        </p:nvSpPr>
        <p:spPr>
          <a:xfrm>
            <a:off x="594360" y="5669280"/>
            <a:ext cx="3337560" cy="868680"/>
          </a:xfrm>
          <a:prstGeom prst="roundRect">
            <a:avLst/>
          </a:prstGeom>
          <a:solidFill>
            <a:srgbClr val="1B2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715000"/>
            <a:ext cx="3246120" cy="777240"/>
          </a:xfrm>
          <a:prstGeom prst="rect">
            <a:avLst/>
          </a:prstGeom>
          <a:noFill/>
        </p:spPr>
        <p:txBody>
          <a:bodyPr wrap="square">
            <a:spAutoFit/>
          </a:bodyPr>
          <a:lstStyle/>
          <a:p>
            <a:pPr algn="l">
              <a:defRPr sz="900" b="0">
                <a:solidFill>
                  <a:srgbClr val="4CAF50"/>
                </a:solidFill>
                <a:latin typeface="Segoe UI"/>
              </a:defRPr>
            </a:pPr>
            <a:r>
              <a:t>例：Signal 22200 AUDCAD L1</a:t>
            </a:r>
            <a:br/>
            <a:r>
              <a:t>盈利交易 100 筆</a:t>
            </a:r>
            <a:br/>
            <a:r>
              <a:t>Wait=5 時 95 筆觸發</a:t>
            </a:r>
            <a:br/>
            <a:r>
              <a:t>→ rate = 95%</a:t>
            </a:r>
            <a:br/>
            <a:r>
              <a:t>→ Score = 95 × 0.4 = 38.0</a:t>
            </a:r>
          </a:p>
        </p:txBody>
      </p:sp>
      <p:sp>
        <p:nvSpPr>
          <p:cNvPr id="14" name="Rounded Rectangle 13"/>
          <p:cNvSpPr/>
          <p:nvPr/>
        </p:nvSpPr>
        <p:spPr>
          <a:xfrm>
            <a:off x="4251960" y="2834640"/>
            <a:ext cx="3611880" cy="38404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880360"/>
            <a:ext cx="3337560" cy="457200"/>
          </a:xfrm>
          <a:prstGeom prst="rect">
            <a:avLst/>
          </a:prstGeom>
          <a:noFill/>
        </p:spPr>
        <p:txBody>
          <a:bodyPr wrap="square">
            <a:spAutoFit/>
          </a:bodyPr>
          <a:lstStyle/>
          <a:p>
            <a:pPr algn="l">
              <a:defRPr sz="1300" b="1">
                <a:solidFill>
                  <a:srgbClr val="E94560"/>
                </a:solidFill>
                <a:latin typeface="Segoe UI"/>
              </a:defRPr>
            </a:pPr>
            <a:r>
              <a:t>指標 2：Alpha Capture</a:t>
            </a:r>
            <a:br/>
            <a:r>
              <a:t>利潤捕捉分</a:t>
            </a:r>
          </a:p>
        </p:txBody>
      </p:sp>
      <p:sp>
        <p:nvSpPr>
          <p:cNvPr id="16" name="TextBox 15"/>
          <p:cNvSpPr txBox="1"/>
          <p:nvPr/>
        </p:nvSpPr>
        <p:spPr>
          <a:xfrm>
            <a:off x="4389120" y="3337560"/>
            <a:ext cx="1645920" cy="274320"/>
          </a:xfrm>
          <a:prstGeom prst="rect">
            <a:avLst/>
          </a:prstGeom>
          <a:noFill/>
        </p:spPr>
        <p:txBody>
          <a:bodyPr wrap="square">
            <a:spAutoFit/>
          </a:bodyPr>
          <a:lstStyle/>
          <a:p>
            <a:pPr algn="l">
              <a:defRPr sz="1100" b="1">
                <a:solidFill>
                  <a:srgbClr val="FFC107"/>
                </a:solidFill>
                <a:latin typeface="Segoe UI"/>
              </a:defRPr>
            </a:pPr>
            <a:r>
              <a:t>權重：40%</a:t>
            </a:r>
          </a:p>
        </p:txBody>
      </p:sp>
      <p:sp>
        <p:nvSpPr>
          <p:cNvPr id="17" name="TextBox 16"/>
          <p:cNvSpPr txBox="1"/>
          <p:nvPr/>
        </p:nvSpPr>
        <p:spPr>
          <a:xfrm>
            <a:off x="4389120" y="3611880"/>
            <a:ext cx="3337560" cy="2011680"/>
          </a:xfrm>
          <a:prstGeom prst="rect">
            <a:avLst/>
          </a:prstGeom>
          <a:noFill/>
        </p:spPr>
        <p:txBody>
          <a:bodyPr wrap="square">
            <a:spAutoFit/>
          </a:bodyPr>
          <a:lstStyle/>
          <a:p>
            <a:pPr algn="l">
              <a:defRPr sz="1000" b="0">
                <a:solidFill>
                  <a:srgbClr val="F0F0F0"/>
                </a:solidFill>
                <a:latin typeface="Segoe UI"/>
              </a:defRPr>
            </a:pPr>
            <a:r>
              <a:t>動態百分位評分 (0-120)</a:t>
            </a:r>
            <a:br/>
            <a:br/>
            <a:r>
              <a:t>baseline = max(P50, global_P25)</a:t>
            </a:r>
            <a:br/>
            <a:r>
              <a:t>floor = $5.00（垃圾過濾）</a:t>
            </a:r>
            <a:br/>
            <a:br/>
            <a:r>
              <a:t>≥ P75: 100 + bonus (cap 120)</a:t>
            </a:r>
            <a:br/>
            <a:r>
              <a:t>≥ P50: 70 + 線性插值(70-100)</a:t>
            </a:r>
            <a:br/>
            <a:r>
              <a:t>≥ baseline: 線性插值(0-70)</a:t>
            </a:r>
            <a:br/>
            <a:r>
              <a:t>&lt; baseline: 0</a:t>
            </a:r>
          </a:p>
        </p:txBody>
      </p:sp>
      <p:sp>
        <p:nvSpPr>
          <p:cNvPr id="18" name="Rounded Rectangle 17"/>
          <p:cNvSpPr/>
          <p:nvPr/>
        </p:nvSpPr>
        <p:spPr>
          <a:xfrm>
            <a:off x="4389120" y="5669280"/>
            <a:ext cx="3337560" cy="868680"/>
          </a:xfrm>
          <a:prstGeom prst="roundRect">
            <a:avLst/>
          </a:prstGeom>
          <a:solidFill>
            <a:srgbClr val="1B2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5715000"/>
            <a:ext cx="3246120" cy="777240"/>
          </a:xfrm>
          <a:prstGeom prst="rect">
            <a:avLst/>
          </a:prstGeom>
          <a:noFill/>
        </p:spPr>
        <p:txBody>
          <a:bodyPr wrap="square">
            <a:spAutoFit/>
          </a:bodyPr>
          <a:lstStyle/>
          <a:p>
            <a:pPr algn="l">
              <a:defRPr sz="900" b="0">
                <a:solidFill>
                  <a:srgbClr val="4CAF50"/>
                </a:solidFill>
                <a:latin typeface="Segoe UI"/>
              </a:defRPr>
            </a:pPr>
            <a:r>
              <a:t>例：avg_profit = $45</a:t>
            </a:r>
            <a:br/>
            <a:r>
              <a:t>P50 = $30, P75 = $60</a:t>
            </a:r>
            <a:br/>
            <a:r>
              <a:t>→ 介於 P50-P75 之間</a:t>
            </a:r>
            <a:br/>
            <a:r>
              <a:t>→ 70 + (45-30)/(60-30)×30</a:t>
            </a:r>
            <a:br/>
            <a:r>
              <a:t>   = 70 + 15 = 85</a:t>
            </a:r>
            <a:br/>
            <a:r>
              <a:t>→ Score = 85 × 0.4 = 34.0</a:t>
            </a:r>
          </a:p>
        </p:txBody>
      </p:sp>
      <p:sp>
        <p:nvSpPr>
          <p:cNvPr id="20" name="Rounded Rectangle 19"/>
          <p:cNvSpPr/>
          <p:nvPr/>
        </p:nvSpPr>
        <p:spPr>
          <a:xfrm>
            <a:off x="8046720" y="2834640"/>
            <a:ext cx="3611880" cy="38404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2880360"/>
            <a:ext cx="3337560" cy="457200"/>
          </a:xfrm>
          <a:prstGeom prst="rect">
            <a:avLst/>
          </a:prstGeom>
          <a:noFill/>
        </p:spPr>
        <p:txBody>
          <a:bodyPr wrap="square">
            <a:spAutoFit/>
          </a:bodyPr>
          <a:lstStyle/>
          <a:p>
            <a:pPr algn="l">
              <a:defRPr sz="1300" b="1">
                <a:solidFill>
                  <a:srgbClr val="E94560"/>
                </a:solidFill>
                <a:latin typeface="Segoe UI"/>
              </a:defRPr>
            </a:pPr>
            <a:r>
              <a:t>指標 3：DDE</a:t>
            </a:r>
            <a:br/>
            <a:r>
              <a:t>回撤效率</a:t>
            </a:r>
          </a:p>
        </p:txBody>
      </p:sp>
      <p:sp>
        <p:nvSpPr>
          <p:cNvPr id="22" name="TextBox 21"/>
          <p:cNvSpPr txBox="1"/>
          <p:nvPr/>
        </p:nvSpPr>
        <p:spPr>
          <a:xfrm>
            <a:off x="8183880" y="3337560"/>
            <a:ext cx="1645920" cy="274320"/>
          </a:xfrm>
          <a:prstGeom prst="rect">
            <a:avLst/>
          </a:prstGeom>
          <a:noFill/>
        </p:spPr>
        <p:txBody>
          <a:bodyPr wrap="square">
            <a:spAutoFit/>
          </a:bodyPr>
          <a:lstStyle/>
          <a:p>
            <a:pPr algn="l">
              <a:defRPr sz="1100" b="1">
                <a:solidFill>
                  <a:srgbClr val="FFC107"/>
                </a:solidFill>
                <a:latin typeface="Segoe UI"/>
              </a:defRPr>
            </a:pPr>
            <a:r>
              <a:t>權重：20%</a:t>
            </a:r>
          </a:p>
        </p:txBody>
      </p:sp>
      <p:sp>
        <p:nvSpPr>
          <p:cNvPr id="23" name="TextBox 22"/>
          <p:cNvSpPr txBox="1"/>
          <p:nvPr/>
        </p:nvSpPr>
        <p:spPr>
          <a:xfrm>
            <a:off x="8183880" y="3611880"/>
            <a:ext cx="3337560" cy="2011680"/>
          </a:xfrm>
          <a:prstGeom prst="rect">
            <a:avLst/>
          </a:prstGeom>
          <a:noFill/>
        </p:spPr>
        <p:txBody>
          <a:bodyPr wrap="square">
            <a:spAutoFit/>
          </a:bodyPr>
          <a:lstStyle/>
          <a:p>
            <a:pPr algn="l">
              <a:defRPr sz="1000" b="0">
                <a:solidFill>
                  <a:srgbClr val="F0F0F0"/>
                </a:solidFill>
                <a:latin typeface="Segoe UI"/>
              </a:defRPr>
            </a:pPr>
            <a:r>
              <a:t>dd_ratio = |max_loss_pips|/profit_pips</a:t>
            </a:r>
            <a:br/>
            <a:r>
              <a:t>每筆交易計算，cap at 2.0</a:t>
            </a:r>
            <a:br/>
            <a:r>
              <a:t>avg_dd_ratio = mean(所有 dd_ratio)</a:t>
            </a:r>
            <a:br/>
            <a:br/>
            <a:r>
              <a:t>Score = max(0, 100 - 50 × avg) × 0.2</a:t>
            </a:r>
            <a:br/>
            <a:br/>
            <a:r>
              <a:t>取代舊 ETE（分辨力≈0）</a:t>
            </a:r>
            <a:br/>
            <a:r>
              <a:t>DDE 分佈：0-100，中位數 76</a:t>
            </a:r>
          </a:p>
        </p:txBody>
      </p:sp>
      <p:sp>
        <p:nvSpPr>
          <p:cNvPr id="24" name="Rounded Rectangle 23"/>
          <p:cNvSpPr/>
          <p:nvPr/>
        </p:nvSpPr>
        <p:spPr>
          <a:xfrm>
            <a:off x="8183880" y="5669280"/>
            <a:ext cx="3337560" cy="868680"/>
          </a:xfrm>
          <a:prstGeom prst="roundRect">
            <a:avLst/>
          </a:prstGeom>
          <a:solidFill>
            <a:srgbClr val="1B2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5715000"/>
            <a:ext cx="3246120" cy="777240"/>
          </a:xfrm>
          <a:prstGeom prst="rect">
            <a:avLst/>
          </a:prstGeom>
          <a:noFill/>
        </p:spPr>
        <p:txBody>
          <a:bodyPr wrap="square">
            <a:spAutoFit/>
          </a:bodyPr>
          <a:lstStyle/>
          <a:p>
            <a:pPr algn="l">
              <a:defRPr sz="900" b="0">
                <a:solidFill>
                  <a:srgbClr val="4CAF50"/>
                </a:solidFill>
                <a:latin typeface="Segoe UI"/>
              </a:defRPr>
            </a:pPr>
            <a:r>
              <a:t>例：5 筆交易</a:t>
            </a:r>
            <a:br/>
            <a:r>
              <a:t>ratios: 0.3, 0.5, 0.8, 1.2, 0.4</a:t>
            </a:r>
            <a:br/>
            <a:r>
              <a:t>avg = 0.64</a:t>
            </a:r>
            <a:br/>
            <a:r>
              <a:t>→ 100 - 50×0.64 = 68</a:t>
            </a:r>
            <a:br/>
            <a:r>
              <a:t>→ Score = 68 × 0.2 = 13.6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DDE v3 完整分析流程 — 以 Signal 22200 為例</a:t>
            </a:r>
          </a:p>
        </p:txBody>
      </p:sp>
      <p:sp>
        <p:nvSpPr>
          <p:cNvPr id="4" name="Rounded Rectangle 3"/>
          <p:cNvSpPr/>
          <p:nvPr/>
        </p:nvSpPr>
        <p:spPr>
          <a:xfrm>
            <a:off x="274320" y="1280160"/>
            <a:ext cx="1828800" cy="731520"/>
          </a:xfrm>
          <a:prstGeom prst="roundRect">
            <a:avLst/>
          </a:prstGeom>
          <a:solidFill>
            <a:srgbClr val="0F3D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下載 CSV</a:t>
            </a:r>
            <a:br/>
            <a:r>
              <a:t>algoforest_scraper.py</a:t>
            </a:r>
          </a:p>
        </p:txBody>
      </p:sp>
      <p:sp>
        <p:nvSpPr>
          <p:cNvPr id="5" name="TextBox 4"/>
          <p:cNvSpPr txBox="1"/>
          <p:nvPr/>
        </p:nvSpPr>
        <p:spPr>
          <a:xfrm>
            <a:off x="2103120" y="1508760"/>
            <a:ext cx="182880" cy="274320"/>
          </a:xfrm>
          <a:prstGeom prst="rect">
            <a:avLst/>
          </a:prstGeom>
          <a:noFill/>
        </p:spPr>
        <p:txBody>
          <a:bodyPr wrap="square">
            <a:spAutoFit/>
          </a:bodyPr>
          <a:lstStyle/>
          <a:p>
            <a:pPr algn="ctr">
              <a:defRPr sz="1800" b="0">
                <a:solidFill>
                  <a:srgbClr val="A0A8B8"/>
                </a:solidFill>
                <a:latin typeface="Segoe UI"/>
              </a:defRPr>
            </a:pPr>
            <a:r>
              <a:t>→</a:t>
            </a:r>
          </a:p>
        </p:txBody>
      </p:sp>
      <p:sp>
        <p:nvSpPr>
          <p:cNvPr id="6" name="Rounded Rectangle 5"/>
          <p:cNvSpPr/>
          <p:nvPr/>
        </p:nvSpPr>
        <p:spPr>
          <a:xfrm>
            <a:off x="2240279" y="1280160"/>
            <a:ext cx="1828800" cy="73152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Lot 層級偵測</a:t>
            </a:r>
            <a:br/>
            <a:r>
              <a:t>assign_lot_level()</a:t>
            </a:r>
          </a:p>
        </p:txBody>
      </p:sp>
      <p:sp>
        <p:nvSpPr>
          <p:cNvPr id="7" name="TextBox 6"/>
          <p:cNvSpPr txBox="1"/>
          <p:nvPr/>
        </p:nvSpPr>
        <p:spPr>
          <a:xfrm>
            <a:off x="4069079" y="1508760"/>
            <a:ext cx="182880" cy="274320"/>
          </a:xfrm>
          <a:prstGeom prst="rect">
            <a:avLst/>
          </a:prstGeom>
          <a:noFill/>
        </p:spPr>
        <p:txBody>
          <a:bodyPr wrap="square">
            <a:spAutoFit/>
          </a:bodyPr>
          <a:lstStyle/>
          <a:p>
            <a:pPr algn="ctr">
              <a:defRPr sz="1800" b="0">
                <a:solidFill>
                  <a:srgbClr val="A0A8B8"/>
                </a:solidFill>
                <a:latin typeface="Segoe UI"/>
              </a:defRPr>
            </a:pPr>
            <a:r>
              <a:t>→</a:t>
            </a:r>
          </a:p>
        </p:txBody>
      </p:sp>
      <p:sp>
        <p:nvSpPr>
          <p:cNvPr id="8" name="Rounded Rectangle 7"/>
          <p:cNvSpPr/>
          <p:nvPr/>
        </p:nvSpPr>
        <p:spPr>
          <a:xfrm>
            <a:off x="4206240" y="1280160"/>
            <a:ext cx="1828800" cy="73152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按 CCY×Level</a:t>
            </a:r>
            <a:br/>
            <a:r>
              <a:t>分組計算</a:t>
            </a:r>
          </a:p>
        </p:txBody>
      </p:sp>
      <p:sp>
        <p:nvSpPr>
          <p:cNvPr id="9" name="TextBox 8"/>
          <p:cNvSpPr txBox="1"/>
          <p:nvPr/>
        </p:nvSpPr>
        <p:spPr>
          <a:xfrm>
            <a:off x="6035040" y="1508760"/>
            <a:ext cx="182880" cy="274320"/>
          </a:xfrm>
          <a:prstGeom prst="rect">
            <a:avLst/>
          </a:prstGeom>
          <a:noFill/>
        </p:spPr>
        <p:txBody>
          <a:bodyPr wrap="square">
            <a:spAutoFit/>
          </a:bodyPr>
          <a:lstStyle/>
          <a:p>
            <a:pPr algn="ctr">
              <a:defRPr sz="1800" b="0">
                <a:solidFill>
                  <a:srgbClr val="A0A8B8"/>
                </a:solidFill>
                <a:latin typeface="Segoe UI"/>
              </a:defRPr>
            </a:pPr>
            <a:r>
              <a:t>→</a:t>
            </a:r>
          </a:p>
        </p:txBody>
      </p:sp>
      <p:sp>
        <p:nvSpPr>
          <p:cNvPr id="10" name="Rounded Rectangle 9"/>
          <p:cNvSpPr/>
          <p:nvPr/>
        </p:nvSpPr>
        <p:spPr>
          <a:xfrm>
            <a:off x="6172199" y="1280160"/>
            <a:ext cx="1828800" cy="731520"/>
          </a:xfrm>
          <a:prstGeom prst="round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CoP 評分</a:t>
            </a:r>
            <a:br/>
            <a:r>
              <a:t>Wait 5/10/15/20</a:t>
            </a:r>
          </a:p>
        </p:txBody>
      </p:sp>
      <p:sp>
        <p:nvSpPr>
          <p:cNvPr id="11" name="TextBox 10"/>
          <p:cNvSpPr txBox="1"/>
          <p:nvPr/>
        </p:nvSpPr>
        <p:spPr>
          <a:xfrm>
            <a:off x="8001000" y="1508760"/>
            <a:ext cx="182880" cy="274320"/>
          </a:xfrm>
          <a:prstGeom prst="rect">
            <a:avLst/>
          </a:prstGeom>
          <a:noFill/>
        </p:spPr>
        <p:txBody>
          <a:bodyPr wrap="square">
            <a:spAutoFit/>
          </a:bodyPr>
          <a:lstStyle/>
          <a:p>
            <a:pPr algn="ctr">
              <a:defRPr sz="1800" b="0">
                <a:solidFill>
                  <a:srgbClr val="A0A8B8"/>
                </a:solidFill>
                <a:latin typeface="Segoe UI"/>
              </a:defRPr>
            </a:pPr>
            <a:r>
              <a:t>→</a:t>
            </a:r>
          </a:p>
        </p:txBody>
      </p:sp>
      <p:sp>
        <p:nvSpPr>
          <p:cNvPr id="12" name="Rounded Rectangle 11"/>
          <p:cNvSpPr/>
          <p:nvPr/>
        </p:nvSpPr>
        <p:spPr>
          <a:xfrm>
            <a:off x="8138160" y="1280160"/>
            <a:ext cx="1828800" cy="731520"/>
          </a:xfrm>
          <a:prstGeom prst="round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CoL 評分</a:t>
            </a:r>
            <a:br/>
            <a:r>
              <a:t>Wait 10/15/20/25</a:t>
            </a:r>
          </a:p>
        </p:txBody>
      </p:sp>
      <p:sp>
        <p:nvSpPr>
          <p:cNvPr id="13" name="TextBox 12"/>
          <p:cNvSpPr txBox="1"/>
          <p:nvPr/>
        </p:nvSpPr>
        <p:spPr>
          <a:xfrm>
            <a:off x="9966960" y="1508760"/>
            <a:ext cx="182880" cy="274320"/>
          </a:xfrm>
          <a:prstGeom prst="rect">
            <a:avLst/>
          </a:prstGeom>
          <a:noFill/>
        </p:spPr>
        <p:txBody>
          <a:bodyPr wrap="square">
            <a:spAutoFit/>
          </a:bodyPr>
          <a:lstStyle/>
          <a:p>
            <a:pPr algn="ctr">
              <a:defRPr sz="1800" b="0">
                <a:solidFill>
                  <a:srgbClr val="A0A8B8"/>
                </a:solidFill>
                <a:latin typeface="Segoe UI"/>
              </a:defRPr>
            </a:pPr>
            <a:r>
              <a:t>→</a:t>
            </a:r>
          </a:p>
        </p:txBody>
      </p:sp>
      <p:sp>
        <p:nvSpPr>
          <p:cNvPr id="14" name="Rounded Rectangle 13"/>
          <p:cNvSpPr/>
          <p:nvPr/>
        </p:nvSpPr>
        <p:spPr>
          <a:xfrm>
            <a:off x="10104120" y="1280160"/>
            <a:ext cx="1828800" cy="731520"/>
          </a:xfrm>
          <a:prstGeom prst="roundRect">
            <a:avLst/>
          </a:prstGeom>
          <a:solidFill>
            <a:srgbClr val="4A14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加總 Avg Score</a:t>
            </a:r>
            <a:br/>
            <a:r>
              <a:t>生成排名</a:t>
            </a:r>
          </a:p>
        </p:txBody>
      </p:sp>
      <p:sp>
        <p:nvSpPr>
          <p:cNvPr id="15" name="Rounded Rectangle 14"/>
          <p:cNvSpPr/>
          <p:nvPr/>
        </p:nvSpPr>
        <p:spPr>
          <a:xfrm>
            <a:off x="457200" y="2286000"/>
            <a:ext cx="11247120" cy="4297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377440"/>
            <a:ext cx="10972800" cy="365760"/>
          </a:xfrm>
          <a:prstGeom prst="rect">
            <a:avLst/>
          </a:prstGeom>
          <a:noFill/>
        </p:spPr>
        <p:txBody>
          <a:bodyPr wrap="square">
            <a:spAutoFit/>
          </a:bodyPr>
          <a:lstStyle/>
          <a:p>
            <a:pPr algn="l">
              <a:defRPr sz="1400" b="1">
                <a:solidFill>
                  <a:srgbClr val="E94560"/>
                </a:solidFill>
                <a:latin typeface="Segoe UI"/>
              </a:defRPr>
            </a:pPr>
            <a:r>
              <a:t>📝 計算範例：Signal 22200 / AUDCAD / L1 / CoP Wait=10</a:t>
            </a:r>
          </a:p>
        </p:txBody>
      </p:sp>
      <p:sp>
        <p:nvSpPr>
          <p:cNvPr id="17" name="TextBox 16"/>
          <p:cNvSpPr txBox="1"/>
          <p:nvPr/>
        </p:nvSpPr>
        <p:spPr>
          <a:xfrm>
            <a:off x="640080" y="2743200"/>
            <a:ext cx="10881360" cy="3657600"/>
          </a:xfrm>
          <a:prstGeom prst="rect">
            <a:avLst/>
          </a:prstGeom>
          <a:noFill/>
        </p:spPr>
        <p:txBody>
          <a:bodyPr wrap="square">
            <a:spAutoFit/>
          </a:bodyPr>
          <a:lstStyle/>
          <a:p>
            <a:pPr>
              <a:spcAft>
                <a:spcPts val="400"/>
              </a:spcAft>
              <a:defRPr sz="1300" b="1">
                <a:solidFill>
                  <a:srgbClr val="FFC107"/>
                </a:solidFill>
                <a:latin typeface="Segoe UI"/>
              </a:defRPr>
            </a:pPr>
            <a:r>
              <a:t>Step 1：篩選數據</a:t>
            </a:r>
          </a:p>
          <a:p>
            <a:pPr>
              <a:spcAft>
                <a:spcPts val="400"/>
              </a:spcAft>
              <a:defRPr sz="1100" b="0">
                <a:solidFill>
                  <a:srgbClr val="F0F0F0"/>
                </a:solidFill>
                <a:latin typeface="Segoe UI"/>
              </a:defRPr>
            </a:pPr>
            <a:r>
              <a:t>  • AUDCAD L1 交易共 45 筆，其中盈利 35 筆（net_profit &gt; 0）</a:t>
            </a:r>
          </a:p>
          <a:p>
            <a:pPr>
              <a:spcAft>
                <a:spcPts val="400"/>
              </a:spcAft>
              <a:defRPr sz="600" b="0">
                <a:solidFill>
                  <a:srgbClr val="F0F0F0"/>
                </a:solidFill>
                <a:latin typeface="Segoe UI"/>
              </a:defRPr>
            </a:pPr>
          </a:p>
          <a:p>
            <a:pPr>
              <a:spcAft>
                <a:spcPts val="400"/>
              </a:spcAft>
              <a:defRPr sz="1300" b="1">
                <a:solidFill>
                  <a:srgbClr val="FFC107"/>
                </a:solidFill>
                <a:latin typeface="Segoe UI"/>
              </a:defRPr>
            </a:pPr>
            <a:r>
              <a:t>Step 2：Trigger Rate（權重 40%）</a:t>
            </a:r>
          </a:p>
          <a:p>
            <a:pPr>
              <a:spcAft>
                <a:spcPts val="400"/>
              </a:spcAft>
              <a:defRPr sz="1100" b="0">
                <a:solidFill>
                  <a:srgbClr val="F0F0F0"/>
                </a:solidFill>
                <a:latin typeface="Segoe UI"/>
              </a:defRPr>
            </a:pPr>
            <a:r>
              <a:t>  • CoP Wait=10：檢查每筆盈利交易是否 Max Pips ≥ 10</a:t>
            </a:r>
          </a:p>
          <a:p>
            <a:pPr>
              <a:spcAft>
                <a:spcPts val="400"/>
              </a:spcAft>
              <a:defRPr sz="1100" b="0">
                <a:solidFill>
                  <a:srgbClr val="F0F0F0"/>
                </a:solidFill>
                <a:latin typeface="Segoe UI"/>
              </a:defRPr>
            </a:pPr>
            <a:r>
              <a:t>  • 結果：32/35 筆觸發 → trigger_rate = 91.4%</a:t>
            </a:r>
          </a:p>
          <a:p>
            <a:pPr>
              <a:spcAft>
                <a:spcPts val="400"/>
              </a:spcAft>
              <a:defRPr sz="1100" b="0">
                <a:solidFill>
                  <a:srgbClr val="4CAF50"/>
                </a:solidFill>
                <a:latin typeface="Segoe UI"/>
              </a:defRPr>
            </a:pPr>
            <a:r>
              <a:t>  • Score = min(91.4, 100) × 0.4 = 36.6</a:t>
            </a:r>
          </a:p>
          <a:p>
            <a:pPr>
              <a:spcAft>
                <a:spcPts val="400"/>
              </a:spcAft>
              <a:defRPr sz="600" b="0">
                <a:solidFill>
                  <a:srgbClr val="F0F0F0"/>
                </a:solidFill>
                <a:latin typeface="Segoe UI"/>
              </a:defRPr>
            </a:pPr>
          </a:p>
          <a:p>
            <a:pPr>
              <a:spcAft>
                <a:spcPts val="400"/>
              </a:spcAft>
              <a:defRPr sz="1300" b="1">
                <a:solidFill>
                  <a:srgbClr val="FFC107"/>
                </a:solidFill>
                <a:latin typeface="Segoe UI"/>
              </a:defRPr>
            </a:pPr>
            <a:r>
              <a:t>Step 3：Alpha Capture（權重 40%）</a:t>
            </a:r>
          </a:p>
          <a:p>
            <a:pPr>
              <a:spcAft>
                <a:spcPts val="400"/>
              </a:spcAft>
              <a:defRPr sz="1100" b="0">
                <a:solidFill>
                  <a:srgbClr val="F0F0F0"/>
                </a:solidFill>
                <a:latin typeface="Segoe UI"/>
              </a:defRPr>
            </a:pPr>
            <a:r>
              <a:t>  • 觸發交易平均盈利：$52.30</a:t>
            </a:r>
          </a:p>
          <a:p>
            <a:pPr>
              <a:spcAft>
                <a:spcPts val="400"/>
              </a:spcAft>
              <a:defRPr sz="1100" b="0">
                <a:solidFill>
                  <a:srgbClr val="F0F0F0"/>
                </a:solidFill>
                <a:latin typeface="Segoe UI"/>
              </a:defRPr>
            </a:pPr>
            <a:r>
              <a:t>  • Signal P50=$35, P75=$65 → 介於兩者之間</a:t>
            </a:r>
          </a:p>
          <a:p>
            <a:pPr>
              <a:spcAft>
                <a:spcPts val="400"/>
              </a:spcAft>
              <a:defRPr sz="1100" b="0">
                <a:solidFill>
                  <a:srgbClr val="4CAF50"/>
                </a:solidFill>
                <a:latin typeface="Segoe UI"/>
              </a:defRPr>
            </a:pPr>
            <a:r>
              <a:t>  • Score = (70 + (52.3-35)/(65-35)×30) × 0.4 = 70 + 17.3 = 87.3 × 0.4 = 34.9</a:t>
            </a:r>
          </a:p>
          <a:p>
            <a:pPr>
              <a:spcAft>
                <a:spcPts val="400"/>
              </a:spcAft>
              <a:defRPr sz="600" b="0">
                <a:solidFill>
                  <a:srgbClr val="F0F0F0"/>
                </a:solidFill>
                <a:latin typeface="Segoe UI"/>
              </a:defRPr>
            </a:pPr>
          </a:p>
          <a:p>
            <a:pPr>
              <a:spcAft>
                <a:spcPts val="400"/>
              </a:spcAft>
              <a:defRPr sz="1300" b="1">
                <a:solidFill>
                  <a:srgbClr val="FFC107"/>
                </a:solidFill>
                <a:latin typeface="Segoe UI"/>
              </a:defRPr>
            </a:pPr>
            <a:r>
              <a:t>Step 4：DDE（權重 20%）</a:t>
            </a:r>
          </a:p>
          <a:p>
            <a:pPr>
              <a:spcAft>
                <a:spcPts val="400"/>
              </a:spcAft>
              <a:defRPr sz="1100" b="0">
                <a:solidFill>
                  <a:srgbClr val="F0F0F0"/>
                </a:solidFill>
                <a:latin typeface="Segoe UI"/>
              </a:defRPr>
            </a:pPr>
            <a:r>
              <a:t>  • 每筆：dd_ratio = |Max Loss Pips| / Profit Pips，cap 2.0</a:t>
            </a:r>
          </a:p>
          <a:p>
            <a:pPr>
              <a:spcAft>
                <a:spcPts val="400"/>
              </a:spcAft>
              <a:defRPr sz="1100" b="0">
                <a:solidFill>
                  <a:srgbClr val="4CAF50"/>
                </a:solidFill>
                <a:latin typeface="Segoe UI"/>
              </a:defRPr>
            </a:pPr>
            <a:r>
              <a:t>  • 平均 dd_ratio = 0.55 → Score = (100 - 50×0.55) × 0.2 = 72.5 × 0.2 = 14.5</a:t>
            </a:r>
          </a:p>
          <a:p>
            <a:pPr>
              <a:spcAft>
                <a:spcPts val="400"/>
              </a:spcAft>
              <a:defRPr sz="600" b="0">
                <a:solidFill>
                  <a:srgbClr val="F0F0F0"/>
                </a:solidFill>
                <a:latin typeface="Segoe UI"/>
              </a:defRPr>
            </a:pPr>
          </a:p>
          <a:p>
            <a:pPr>
              <a:spcAft>
                <a:spcPts val="400"/>
              </a:spcAft>
              <a:defRPr sz="1400" b="1">
                <a:solidFill>
                  <a:srgbClr val="E94560"/>
                </a:solidFill>
                <a:latin typeface="Segoe UI"/>
              </a:defRPr>
            </a:pPr>
            <a:r>
              <a:t>Step 5：總分 = 36.6 + 34.9 + 14.5 = 86.0 → ⭐⭐⭐⭐ 建議 Copy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頁面功能 1-4：基礎分析 Tabs</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收益曲線 → 質量評分 → 貨幣對 → 層數分析</a:t>
            </a:r>
          </a:p>
        </p:txBody>
      </p:sp>
      <p:sp>
        <p:nvSpPr>
          <p:cNvPr id="5" name="Rounded Rectangle 4"/>
          <p:cNvSpPr/>
          <p:nvPr/>
        </p:nvSpPr>
        <p:spPr>
          <a:xfrm>
            <a:off x="36576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34440"/>
            <a:ext cx="2560320" cy="320040"/>
          </a:xfrm>
          <a:prstGeom prst="rect">
            <a:avLst/>
          </a:prstGeom>
          <a:noFill/>
        </p:spPr>
        <p:txBody>
          <a:bodyPr wrap="square">
            <a:spAutoFit/>
          </a:bodyPr>
          <a:lstStyle/>
          <a:p>
            <a:pPr algn="l">
              <a:defRPr sz="1300" b="1">
                <a:solidFill>
                  <a:srgbClr val="E94560"/>
                </a:solidFill>
                <a:latin typeface="Segoe UI"/>
              </a:defRPr>
            </a:pPr>
            <a:r>
              <a:t>📈 收益曲線 (Equity Curve)</a:t>
            </a:r>
          </a:p>
        </p:txBody>
      </p:sp>
      <p:sp>
        <p:nvSpPr>
          <p:cNvPr id="7" name="TextBox 6"/>
          <p:cNvSpPr txBox="1"/>
          <p:nvPr/>
        </p:nvSpPr>
        <p:spPr>
          <a:xfrm>
            <a:off x="50292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SVG 折線圖展示累積盈虧</a:t>
            </a:r>
          </a:p>
          <a:p>
            <a:pPr>
              <a:spcAft>
                <a:spcPts val="400"/>
              </a:spcAft>
              <a:defRPr sz="1000" b="0">
                <a:solidFill>
                  <a:srgbClr val="F0F0F0"/>
                </a:solidFill>
                <a:latin typeface="Segoe UI"/>
              </a:defRPr>
            </a:pPr>
            <a:r>
              <a:t>正/負區域著色（綠盈利紅虧損）</a:t>
            </a:r>
          </a:p>
          <a:p>
            <a:pPr>
              <a:spcAft>
                <a:spcPts val="400"/>
              </a:spcAft>
              <a:defRPr sz="1000" b="0">
                <a:solidFill>
                  <a:srgbClr val="F0F0F0"/>
                </a:solidFill>
                <a:latin typeface="Segoe UI"/>
              </a:defRPr>
            </a:pPr>
            <a:r>
              <a:t>關鍵統計卡片（總盈利、勝率等）</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使用方法：</a:t>
            </a:r>
          </a:p>
          <a:p>
            <a:pPr>
              <a:spcAft>
                <a:spcPts val="400"/>
              </a:spcAft>
              <a:defRPr sz="1000" b="0">
                <a:solidFill>
                  <a:srgbClr val="F0F0F0"/>
                </a:solidFill>
                <a:latin typeface="Segoe UI"/>
              </a:defRPr>
            </a:pPr>
            <a:r>
              <a:t>1. 上傳 CSV 自動渲染</a:t>
            </a:r>
          </a:p>
          <a:p>
            <a:pPr>
              <a:spcAft>
                <a:spcPts val="400"/>
              </a:spcAft>
              <a:defRPr sz="1000" b="0">
                <a:solidFill>
                  <a:srgbClr val="F0F0F0"/>
                </a:solidFill>
                <a:latin typeface="Segoe UI"/>
              </a:defRPr>
            </a:pPr>
            <a:r>
              <a:t>2. 第一眼睇總體盈虧趨勢</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計算：</a:t>
            </a:r>
          </a:p>
          <a:p>
            <a:pPr>
              <a:spcAft>
                <a:spcPts val="400"/>
              </a:spcAft>
              <a:defRPr sz="1000" b="0">
                <a:solidFill>
                  <a:srgbClr val="F0F0F0"/>
                </a:solidFill>
                <a:latin typeface="Segoe UI"/>
              </a:defRPr>
            </a:pPr>
            <a:r>
              <a:t>累積 net_profit 逐筆相加</a:t>
            </a:r>
          </a:p>
          <a:p>
            <a:pPr>
              <a:spcAft>
                <a:spcPts val="400"/>
              </a:spcAft>
              <a:defRPr sz="1000" b="0">
                <a:solidFill>
                  <a:srgbClr val="A0A8B8"/>
                </a:solidFill>
                <a:latin typeface="Segoe UI"/>
              </a:defRPr>
            </a:pPr>
            <a:r>
              <a:t>drawLine() → SVG polyline</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曲線上升可能因馬丁加倉</a:t>
            </a:r>
          </a:p>
          <a:p>
            <a:pPr>
              <a:spcAft>
                <a:spcPts val="400"/>
              </a:spcAft>
              <a:defRPr sz="1000" b="0">
                <a:solidFill>
                  <a:srgbClr val="FFCCCC"/>
                </a:solidFill>
                <a:latin typeface="Segoe UI"/>
              </a:defRPr>
            </a:pPr>
            <a:r>
              <a:t>• 掩蓋深層風險（只睇結果）</a:t>
            </a:r>
          </a:p>
          <a:p>
            <a:pPr>
              <a:spcAft>
                <a:spcPts val="400"/>
              </a:spcAft>
              <a:defRPr sz="1000" b="0">
                <a:solidFill>
                  <a:srgbClr val="FFCCCC"/>
                </a:solidFill>
                <a:latin typeface="Segoe UI"/>
              </a:defRPr>
            </a:pPr>
            <a:r>
              <a:t>• 需配合層數分析使用</a:t>
            </a:r>
          </a:p>
        </p:txBody>
      </p:sp>
      <p:sp>
        <p:nvSpPr>
          <p:cNvPr id="8" name="Rounded Rectangle 7"/>
          <p:cNvSpPr/>
          <p:nvPr/>
        </p:nvSpPr>
        <p:spPr>
          <a:xfrm>
            <a:off x="329184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234440"/>
            <a:ext cx="2560320" cy="320040"/>
          </a:xfrm>
          <a:prstGeom prst="rect">
            <a:avLst/>
          </a:prstGeom>
          <a:noFill/>
        </p:spPr>
        <p:txBody>
          <a:bodyPr wrap="square">
            <a:spAutoFit/>
          </a:bodyPr>
          <a:lstStyle/>
          <a:p>
            <a:pPr algn="l">
              <a:defRPr sz="1300" b="1">
                <a:solidFill>
                  <a:srgbClr val="E94560"/>
                </a:solidFill>
                <a:latin typeface="Segoe UI"/>
              </a:defRPr>
            </a:pPr>
            <a:r>
              <a:t>🎯 質量評分 (Quality Score)</a:t>
            </a:r>
          </a:p>
        </p:txBody>
      </p:sp>
      <p:sp>
        <p:nvSpPr>
          <p:cNvPr id="10" name="TextBox 9"/>
          <p:cNvSpPr txBox="1"/>
          <p:nvPr/>
        </p:nvSpPr>
        <p:spPr>
          <a:xfrm>
            <a:off x="342900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Entry Score（入場質素）</a:t>
            </a:r>
          </a:p>
          <a:p>
            <a:pPr>
              <a:spcAft>
                <a:spcPts val="400"/>
              </a:spcAft>
              <a:defRPr sz="1000" b="0">
                <a:solidFill>
                  <a:srgbClr val="F0F0F0"/>
                </a:solidFill>
                <a:latin typeface="Segoe UI"/>
              </a:defRPr>
            </a:pPr>
            <a:r>
              <a:t>Strategy Score（策略管理）</a:t>
            </a:r>
          </a:p>
          <a:p>
            <a:pPr>
              <a:spcAft>
                <a:spcPts val="400"/>
              </a:spcAft>
              <a:defRPr sz="1000" b="0">
                <a:solidFill>
                  <a:srgbClr val="F0F0F0"/>
                </a:solidFill>
                <a:latin typeface="Segoe UI"/>
              </a:defRPr>
            </a:pPr>
            <a:r>
              <a:t>Final = Entry×0.4 + Strategy×0.6</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Entry Score 計算：</a:t>
            </a:r>
          </a:p>
          <a:p>
            <a:pPr>
              <a:spcAft>
                <a:spcPts val="400"/>
              </a:spcAft>
              <a:defRPr sz="1000" b="0">
                <a:solidFill>
                  <a:srgbClr val="F0F0F0"/>
                </a:solidFill>
                <a:latin typeface="Segoe UI"/>
              </a:defRPr>
            </a:pPr>
            <a:r>
              <a:t>方向(35%) — 趨勢對唔對</a:t>
            </a:r>
          </a:p>
          <a:p>
            <a:pPr>
              <a:spcAft>
                <a:spcPts val="400"/>
              </a:spcAft>
              <a:defRPr sz="1000" b="0">
                <a:solidFill>
                  <a:srgbClr val="F0F0F0"/>
                </a:solidFill>
                <a:latin typeface="Segoe UI"/>
              </a:defRPr>
            </a:pPr>
            <a:r>
              <a:t>時機(35%) — 浮盈 vs 浮虧</a:t>
            </a:r>
          </a:p>
          <a:p>
            <a:pPr>
              <a:spcAft>
                <a:spcPts val="400"/>
              </a:spcAft>
              <a:defRPr sz="1000" b="0">
                <a:solidFill>
                  <a:srgbClr val="F0F0F0"/>
                </a:solidFill>
                <a:latin typeface="Segoe UI"/>
              </a:defRPr>
            </a:pPr>
            <a:r>
              <a:t>初始回撤(30%) — 捱打幾耐</a:t>
            </a:r>
          </a:p>
          <a:p>
            <a:pPr>
              <a:spcAft>
                <a:spcPts val="400"/>
              </a:spcAft>
              <a:defRPr sz="1000" b="0">
                <a:solidFill>
                  <a:srgbClr val="FF9800"/>
                </a:solidFill>
                <a:latin typeface="Segoe UI"/>
              </a:defRPr>
            </a:pPr>
            <a:r>
              <a:t>L4+ timing ×1.2 馬丁修正</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Strategy Score 計算：</a:t>
            </a:r>
          </a:p>
          <a:p>
            <a:pPr>
              <a:spcAft>
                <a:spcPts val="400"/>
              </a:spcAft>
              <a:defRPr sz="1000" b="0">
                <a:solidFill>
                  <a:srgbClr val="F0F0F0"/>
                </a:solidFill>
                <a:latin typeface="Segoe UI"/>
              </a:defRPr>
            </a:pPr>
            <a:r>
              <a:t>回歸率(30%) — 深層自救能力</a:t>
            </a:r>
          </a:p>
          <a:p>
            <a:pPr>
              <a:spcAft>
                <a:spcPts val="400"/>
              </a:spcAft>
              <a:defRPr sz="1000" b="0">
                <a:solidFill>
                  <a:srgbClr val="F0F0F0"/>
                </a:solidFill>
                <a:latin typeface="Segoe UI"/>
              </a:defRPr>
            </a:pPr>
            <a:r>
              <a:t>出場效率(25%) — 賺到幾多</a:t>
            </a:r>
          </a:p>
          <a:p>
            <a:pPr>
              <a:spcAft>
                <a:spcPts val="400"/>
              </a:spcAft>
              <a:defRPr sz="1000" b="0">
                <a:solidFill>
                  <a:srgbClr val="F0F0F0"/>
                </a:solidFill>
                <a:latin typeface="Segoe UI"/>
              </a:defRPr>
            </a:pPr>
            <a:r>
              <a:t>風控(20%)+品質(15%)+成本(10%)</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評分基於歷史非即時</a:t>
            </a:r>
          </a:p>
          <a:p>
            <a:pPr>
              <a:spcAft>
                <a:spcPts val="400"/>
              </a:spcAft>
              <a:defRPr sz="1000" b="0">
                <a:solidFill>
                  <a:srgbClr val="FFCCCC"/>
                </a:solidFill>
                <a:latin typeface="Segoe UI"/>
              </a:defRPr>
            </a:pPr>
            <a:r>
              <a:t>• 無 Tick Data，精度受限</a:t>
            </a:r>
          </a:p>
        </p:txBody>
      </p:sp>
      <p:sp>
        <p:nvSpPr>
          <p:cNvPr id="11" name="Rounded Rectangle 10"/>
          <p:cNvSpPr/>
          <p:nvPr/>
        </p:nvSpPr>
        <p:spPr>
          <a:xfrm>
            <a:off x="621792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234440"/>
            <a:ext cx="2560320" cy="320040"/>
          </a:xfrm>
          <a:prstGeom prst="rect">
            <a:avLst/>
          </a:prstGeom>
          <a:noFill/>
        </p:spPr>
        <p:txBody>
          <a:bodyPr wrap="square">
            <a:spAutoFit/>
          </a:bodyPr>
          <a:lstStyle/>
          <a:p>
            <a:pPr algn="l">
              <a:defRPr sz="1300" b="1">
                <a:solidFill>
                  <a:srgbClr val="E94560"/>
                </a:solidFill>
                <a:latin typeface="Segoe UI"/>
              </a:defRPr>
            </a:pPr>
            <a:r>
              <a:t>💱 貨幣對 (Symbol Analysis)</a:t>
            </a:r>
          </a:p>
        </p:txBody>
      </p:sp>
      <p:sp>
        <p:nvSpPr>
          <p:cNvPr id="13" name="TextBox 12"/>
          <p:cNvSpPr txBox="1"/>
          <p:nvPr/>
        </p:nvSpPr>
        <p:spPr>
          <a:xfrm>
            <a:off x="635508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按 PF（Profit Factor）排序</a:t>
            </a:r>
          </a:p>
          <a:p>
            <a:pPr>
              <a:spcAft>
                <a:spcPts val="400"/>
              </a:spcAft>
              <a:defRPr sz="1000" b="0">
                <a:solidFill>
                  <a:srgbClr val="F0F0F0"/>
                </a:solidFill>
                <a:latin typeface="Segoe UI"/>
              </a:defRPr>
            </a:pPr>
            <a:r>
              <a:t>每個貨幣對：勝率、盈虧、筆數</a:t>
            </a:r>
          </a:p>
          <a:p>
            <a:pPr>
              <a:spcAft>
                <a:spcPts val="400"/>
              </a:spcAft>
              <a:defRPr sz="1000" b="0">
                <a:solidFill>
                  <a:srgbClr val="F0F0F0"/>
                </a:solidFill>
                <a:latin typeface="Segoe UI"/>
              </a:defRPr>
            </a:pPr>
            <a:r>
              <a:t>點擊展開詳細</a:t>
            </a:r>
          </a:p>
          <a:p>
            <a:pPr>
              <a:spcAft>
                <a:spcPts val="400"/>
              </a:spcAft>
              <a:defRPr sz="1000" b="0">
                <a:solidFill>
                  <a:srgbClr val="F0F0F0"/>
                </a:solidFill>
                <a:latin typeface="Segoe UI"/>
              </a:defRPr>
            </a:pPr>
            <a:r>
              <a:t>顏色編碼（綠=好、紅=差）</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使用方法：</a:t>
            </a:r>
          </a:p>
          <a:p>
            <a:pPr>
              <a:spcAft>
                <a:spcPts val="400"/>
              </a:spcAft>
              <a:defRPr sz="1000" b="0">
                <a:solidFill>
                  <a:srgbClr val="F0F0F0"/>
                </a:solidFill>
                <a:latin typeface="Segoe UI"/>
              </a:defRPr>
            </a:pPr>
            <a:r>
              <a:t>1. 上傳 CSV 後自動按 CCY 分組</a:t>
            </a:r>
          </a:p>
          <a:p>
            <a:pPr>
              <a:spcAft>
                <a:spcPts val="400"/>
              </a:spcAft>
              <a:defRPr sz="1000" b="0">
                <a:solidFill>
                  <a:srgbClr val="F0F0F0"/>
                </a:solidFill>
                <a:latin typeface="Segoe UI"/>
              </a:defRPr>
            </a:pPr>
            <a:r>
              <a:t>2. 按 PF 排序睇邊個最穩定</a:t>
            </a:r>
          </a:p>
          <a:p>
            <a:pPr>
              <a:spcAft>
                <a:spcPts val="400"/>
              </a:spcAft>
              <a:defRPr sz="1000" b="0">
                <a:solidFill>
                  <a:srgbClr val="F0F0F0"/>
                </a:solidFill>
                <a:latin typeface="Segoe UI"/>
              </a:defRPr>
            </a:pPr>
            <a:r>
              <a:t>3. 展開睇個別交易明細</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計算：calcSymbolStats()</a:t>
            </a:r>
          </a:p>
          <a:p>
            <a:pPr>
              <a:spcAft>
                <a:spcPts val="400"/>
              </a:spcAft>
              <a:defRPr sz="1000" b="0">
                <a:solidFill>
                  <a:srgbClr val="F0F0F0"/>
                </a:solidFill>
                <a:latin typeface="Segoe UI"/>
              </a:defRPr>
            </a:pPr>
            <a:r>
              <a:t>PF = gross_win / gross_loss</a:t>
            </a:r>
          </a:p>
          <a:p>
            <a:pPr>
              <a:spcAft>
                <a:spcPts val="400"/>
              </a:spcAft>
              <a:defRPr sz="1000" b="0">
                <a:solidFill>
                  <a:srgbClr val="F0F0F0"/>
                </a:solidFill>
                <a:latin typeface="Segoe UI"/>
              </a:defRPr>
            </a:pPr>
            <a:r>
              <a:t>WR = wins / total × 100%</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PF 高可能因為少數大贏</a:t>
            </a:r>
          </a:p>
          <a:p>
            <a:pPr>
              <a:spcAft>
                <a:spcPts val="400"/>
              </a:spcAft>
              <a:defRPr sz="1000" b="0">
                <a:solidFill>
                  <a:srgbClr val="FFCCCC"/>
                </a:solidFill>
                <a:latin typeface="Segoe UI"/>
              </a:defRPr>
            </a:pPr>
            <a:r>
              <a:t>• 樣本少時 PF 不穩定</a:t>
            </a:r>
          </a:p>
        </p:txBody>
      </p:sp>
      <p:sp>
        <p:nvSpPr>
          <p:cNvPr id="14" name="Rounded Rectangle 13"/>
          <p:cNvSpPr/>
          <p:nvPr/>
        </p:nvSpPr>
        <p:spPr>
          <a:xfrm>
            <a:off x="914400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1234440"/>
            <a:ext cx="2560320" cy="320040"/>
          </a:xfrm>
          <a:prstGeom prst="rect">
            <a:avLst/>
          </a:prstGeom>
          <a:noFill/>
        </p:spPr>
        <p:txBody>
          <a:bodyPr wrap="square">
            <a:spAutoFit/>
          </a:bodyPr>
          <a:lstStyle/>
          <a:p>
            <a:pPr algn="l">
              <a:defRPr sz="1300" b="1">
                <a:solidFill>
                  <a:srgbClr val="E94560"/>
                </a:solidFill>
                <a:latin typeface="Segoe UI"/>
              </a:defRPr>
            </a:pPr>
            <a:r>
              <a:t>📚 層數分析 (Layer Analysis)</a:t>
            </a:r>
          </a:p>
        </p:txBody>
      </p:sp>
      <p:sp>
        <p:nvSpPr>
          <p:cNvPr id="16" name="TextBox 15"/>
          <p:cNvSpPr txBox="1"/>
          <p:nvPr/>
        </p:nvSpPr>
        <p:spPr>
          <a:xfrm>
            <a:off x="928116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馬丁策略核心 — 層數深度分析</a:t>
            </a:r>
          </a:p>
          <a:p>
            <a:pPr>
              <a:spcAft>
                <a:spcPts val="400"/>
              </a:spcAft>
              <a:defRPr sz="1000" b="0">
                <a:solidFill>
                  <a:srgbClr val="F0F0F0"/>
                </a:solidFill>
                <a:latin typeface="Segoe UI"/>
              </a:defRPr>
            </a:pPr>
            <a:r>
              <a:t>L1 only → L1-L2 → L1-L3 → L4+</a:t>
            </a:r>
          </a:p>
          <a:p>
            <a:pPr>
              <a:spcAft>
                <a:spcPts val="400"/>
              </a:spcAft>
              <a:defRPr sz="1000" b="0">
                <a:solidFill>
                  <a:srgbClr val="F0F0F0"/>
                </a:solidFill>
                <a:latin typeface="Segoe UI"/>
              </a:defRPr>
            </a:pPr>
            <a:r>
              <a:t>每層：勝率、盈利、回歸率</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健康指標：</a:t>
            </a:r>
          </a:p>
          <a:p>
            <a:pPr>
              <a:spcAft>
                <a:spcPts val="400"/>
              </a:spcAft>
              <a:defRPr sz="1000" b="0">
                <a:solidFill>
                  <a:srgbClr val="4CAF50"/>
                </a:solidFill>
                <a:latin typeface="Segoe UI"/>
              </a:defRPr>
            </a:pPr>
            <a:r>
              <a:t>✅ L1-only ≥ 50% = 健康</a:t>
            </a:r>
          </a:p>
          <a:p>
            <a:pPr>
              <a:spcAft>
                <a:spcPts val="400"/>
              </a:spcAft>
              <a:defRPr sz="1000" b="0">
                <a:solidFill>
                  <a:srgbClr val="FFC107"/>
                </a:solidFill>
                <a:latin typeface="Segoe UI"/>
              </a:defRPr>
            </a:pPr>
            <a:r>
              <a:t>⚠️ L4+ ≤ 20% = 可控</a:t>
            </a:r>
          </a:p>
          <a:p>
            <a:pPr>
              <a:spcAft>
                <a:spcPts val="400"/>
              </a:spcAft>
              <a:defRPr sz="1000" b="0">
                <a:solidFill>
                  <a:srgbClr val="4CAF50"/>
                </a:solidFill>
                <a:latin typeface="Segoe UI"/>
              </a:defRPr>
            </a:pPr>
            <a:r>
              <a:t>✅ L4+ 回歸率 ≥ 70% = 自救力強</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Lot-Based 偵測（v0.7）：</a:t>
            </a:r>
          </a:p>
          <a:p>
            <a:pPr>
              <a:spcAft>
                <a:spcPts val="400"/>
              </a:spcAft>
              <a:defRPr sz="1000" b="0">
                <a:solidFill>
                  <a:srgbClr val="F0F0F0"/>
                </a:solidFill>
                <a:latin typeface="Segoe UI"/>
              </a:defRPr>
            </a:pPr>
            <a:r>
              <a:t>buildLayerMapping() → lot→level</a:t>
            </a:r>
          </a:p>
          <a:p>
            <a:pPr>
              <a:spcAft>
                <a:spcPts val="400"/>
              </a:spcAft>
              <a:defRPr sz="1000" b="0">
                <a:solidFill>
                  <a:srgbClr val="F0F0F0"/>
                </a:solidFill>
                <a:latin typeface="Segoe UI"/>
              </a:defRPr>
            </a:pPr>
            <a:r>
              <a:t>非舊版 pip 硬編碼</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L4+ 是爆倉高危區</a:t>
            </a:r>
          </a:p>
          <a:p>
            <a:pPr>
              <a:spcAft>
                <a:spcPts val="400"/>
              </a:spcAft>
              <a:defRPr sz="1000" b="0">
                <a:solidFill>
                  <a:srgbClr val="FFCCCC"/>
                </a:solidFill>
                <a:latin typeface="Segoe UI"/>
              </a:defRPr>
            </a:pPr>
            <a:r>
              <a:t>• AutoLot 信號層級不確定</a:t>
            </a:r>
          </a:p>
          <a:p>
            <a:pPr>
              <a:spcAft>
                <a:spcPts val="400"/>
              </a:spcAft>
              <a:defRPr sz="1000" b="0">
                <a:solidFill>
                  <a:srgbClr val="FFCCCC"/>
                </a:solidFill>
                <a:latin typeface="Segoe UI"/>
              </a:defRPr>
            </a:pPr>
            <a:r>
              <a:t>• 回歸率依賴歷史數據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頁面功能 5-8：時間與市場分析</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時段分析 → 持倉時間 → 方向分析 → 市場語境</a:t>
            </a:r>
          </a:p>
        </p:txBody>
      </p:sp>
      <p:sp>
        <p:nvSpPr>
          <p:cNvPr id="5" name="Rounded Rectangle 4"/>
          <p:cNvSpPr/>
          <p:nvPr/>
        </p:nvSpPr>
        <p:spPr>
          <a:xfrm>
            <a:off x="36576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34440"/>
            <a:ext cx="2560320" cy="320040"/>
          </a:xfrm>
          <a:prstGeom prst="rect">
            <a:avLst/>
          </a:prstGeom>
          <a:noFill/>
        </p:spPr>
        <p:txBody>
          <a:bodyPr wrap="square">
            <a:spAutoFit/>
          </a:bodyPr>
          <a:lstStyle/>
          <a:p>
            <a:pPr algn="l">
              <a:defRPr sz="1300" b="1">
                <a:solidFill>
                  <a:srgbClr val="E94560"/>
                </a:solidFill>
                <a:latin typeface="Segoe UI"/>
              </a:defRPr>
            </a:pPr>
            <a:r>
              <a:t>🕐 時段分析 (Session)</a:t>
            </a:r>
          </a:p>
        </p:txBody>
      </p:sp>
      <p:sp>
        <p:nvSpPr>
          <p:cNvPr id="7" name="TextBox 6"/>
          <p:cNvSpPr txBox="1"/>
          <p:nvPr/>
        </p:nvSpPr>
        <p:spPr>
          <a:xfrm>
            <a:off x="50292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按交易時段統計表現差異</a:t>
            </a:r>
          </a:p>
          <a:p>
            <a:pPr>
              <a:spcAft>
                <a:spcPts val="400"/>
              </a:spcAft>
              <a:defRPr sz="1000" b="0">
                <a:solidFill>
                  <a:srgbClr val="F0F0F0"/>
                </a:solidFill>
                <a:latin typeface="Segoe UI"/>
              </a:defRPr>
            </a:pPr>
            <a:r>
              <a:t>24h 逐小時棒型圖</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時段定義（HKT）：</a:t>
            </a:r>
          </a:p>
          <a:p>
            <a:pPr>
              <a:spcAft>
                <a:spcPts val="400"/>
              </a:spcAft>
              <a:defRPr sz="1000" b="0">
                <a:solidFill>
                  <a:srgbClr val="F0F0F0"/>
                </a:solidFill>
                <a:latin typeface="Segoe UI"/>
              </a:defRPr>
            </a:pPr>
            <a:r>
              <a:t>亞洲盤 00-08（波幅細）</a:t>
            </a:r>
          </a:p>
          <a:p>
            <a:pPr>
              <a:spcAft>
                <a:spcPts val="400"/>
              </a:spcAft>
              <a:defRPr sz="1000" b="0">
                <a:solidFill>
                  <a:srgbClr val="F0F0F0"/>
                </a:solidFill>
                <a:latin typeface="Segoe UI"/>
              </a:defRPr>
            </a:pPr>
            <a:r>
              <a:t>歐洲盤 14-22（波幅大）</a:t>
            </a:r>
          </a:p>
          <a:p>
            <a:pPr>
              <a:spcAft>
                <a:spcPts val="400"/>
              </a:spcAft>
              <a:defRPr sz="1000" b="0">
                <a:solidFill>
                  <a:srgbClr val="F0F0F0"/>
                </a:solidFill>
                <a:latin typeface="Segoe UI"/>
              </a:defRPr>
            </a:pPr>
            <a:r>
              <a:t>美洲盤 21-05（跨午夜）</a:t>
            </a:r>
          </a:p>
          <a:p>
            <a:pPr>
              <a:spcAft>
                <a:spcPts val="400"/>
              </a:spcAft>
              <a:defRPr sz="1000" b="0">
                <a:solidFill>
                  <a:srgbClr val="A0A8B8"/>
                </a:solidFill>
                <a:latin typeface="Segoe UI"/>
              </a:defRPr>
            </a:pPr>
            <a:r>
              <a:t>重疊：亞洲優先 0-4</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計算：calcSessionStats()</a:t>
            </a:r>
          </a:p>
          <a:p>
            <a:pPr>
              <a:spcAft>
                <a:spcPts val="400"/>
              </a:spcAft>
              <a:defRPr sz="1000" b="0">
                <a:solidFill>
                  <a:srgbClr val="F0F0F0"/>
                </a:solidFill>
                <a:latin typeface="Segoe UI"/>
              </a:defRPr>
            </a:pPr>
            <a:r>
              <a:t>calcHourlyStats() → 24格</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只用 Open Time 分配時段</a:t>
            </a:r>
          </a:p>
          <a:p>
            <a:pPr>
              <a:spcAft>
                <a:spcPts val="400"/>
              </a:spcAft>
              <a:defRPr sz="1000" b="0">
                <a:solidFill>
                  <a:srgbClr val="FFCCCC"/>
                </a:solidFill>
                <a:latin typeface="Segoe UI"/>
              </a:defRPr>
            </a:pPr>
            <a:r>
              <a:t>• 跨時段持倉無法反映</a:t>
            </a:r>
          </a:p>
        </p:txBody>
      </p:sp>
      <p:sp>
        <p:nvSpPr>
          <p:cNvPr id="8" name="Rounded Rectangle 7"/>
          <p:cNvSpPr/>
          <p:nvPr/>
        </p:nvSpPr>
        <p:spPr>
          <a:xfrm>
            <a:off x="329184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234440"/>
            <a:ext cx="2560320" cy="320040"/>
          </a:xfrm>
          <a:prstGeom prst="rect">
            <a:avLst/>
          </a:prstGeom>
          <a:noFill/>
        </p:spPr>
        <p:txBody>
          <a:bodyPr wrap="square">
            <a:spAutoFit/>
          </a:bodyPr>
          <a:lstStyle/>
          <a:p>
            <a:pPr algn="l">
              <a:defRPr sz="1300" b="1">
                <a:solidFill>
                  <a:srgbClr val="E94560"/>
                </a:solidFill>
                <a:latin typeface="Segoe UI"/>
              </a:defRPr>
            </a:pPr>
            <a:r>
              <a:t>⏱️ 持倉時間 (Holding Time)</a:t>
            </a:r>
          </a:p>
        </p:txBody>
      </p:sp>
      <p:sp>
        <p:nvSpPr>
          <p:cNvPr id="10" name="TextBox 9"/>
          <p:cNvSpPr txBox="1"/>
          <p:nvPr/>
        </p:nvSpPr>
        <p:spPr>
          <a:xfrm>
            <a:off x="342900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5 段持倉時間分組分析</a:t>
            </a:r>
          </a:p>
          <a:p>
            <a:pPr>
              <a:spcAft>
                <a:spcPts val="400"/>
              </a:spcAft>
              <a:defRPr sz="1000" b="0">
                <a:solidFill>
                  <a:srgbClr val="F0F0F0"/>
                </a:solidFill>
                <a:latin typeface="Segoe UI"/>
              </a:defRPr>
            </a:pPr>
            <a:r>
              <a:t>反映策略類型（日內vs波段）</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分組（用分鐘計）：</a:t>
            </a:r>
          </a:p>
          <a:p>
            <a:pPr>
              <a:spcAft>
                <a:spcPts val="400"/>
              </a:spcAft>
              <a:defRPr sz="1000" b="0">
                <a:solidFill>
                  <a:srgbClr val="F0F0F0"/>
                </a:solidFill>
                <a:latin typeface="Segoe UI"/>
              </a:defRPr>
            </a:pPr>
            <a:r>
              <a:t>&lt;30m — 剝頭皮型</a:t>
            </a:r>
          </a:p>
          <a:p>
            <a:pPr>
              <a:spcAft>
                <a:spcPts val="400"/>
              </a:spcAft>
              <a:defRPr sz="1000" b="0">
                <a:solidFill>
                  <a:srgbClr val="F0F0F0"/>
                </a:solidFill>
                <a:latin typeface="Segoe UI"/>
              </a:defRPr>
            </a:pPr>
            <a:r>
              <a:t>30m-1h — 短線</a:t>
            </a:r>
          </a:p>
          <a:p>
            <a:pPr>
              <a:spcAft>
                <a:spcPts val="400"/>
              </a:spcAft>
              <a:defRPr sz="1000" b="0">
                <a:solidFill>
                  <a:srgbClr val="F0F0F0"/>
                </a:solidFill>
                <a:latin typeface="Segoe UI"/>
              </a:defRPr>
            </a:pPr>
            <a:r>
              <a:t>1-4h — 日內</a:t>
            </a:r>
          </a:p>
          <a:p>
            <a:pPr>
              <a:spcAft>
                <a:spcPts val="400"/>
              </a:spcAft>
              <a:defRPr sz="1000" b="0">
                <a:solidFill>
                  <a:srgbClr val="F0F0F0"/>
                </a:solidFill>
                <a:latin typeface="Segoe UI"/>
              </a:defRPr>
            </a:pPr>
            <a:r>
              <a:t>4-12h — 波段</a:t>
            </a:r>
          </a:p>
          <a:p>
            <a:pPr>
              <a:spcAft>
                <a:spcPts val="400"/>
              </a:spcAft>
              <a:defRPr sz="1000" b="0">
                <a:solidFill>
                  <a:srgbClr val="F0F0F0"/>
                </a:solidFill>
                <a:latin typeface="Segoe UI"/>
              </a:defRPr>
            </a:pPr>
            <a:r>
              <a:t>12h+ — 長線</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計算：calcHoldingStats()</a:t>
            </a:r>
          </a:p>
          <a:p>
            <a:pPr>
              <a:spcAft>
                <a:spcPts val="400"/>
              </a:spcAft>
              <a:defRPr sz="1000" b="0">
                <a:solidFill>
                  <a:srgbClr val="F0F0F0"/>
                </a:solidFill>
                <a:latin typeface="Segoe UI"/>
              </a:defRPr>
            </a:pPr>
            <a:r>
              <a:t>用 CSV Holding Time (Hours)</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長時間持倉 = 高 swap 成本</a:t>
            </a:r>
          </a:p>
          <a:p>
            <a:pPr>
              <a:spcAft>
                <a:spcPts val="400"/>
              </a:spcAft>
              <a:defRPr sz="1000" b="0">
                <a:solidFill>
                  <a:srgbClr val="FFCCCC"/>
                </a:solidFill>
                <a:latin typeface="Segoe UI"/>
              </a:defRPr>
            </a:pPr>
            <a:r>
              <a:t>• 馬丁策略持倉往往偏長</a:t>
            </a:r>
          </a:p>
        </p:txBody>
      </p:sp>
      <p:sp>
        <p:nvSpPr>
          <p:cNvPr id="11" name="Rounded Rectangle 10"/>
          <p:cNvSpPr/>
          <p:nvPr/>
        </p:nvSpPr>
        <p:spPr>
          <a:xfrm>
            <a:off x="621792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234440"/>
            <a:ext cx="2560320" cy="320040"/>
          </a:xfrm>
          <a:prstGeom prst="rect">
            <a:avLst/>
          </a:prstGeom>
          <a:noFill/>
        </p:spPr>
        <p:txBody>
          <a:bodyPr wrap="square">
            <a:spAutoFit/>
          </a:bodyPr>
          <a:lstStyle/>
          <a:p>
            <a:pPr algn="l">
              <a:defRPr sz="1300" b="1">
                <a:solidFill>
                  <a:srgbClr val="E94560"/>
                </a:solidFill>
                <a:latin typeface="Segoe UI"/>
              </a:defRPr>
            </a:pPr>
            <a:r>
              <a:t>↔️ 方向分析 (Direction)</a:t>
            </a:r>
          </a:p>
        </p:txBody>
      </p:sp>
      <p:sp>
        <p:nvSpPr>
          <p:cNvPr id="13" name="TextBox 12"/>
          <p:cNvSpPr txBox="1"/>
          <p:nvPr/>
        </p:nvSpPr>
        <p:spPr>
          <a:xfrm>
            <a:off x="635508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分析 BUY vs SELL 表現差異</a:t>
            </a:r>
          </a:p>
          <a:p>
            <a:pPr>
              <a:spcAft>
                <a:spcPts val="400"/>
              </a:spcAft>
              <a:defRPr sz="1000" b="0">
                <a:solidFill>
                  <a:srgbClr val="F0F0F0"/>
                </a:solidFill>
                <a:latin typeface="Segoe UI"/>
              </a:defRPr>
            </a:pPr>
            <a:r>
              <a:t>按貨幣對 × 方向 矩陣展示</a:t>
            </a:r>
          </a:p>
          <a:p>
            <a:pPr>
              <a:spcAft>
                <a:spcPts val="400"/>
              </a:spcAft>
              <a:defRPr sz="1000" b="0">
                <a:solidFill>
                  <a:srgbClr val="F0F0F0"/>
                </a:solidFill>
                <a:latin typeface="Segoe UI"/>
              </a:defRPr>
            </a:pPr>
            <a:r>
              <a:t>識別策略偏多/偏空傾向</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計算：calcDirectionStats()</a:t>
            </a:r>
          </a:p>
          <a:p>
            <a:pPr>
              <a:spcAft>
                <a:spcPts val="400"/>
              </a:spcAft>
              <a:defRPr sz="1000" b="0">
                <a:solidFill>
                  <a:srgbClr val="F0F0F0"/>
                </a:solidFill>
                <a:latin typeface="Segoe UI"/>
              </a:defRPr>
            </a:pPr>
            <a:r>
              <a:t>Magic Number: 88=BUY, 77=SELL</a:t>
            </a:r>
          </a:p>
          <a:p>
            <a:pPr>
              <a:spcAft>
                <a:spcPts val="400"/>
              </a:spcAft>
              <a:defRPr sz="1000" b="0">
                <a:solidFill>
                  <a:srgbClr val="F0F0F0"/>
                </a:solidFill>
                <a:latin typeface="Segoe UI"/>
              </a:defRPr>
            </a:pPr>
            <a:r>
              <a:t>或用 Type: buy/sell</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使用場景：</a:t>
            </a:r>
          </a:p>
          <a:p>
            <a:pPr>
              <a:spcAft>
                <a:spcPts val="400"/>
              </a:spcAft>
              <a:defRPr sz="1000" b="0">
                <a:solidFill>
                  <a:srgbClr val="F0F0F0"/>
                </a:solidFill>
                <a:latin typeface="Segoe UI"/>
              </a:defRPr>
            </a:pPr>
            <a:r>
              <a:t>睇 EA 係咪只識做單邊</a:t>
            </a:r>
          </a:p>
          <a:p>
            <a:pPr>
              <a:spcAft>
                <a:spcPts val="400"/>
              </a:spcAft>
              <a:defRPr sz="1000" b="0">
                <a:solidFill>
                  <a:srgbClr val="F0F0F0"/>
                </a:solidFill>
                <a:latin typeface="Segoe UI"/>
              </a:defRPr>
            </a:pPr>
            <a:r>
              <a:t>某方向特別弱要留意</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單方向依賴 = 趨勢反轉高危</a:t>
            </a:r>
          </a:p>
          <a:p>
            <a:pPr>
              <a:spcAft>
                <a:spcPts val="400"/>
              </a:spcAft>
              <a:defRPr sz="1000" b="0">
                <a:solidFill>
                  <a:srgbClr val="FFCCCC"/>
                </a:solidFill>
                <a:latin typeface="Segoe UI"/>
              </a:defRPr>
            </a:pPr>
            <a:r>
              <a:t>• 樣本不均時結果偏頗</a:t>
            </a:r>
          </a:p>
        </p:txBody>
      </p:sp>
      <p:sp>
        <p:nvSpPr>
          <p:cNvPr id="14" name="Rounded Rectangle 13"/>
          <p:cNvSpPr/>
          <p:nvPr/>
        </p:nvSpPr>
        <p:spPr>
          <a:xfrm>
            <a:off x="914400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1234440"/>
            <a:ext cx="2560320" cy="320040"/>
          </a:xfrm>
          <a:prstGeom prst="rect">
            <a:avLst/>
          </a:prstGeom>
          <a:noFill/>
        </p:spPr>
        <p:txBody>
          <a:bodyPr wrap="square">
            <a:spAutoFit/>
          </a:bodyPr>
          <a:lstStyle/>
          <a:p>
            <a:pPr algn="l">
              <a:defRPr sz="1300" b="1">
                <a:solidFill>
                  <a:srgbClr val="E94560"/>
                </a:solidFill>
                <a:latin typeface="Segoe UI"/>
              </a:defRPr>
            </a:pPr>
            <a:r>
              <a:t>🌐 市場語境 (Market Context)</a:t>
            </a:r>
          </a:p>
        </p:txBody>
      </p:sp>
      <p:sp>
        <p:nvSpPr>
          <p:cNvPr id="16" name="TextBox 15"/>
          <p:cNvSpPr txBox="1"/>
          <p:nvPr/>
        </p:nvSpPr>
        <p:spPr>
          <a:xfrm>
            <a:off x="928116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結合 MT4 D1 數據顯示同期走勢</a:t>
            </a:r>
          </a:p>
          <a:p>
            <a:pPr>
              <a:spcAft>
                <a:spcPts val="400"/>
              </a:spcAft>
              <a:defRPr sz="1000" b="0">
                <a:solidFill>
                  <a:srgbClr val="F0F0F0"/>
                </a:solidFill>
                <a:latin typeface="Segoe UI"/>
              </a:defRPr>
            </a:pPr>
            <a:r>
              <a:t>買賣方向標記在價格圖上</a:t>
            </a:r>
          </a:p>
          <a:p>
            <a:pPr>
              <a:spcAft>
                <a:spcPts val="400"/>
              </a:spcAft>
              <a:defRPr sz="1000" b="0">
                <a:solidFill>
                  <a:srgbClr val="F0F0F0"/>
                </a:solidFill>
                <a:latin typeface="Segoe UI"/>
              </a:defRPr>
            </a:pPr>
            <a:r>
              <a:t>自動判定順勢/逆勢</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數據來源：</a:t>
            </a:r>
          </a:p>
          <a:p>
            <a:pPr>
              <a:spcAft>
                <a:spcPts val="400"/>
              </a:spcAft>
              <a:defRPr sz="1000" b="0">
                <a:solidFill>
                  <a:srgbClr val="F0F0F0"/>
                </a:solidFill>
                <a:latin typeface="Segoe UI"/>
              </a:defRPr>
            </a:pPr>
            <a:r>
              <a:t>本地 MT4 .hst → export_hst.py</a:t>
            </a:r>
          </a:p>
          <a:p>
            <a:pPr>
              <a:spcAft>
                <a:spcPts val="400"/>
              </a:spcAft>
              <a:defRPr sz="1000" b="0">
                <a:solidFill>
                  <a:srgbClr val="F0F0F0"/>
                </a:solidFill>
                <a:latin typeface="Segoe UI"/>
              </a:defRPr>
            </a:pPr>
            <a:r>
              <a:t>docs/data/ D1 JSON + manifest</a:t>
            </a:r>
          </a:p>
          <a:p>
            <a:pPr>
              <a:spcAft>
                <a:spcPts val="400"/>
              </a:spcAft>
              <a:defRPr sz="1000" b="0">
                <a:solidFill>
                  <a:srgbClr val="4CAF50"/>
                </a:solidFill>
                <a:latin typeface="Segoe UI"/>
              </a:defRPr>
            </a:pPr>
            <a:r>
              <a:t>完全離線，無需 API</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計算：buildCSVMarketData()</a:t>
            </a:r>
          </a:p>
          <a:p>
            <a:pPr>
              <a:spcAft>
                <a:spcPts val="400"/>
              </a:spcAft>
              <a:defRPr sz="1000" b="0">
                <a:solidFill>
                  <a:srgbClr val="F0F0F0"/>
                </a:solidFill>
                <a:latin typeface="Segoe UI"/>
              </a:defRPr>
            </a:pPr>
            <a:r>
              <a:t>renderMarketContext() → SVG</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D1 精度對 M5/H1 EA 唔夠</a:t>
            </a:r>
          </a:p>
          <a:p>
            <a:pPr>
              <a:spcAft>
                <a:spcPts val="400"/>
              </a:spcAft>
              <a:defRPr sz="1000" b="0">
                <a:solidFill>
                  <a:srgbClr val="FFCCCC"/>
                </a:solidFill>
                <a:latin typeface="Segoe UI"/>
              </a:defRPr>
            </a:pPr>
            <a:r>
              <a:t>• .hst 數據需手動更新</a:t>
            </a:r>
          </a:p>
          <a:p>
            <a:pPr>
              <a:spcAft>
                <a:spcPts val="400"/>
              </a:spcAft>
              <a:defRPr sz="1000" b="0">
                <a:solidFill>
                  <a:srgbClr val="FFCCCC"/>
                </a:solidFill>
                <a:latin typeface="Segoe UI"/>
              </a:defRPr>
            </a:pPr>
            <a:r>
              <a:t>• 順/逆勢判定為近似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頁面功能 9-12：進階分析與 Copy 推薦</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市況×策略 → 策略對比 → 貨幣穿透 → Copy 推薦矩陣</a:t>
            </a:r>
          </a:p>
        </p:txBody>
      </p:sp>
      <p:sp>
        <p:nvSpPr>
          <p:cNvPr id="5" name="Rounded Rectangle 4"/>
          <p:cNvSpPr/>
          <p:nvPr/>
        </p:nvSpPr>
        <p:spPr>
          <a:xfrm>
            <a:off x="36576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34440"/>
            <a:ext cx="2560320" cy="320040"/>
          </a:xfrm>
          <a:prstGeom prst="rect">
            <a:avLst/>
          </a:prstGeom>
          <a:noFill/>
        </p:spPr>
        <p:txBody>
          <a:bodyPr wrap="square">
            <a:spAutoFit/>
          </a:bodyPr>
          <a:lstStyle/>
          <a:p>
            <a:pPr algn="l">
              <a:defRPr sz="1300" b="1">
                <a:solidFill>
                  <a:srgbClr val="E94560"/>
                </a:solidFill>
                <a:latin typeface="Segoe UI"/>
              </a:defRPr>
            </a:pPr>
            <a:r>
              <a:t>🔄 市況×策略 (Regime×Strategy)</a:t>
            </a:r>
          </a:p>
        </p:txBody>
      </p:sp>
      <p:sp>
        <p:nvSpPr>
          <p:cNvPr id="7" name="TextBox 6"/>
          <p:cNvSpPr txBox="1"/>
          <p:nvPr/>
        </p:nvSpPr>
        <p:spPr>
          <a:xfrm>
            <a:off x="50292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市況分類 + 策略表現對比</a:t>
            </a:r>
          </a:p>
          <a:p>
            <a:pPr>
              <a:spcAft>
                <a:spcPts val="400"/>
              </a:spcAft>
              <a:defRPr sz="1000" b="0">
                <a:solidFill>
                  <a:srgbClr val="F0F0F0"/>
                </a:solidFill>
                <a:latin typeface="Segoe UI"/>
              </a:defRPr>
            </a:pPr>
            <a:r>
              <a:t>支援雙 CSV 對比（同 EA 不同 SET）</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市況分類算法：</a:t>
            </a:r>
          </a:p>
          <a:p>
            <a:pPr>
              <a:spcAft>
                <a:spcPts val="400"/>
              </a:spcAft>
              <a:defRPr sz="1000" b="0">
                <a:solidFill>
                  <a:srgbClr val="FF9800"/>
                </a:solidFill>
                <a:latin typeface="Segoe UI"/>
              </a:defRPr>
            </a:pPr>
            <a:r>
              <a:t>1. ATR &gt; 1.5× 均值？ → 高波動🟠</a:t>
            </a:r>
          </a:p>
          <a:p>
            <a:pPr>
              <a:spcAft>
                <a:spcPts val="400"/>
              </a:spcAft>
              <a:defRPr sz="1000" b="0">
                <a:solidFill>
                  <a:srgbClr val="F0F0F0"/>
                </a:solidFill>
                <a:latin typeface="Segoe UI"/>
              </a:defRPr>
            </a:pPr>
            <a:r>
              <a:t>2. |SMA20-50|/mid&lt;0.15% 且 RSI 40-60？</a:t>
            </a:r>
          </a:p>
          <a:p>
            <a:pPr>
              <a:spcAft>
                <a:spcPts val="400"/>
              </a:spcAft>
              <a:defRPr sz="1000" b="0">
                <a:solidFill>
                  <a:srgbClr val="FFC107"/>
                </a:solidFill>
                <a:latin typeface="Segoe UI"/>
              </a:defRPr>
            </a:pPr>
            <a:r>
              <a:t>   → 震盪🟡</a:t>
            </a:r>
          </a:p>
          <a:p>
            <a:pPr>
              <a:spcAft>
                <a:spcPts val="400"/>
              </a:spcAft>
              <a:defRPr sz="1000" b="0">
                <a:solidFill>
                  <a:srgbClr val="4CAF50"/>
                </a:solidFill>
                <a:latin typeface="Segoe UI"/>
              </a:defRPr>
            </a:pPr>
            <a:r>
              <a:t>3. SMA20&gt;50 且 RSI&gt;50 → 上升🟢</a:t>
            </a:r>
          </a:p>
          <a:p>
            <a:pPr>
              <a:spcAft>
                <a:spcPts val="400"/>
              </a:spcAft>
              <a:defRPr sz="1000" b="0">
                <a:solidFill>
                  <a:srgbClr val="FF5722"/>
                </a:solidFill>
                <a:latin typeface="Segoe UI"/>
              </a:defRPr>
            </a:pPr>
            <a:r>
              <a:t>4. SMA20&lt;50 且 RSI&lt;50 → 下降🔴</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分類基於 SMA/RSI 閾值，主觀</a:t>
            </a:r>
          </a:p>
          <a:p>
            <a:pPr>
              <a:spcAft>
                <a:spcPts val="400"/>
              </a:spcAft>
              <a:defRPr sz="1000" b="0">
                <a:solidFill>
                  <a:srgbClr val="FFCCCC"/>
                </a:solidFill>
                <a:latin typeface="Segoe UI"/>
              </a:defRPr>
            </a:pPr>
            <a:r>
              <a:t>• D1 分類對短週期 EA 不精確</a:t>
            </a:r>
          </a:p>
        </p:txBody>
      </p:sp>
      <p:sp>
        <p:nvSpPr>
          <p:cNvPr id="8" name="Rounded Rectangle 7"/>
          <p:cNvSpPr/>
          <p:nvPr/>
        </p:nvSpPr>
        <p:spPr>
          <a:xfrm>
            <a:off x="329184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234440"/>
            <a:ext cx="2560320" cy="320040"/>
          </a:xfrm>
          <a:prstGeom prst="rect">
            <a:avLst/>
          </a:prstGeom>
          <a:noFill/>
        </p:spPr>
        <p:txBody>
          <a:bodyPr wrap="square">
            <a:spAutoFit/>
          </a:bodyPr>
          <a:lstStyle/>
          <a:p>
            <a:pPr algn="l">
              <a:defRPr sz="1300" b="1">
                <a:solidFill>
                  <a:srgbClr val="E94560"/>
                </a:solidFill>
                <a:latin typeface="Segoe UI"/>
              </a:defRPr>
            </a:pPr>
            <a:r>
              <a:t>⚖️ 策略對比 (Compare)</a:t>
            </a:r>
          </a:p>
        </p:txBody>
      </p:sp>
      <p:sp>
        <p:nvSpPr>
          <p:cNvPr id="10" name="TextBox 9"/>
          <p:cNvSpPr txBox="1"/>
          <p:nvPr/>
        </p:nvSpPr>
        <p:spPr>
          <a:xfrm>
            <a:off x="342900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上傳第二份 CSV 做並排比較</a:t>
            </a:r>
          </a:p>
          <a:p>
            <a:pPr>
              <a:spcAft>
                <a:spcPts val="400"/>
              </a:spcAft>
              <a:defRPr sz="1000" b="0">
                <a:solidFill>
                  <a:srgbClr val="F0F0F0"/>
                </a:solidFill>
                <a:latin typeface="Segoe UI"/>
              </a:defRPr>
            </a:pPr>
            <a:r>
              <a:t>按貨幣對、層數、時段逐項對比</a:t>
            </a:r>
          </a:p>
          <a:p>
            <a:pPr>
              <a:spcAft>
                <a:spcPts val="400"/>
              </a:spcAft>
              <a:defRPr sz="1000" b="0">
                <a:solidFill>
                  <a:srgbClr val="F0F0F0"/>
                </a:solidFill>
                <a:latin typeface="Segoe UI"/>
              </a:defRPr>
            </a:pPr>
            <a:r>
              <a:t>支援市況切片對比</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使用流程：</a:t>
            </a:r>
          </a:p>
          <a:p>
            <a:pPr>
              <a:spcAft>
                <a:spcPts val="400"/>
              </a:spcAft>
              <a:defRPr sz="1000" b="0">
                <a:solidFill>
                  <a:srgbClr val="F0F0F0"/>
                </a:solidFill>
                <a:latin typeface="Segoe UI"/>
              </a:defRPr>
            </a:pPr>
            <a:r>
              <a:t>1. 上傳第一份 CSV（基準）</a:t>
            </a:r>
          </a:p>
          <a:p>
            <a:pPr>
              <a:spcAft>
                <a:spcPts val="400"/>
              </a:spcAft>
              <a:defRPr sz="1000" b="0">
                <a:solidFill>
                  <a:srgbClr val="F0F0F0"/>
                </a:solidFill>
                <a:latin typeface="Segoe UI"/>
              </a:defRPr>
            </a:pPr>
            <a:r>
              <a:t>2. 到此 Tab 上傳第二份</a:t>
            </a:r>
          </a:p>
          <a:p>
            <a:pPr>
              <a:spcAft>
                <a:spcPts val="400"/>
              </a:spcAft>
              <a:defRPr sz="1000" b="0">
                <a:solidFill>
                  <a:srgbClr val="F0F0F0"/>
                </a:solidFill>
                <a:latin typeface="Segoe UI"/>
              </a:defRPr>
            </a:pPr>
            <a:r>
              <a:t>3. 系統自動並排渲染</a:t>
            </a:r>
          </a:p>
          <a:p>
            <a:pPr>
              <a:spcAft>
                <a:spcPts val="400"/>
              </a:spcAft>
              <a:defRPr sz="1000" b="0">
                <a:solidFill>
                  <a:srgbClr val="F0F0F0"/>
                </a:solidFill>
                <a:latin typeface="Segoe UI"/>
              </a:defRPr>
            </a:pPr>
            <a:r>
              <a:t>4. 按篩選器縮窄範圍</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兩份 CSV 時間範圍可能不同</a:t>
            </a:r>
          </a:p>
          <a:p>
            <a:pPr>
              <a:spcAft>
                <a:spcPts val="400"/>
              </a:spcAft>
              <a:defRPr sz="1000" b="0">
                <a:solidFill>
                  <a:srgbClr val="FFCCCC"/>
                </a:solidFill>
                <a:latin typeface="Segoe UI"/>
              </a:defRPr>
            </a:pPr>
            <a:r>
              <a:t>• 市場環境差異未完全消除</a:t>
            </a:r>
          </a:p>
        </p:txBody>
      </p:sp>
      <p:sp>
        <p:nvSpPr>
          <p:cNvPr id="11" name="Rounded Rectangle 10"/>
          <p:cNvSpPr/>
          <p:nvPr/>
        </p:nvSpPr>
        <p:spPr>
          <a:xfrm>
            <a:off x="621792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234440"/>
            <a:ext cx="2560320" cy="320040"/>
          </a:xfrm>
          <a:prstGeom prst="rect">
            <a:avLst/>
          </a:prstGeom>
          <a:noFill/>
        </p:spPr>
        <p:txBody>
          <a:bodyPr wrap="square">
            <a:spAutoFit/>
          </a:bodyPr>
          <a:lstStyle/>
          <a:p>
            <a:pPr algn="l">
              <a:defRPr sz="1300" b="1">
                <a:solidFill>
                  <a:srgbClr val="E94560"/>
                </a:solidFill>
                <a:latin typeface="Segoe UI"/>
              </a:defRPr>
            </a:pPr>
            <a:r>
              <a:t>🔍 貨幣穿透 (Symbol Drill)</a:t>
            </a:r>
          </a:p>
        </p:txBody>
      </p:sp>
      <p:sp>
        <p:nvSpPr>
          <p:cNvPr id="13" name="TextBox 12"/>
          <p:cNvSpPr txBox="1"/>
          <p:nvPr/>
        </p:nvSpPr>
        <p:spPr>
          <a:xfrm>
            <a:off x="635508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選定貨幣對深度分析</a:t>
            </a:r>
          </a:p>
          <a:p>
            <a:pPr>
              <a:spcAft>
                <a:spcPts val="400"/>
              </a:spcAft>
              <a:defRPr sz="1000" b="0">
                <a:solidFill>
                  <a:srgbClr val="F0F0F0"/>
                </a:solidFill>
                <a:latin typeface="Segoe UI"/>
              </a:defRPr>
            </a:pPr>
            <a:r>
              <a:t>整合 API 查詢歷史分析結果</a:t>
            </a:r>
          </a:p>
          <a:p>
            <a:pPr>
              <a:spcAft>
                <a:spcPts val="400"/>
              </a:spcAft>
              <a:defRPr sz="1000" b="0">
                <a:solidFill>
                  <a:srgbClr val="F0F0F0"/>
                </a:solidFill>
                <a:latin typeface="Segoe UI"/>
              </a:defRPr>
            </a:pPr>
            <a:r>
              <a:t>可跨 Signal 比較同 CCY</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使用方法：</a:t>
            </a:r>
          </a:p>
          <a:p>
            <a:pPr>
              <a:spcAft>
                <a:spcPts val="400"/>
              </a:spcAft>
              <a:defRPr sz="1000" b="0">
                <a:solidFill>
                  <a:srgbClr val="F0F0F0"/>
                </a:solidFill>
                <a:latin typeface="Segoe UI"/>
              </a:defRPr>
            </a:pPr>
            <a:r>
              <a:t>1. 選擇目標貨幣對</a:t>
            </a:r>
          </a:p>
          <a:p>
            <a:pPr>
              <a:spcAft>
                <a:spcPts val="400"/>
              </a:spcAft>
              <a:defRPr sz="1000" b="0">
                <a:solidFill>
                  <a:srgbClr val="F0F0F0"/>
                </a:solidFill>
                <a:latin typeface="Segoe UI"/>
              </a:defRPr>
            </a:pPr>
            <a:r>
              <a:t>2. renderSymbolDrillResults()</a:t>
            </a:r>
          </a:p>
          <a:p>
            <a:pPr>
              <a:spcAft>
                <a:spcPts val="400"/>
              </a:spcAft>
              <a:defRPr sz="1000" b="0">
                <a:solidFill>
                  <a:srgbClr val="F0F0F0"/>
                </a:solidFill>
                <a:latin typeface="Segoe UI"/>
              </a:defRPr>
            </a:pPr>
            <a:r>
              <a:t>3. 載入 API 歷史 + 當前數據</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依賴 localhost:8787 API</a:t>
            </a:r>
          </a:p>
          <a:p>
            <a:pPr>
              <a:spcAft>
                <a:spcPts val="400"/>
              </a:spcAft>
              <a:defRPr sz="1000" b="0">
                <a:solidFill>
                  <a:srgbClr val="FFCCCC"/>
                </a:solidFill>
                <a:latin typeface="Segoe UI"/>
              </a:defRPr>
            </a:pPr>
            <a:r>
              <a:t>• API 未啟動時功能不可用</a:t>
            </a:r>
          </a:p>
        </p:txBody>
      </p:sp>
      <p:sp>
        <p:nvSpPr>
          <p:cNvPr id="14" name="Rounded Rectangle 13"/>
          <p:cNvSpPr/>
          <p:nvPr/>
        </p:nvSpPr>
        <p:spPr>
          <a:xfrm>
            <a:off x="914400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1234440"/>
            <a:ext cx="2560320" cy="320040"/>
          </a:xfrm>
          <a:prstGeom prst="rect">
            <a:avLst/>
          </a:prstGeom>
          <a:noFill/>
        </p:spPr>
        <p:txBody>
          <a:bodyPr wrap="square">
            <a:spAutoFit/>
          </a:bodyPr>
          <a:lstStyle/>
          <a:p>
            <a:pPr algn="l">
              <a:defRPr sz="1300" b="1">
                <a:solidFill>
                  <a:srgbClr val="E94560"/>
                </a:solidFill>
                <a:latin typeface="Segoe UI"/>
              </a:defRPr>
            </a:pPr>
            <a:r>
              <a:t>🏆 Copy 推薦 (Copy Matrix)</a:t>
            </a:r>
          </a:p>
        </p:txBody>
      </p:sp>
      <p:sp>
        <p:nvSpPr>
          <p:cNvPr id="16" name="TextBox 15"/>
          <p:cNvSpPr txBox="1"/>
          <p:nvPr/>
        </p:nvSpPr>
        <p:spPr>
          <a:xfrm>
            <a:off x="928116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貨幣對 × 層數 推薦矩陣</a:t>
            </a:r>
          </a:p>
          <a:p>
            <a:pPr>
              <a:spcAft>
                <a:spcPts val="400"/>
              </a:spcAft>
              <a:defRPr sz="1000" b="0">
                <a:solidFill>
                  <a:srgbClr val="F0F0F0"/>
                </a:solidFill>
                <a:latin typeface="Segoe UI"/>
              </a:defRPr>
            </a:pPr>
            <a:r>
              <a:t>每格 = A/B/C/D 等級</a:t>
            </a:r>
          </a:p>
          <a:p>
            <a:pPr>
              <a:spcAft>
                <a:spcPts val="400"/>
              </a:spcAft>
              <a:defRPr sz="1000" b="0">
                <a:solidFill>
                  <a:srgbClr val="FF9800"/>
                </a:solidFill>
                <a:latin typeface="Segoe UI"/>
              </a:defRPr>
            </a:pPr>
            <a:r>
              <a:t>L4+ 最高 B 級（硬上限）</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等級標準：</a:t>
            </a:r>
          </a:p>
          <a:p>
            <a:pPr>
              <a:spcAft>
                <a:spcPts val="400"/>
              </a:spcAft>
              <a:defRPr sz="1000" b="0">
                <a:solidFill>
                  <a:srgbClr val="4CAF50"/>
                </a:solidFill>
                <a:latin typeface="Segoe UI"/>
              </a:defRPr>
            </a:pPr>
            <a:r>
              <a:t>A: WR≥60% + PF≥1.5 ✅</a:t>
            </a:r>
          </a:p>
          <a:p>
            <a:pPr>
              <a:spcAft>
                <a:spcPts val="400"/>
              </a:spcAft>
              <a:defRPr sz="1000" b="0">
                <a:solidFill>
                  <a:srgbClr val="FFC107"/>
                </a:solidFill>
                <a:latin typeface="Segoe UI"/>
              </a:defRPr>
            </a:pPr>
            <a:r>
              <a:t>B: WR≥50% + PF≥1.2 ⚠️</a:t>
            </a:r>
          </a:p>
          <a:p>
            <a:pPr>
              <a:spcAft>
                <a:spcPts val="400"/>
              </a:spcAft>
              <a:defRPr sz="1000" b="0">
                <a:solidFill>
                  <a:srgbClr val="FF9800"/>
                </a:solidFill>
                <a:latin typeface="Segoe UI"/>
              </a:defRPr>
            </a:pPr>
            <a:r>
              <a:t>C: WR≥40% + PF≥1.0 🔶</a:t>
            </a:r>
          </a:p>
          <a:p>
            <a:pPr>
              <a:spcAft>
                <a:spcPts val="400"/>
              </a:spcAft>
              <a:defRPr sz="1000" b="0">
                <a:solidFill>
                  <a:srgbClr val="FF5722"/>
                </a:solidFill>
                <a:latin typeface="Segoe UI"/>
              </a:defRPr>
            </a:pPr>
            <a:r>
              <a:t>D: 其他 ❌</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歷史表現≠未來保證</a:t>
            </a:r>
          </a:p>
          <a:p>
            <a:pPr>
              <a:spcAft>
                <a:spcPts val="400"/>
              </a:spcAft>
              <a:defRPr sz="1000" b="0">
                <a:solidFill>
                  <a:srgbClr val="FFCCCC"/>
                </a:solidFill>
                <a:latin typeface="Segoe UI"/>
              </a:defRPr>
            </a:pPr>
            <a:r>
              <a:t>• L4+ B 級上限保守但合理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頁面功能 13-16：風險與模擬工具</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波幅分析 → 馬丁風險 → TP/SL → Copy 模擬</a:t>
            </a:r>
          </a:p>
        </p:txBody>
      </p:sp>
      <p:sp>
        <p:nvSpPr>
          <p:cNvPr id="5" name="Rounded Rectangle 4"/>
          <p:cNvSpPr/>
          <p:nvPr/>
        </p:nvSpPr>
        <p:spPr>
          <a:xfrm>
            <a:off x="36576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34440"/>
            <a:ext cx="2560320" cy="320040"/>
          </a:xfrm>
          <a:prstGeom prst="rect">
            <a:avLst/>
          </a:prstGeom>
          <a:noFill/>
        </p:spPr>
        <p:txBody>
          <a:bodyPr wrap="square">
            <a:spAutoFit/>
          </a:bodyPr>
          <a:lstStyle/>
          <a:p>
            <a:pPr algn="l">
              <a:defRPr sz="1300" b="1">
                <a:solidFill>
                  <a:srgbClr val="E94560"/>
                </a:solidFill>
                <a:latin typeface="Segoe UI"/>
              </a:defRPr>
            </a:pPr>
            <a:r>
              <a:t>📏 波幅分析 (Volatility)</a:t>
            </a:r>
          </a:p>
        </p:txBody>
      </p:sp>
      <p:sp>
        <p:nvSpPr>
          <p:cNvPr id="7" name="TextBox 6"/>
          <p:cNvSpPr txBox="1"/>
          <p:nvPr/>
        </p:nvSpPr>
        <p:spPr>
          <a:xfrm>
            <a:off x="50292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層數波幅（CSV Max Pips）</a:t>
            </a:r>
          </a:p>
          <a:p>
            <a:pPr>
              <a:spcAft>
                <a:spcPts val="400"/>
              </a:spcAft>
              <a:defRPr sz="1000" b="0">
                <a:solidFill>
                  <a:srgbClr val="F0F0F0"/>
                </a:solidFill>
                <a:latin typeface="Segoe UI"/>
              </a:defRPr>
            </a:pPr>
            <a:r>
              <a:t>ATR 交叉分析（本地 D1 數據）</a:t>
            </a:r>
          </a:p>
          <a:p>
            <a:pPr>
              <a:spcAft>
                <a:spcPts val="400"/>
              </a:spcAft>
              <a:defRPr sz="1000" b="0">
                <a:solidFill>
                  <a:srgbClr val="F0F0F0"/>
                </a:solidFill>
                <a:latin typeface="Segoe UI"/>
              </a:defRPr>
            </a:pPr>
            <a:r>
              <a:t>三組：低/中/高波幅（P33/P67）</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Pip 乘數：</a:t>
            </a:r>
          </a:p>
          <a:p>
            <a:pPr>
              <a:spcAft>
                <a:spcPts val="400"/>
              </a:spcAft>
              <a:defRPr sz="1000" b="0">
                <a:solidFill>
                  <a:srgbClr val="F0F0F0"/>
                </a:solidFill>
                <a:latin typeface="Segoe UI"/>
              </a:defRPr>
            </a:pPr>
            <a:r>
              <a:t>5位小數對（AUDCAD）×10000</a:t>
            </a:r>
          </a:p>
          <a:p>
            <a:pPr>
              <a:spcAft>
                <a:spcPts val="400"/>
              </a:spcAft>
              <a:defRPr sz="1000" b="0">
                <a:solidFill>
                  <a:srgbClr val="F0F0F0"/>
                </a:solidFill>
                <a:latin typeface="Segoe UI"/>
              </a:defRPr>
            </a:pPr>
            <a:r>
              <a:t>JPY 對 ×100</a:t>
            </a:r>
          </a:p>
          <a:p>
            <a:pPr>
              <a:spcAft>
                <a:spcPts val="400"/>
              </a:spcAft>
              <a:defRPr sz="1000" b="0">
                <a:solidFill>
                  <a:srgbClr val="F0F0F0"/>
                </a:solidFill>
                <a:latin typeface="Segoe UI"/>
              </a:defRPr>
            </a:pPr>
            <a:r>
              <a:t>XAU/XAG ×0.1</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ATR 來自 D1，短線精度低</a:t>
            </a:r>
          </a:p>
          <a:p>
            <a:pPr>
              <a:spcAft>
                <a:spcPts val="400"/>
              </a:spcAft>
              <a:defRPr sz="1000" b="0">
                <a:solidFill>
                  <a:srgbClr val="FFCCCC"/>
                </a:solidFill>
                <a:latin typeface="Segoe UI"/>
              </a:defRPr>
            </a:pPr>
            <a:r>
              <a:t>• pip 乘數配置可能有遺漏</a:t>
            </a:r>
          </a:p>
        </p:txBody>
      </p:sp>
      <p:sp>
        <p:nvSpPr>
          <p:cNvPr id="8" name="Rounded Rectangle 7"/>
          <p:cNvSpPr/>
          <p:nvPr/>
        </p:nvSpPr>
        <p:spPr>
          <a:xfrm>
            <a:off x="329184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234440"/>
            <a:ext cx="2560320" cy="320040"/>
          </a:xfrm>
          <a:prstGeom prst="rect">
            <a:avLst/>
          </a:prstGeom>
          <a:noFill/>
        </p:spPr>
        <p:txBody>
          <a:bodyPr wrap="square">
            <a:spAutoFit/>
          </a:bodyPr>
          <a:lstStyle/>
          <a:p>
            <a:pPr algn="l">
              <a:defRPr sz="1300" b="1">
                <a:solidFill>
                  <a:srgbClr val="E94560"/>
                </a:solidFill>
                <a:latin typeface="Segoe UI"/>
              </a:defRPr>
            </a:pPr>
            <a:r>
              <a:t>🎲 馬丁風險 (Martin Risk)</a:t>
            </a:r>
          </a:p>
        </p:txBody>
      </p:sp>
      <p:sp>
        <p:nvSpPr>
          <p:cNvPr id="10" name="TextBox 9"/>
          <p:cNvSpPr txBox="1"/>
          <p:nvPr/>
        </p:nvSpPr>
        <p:spPr>
          <a:xfrm>
            <a:off x="342900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評估馬丁格爾策略爆倉風險</a:t>
            </a:r>
          </a:p>
          <a:p>
            <a:pPr>
              <a:spcAft>
                <a:spcPts val="400"/>
              </a:spcAft>
              <a:defRPr sz="1000" b="0">
                <a:solidFill>
                  <a:srgbClr val="F0F0F0"/>
                </a:solidFill>
                <a:latin typeface="Segoe UI"/>
              </a:defRPr>
            </a:pPr>
            <a:r>
              <a:t>風險等級 + 回歸率分析</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風險等級：</a:t>
            </a:r>
          </a:p>
          <a:p>
            <a:pPr>
              <a:spcAft>
                <a:spcPts val="400"/>
              </a:spcAft>
              <a:defRPr sz="1000" b="0">
                <a:solidFill>
                  <a:srgbClr val="4CAF50"/>
                </a:solidFill>
                <a:latin typeface="Segoe UI"/>
              </a:defRPr>
            </a:pPr>
            <a:r>
              <a:t>LOW: 最大層數 ≤ 3</a:t>
            </a:r>
          </a:p>
          <a:p>
            <a:pPr>
              <a:spcAft>
                <a:spcPts val="400"/>
              </a:spcAft>
              <a:defRPr sz="1000" b="0">
                <a:solidFill>
                  <a:srgbClr val="FFC107"/>
                </a:solidFill>
                <a:latin typeface="Segoe UI"/>
              </a:defRPr>
            </a:pPr>
            <a:r>
              <a:t>MEDIUM: 最大層數 4-5</a:t>
            </a:r>
          </a:p>
          <a:p>
            <a:pPr>
              <a:spcAft>
                <a:spcPts val="400"/>
              </a:spcAft>
              <a:defRPr sz="1000" b="0">
                <a:solidFill>
                  <a:srgbClr val="FF9800"/>
                </a:solidFill>
                <a:latin typeface="Segoe UI"/>
              </a:defRPr>
            </a:pPr>
            <a:r>
              <a:t>HIGH: 最大層數 6-7</a:t>
            </a:r>
          </a:p>
          <a:p>
            <a:pPr>
              <a:spcAft>
                <a:spcPts val="400"/>
              </a:spcAft>
              <a:defRPr sz="1000" b="0">
                <a:solidFill>
                  <a:srgbClr val="FF5722"/>
                </a:solidFill>
                <a:latin typeface="Segoe UI"/>
              </a:defRPr>
            </a:pPr>
            <a:r>
              <a:t>CRITICAL: 最大層數 ≥ 8</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馬丁偵測類型：</a:t>
            </a:r>
          </a:p>
          <a:p>
            <a:pPr>
              <a:spcAft>
                <a:spcPts val="400"/>
              </a:spcAft>
              <a:defRPr sz="1000" b="0">
                <a:solidFill>
                  <a:srgbClr val="F0F0F0"/>
                </a:solidFill>
                <a:latin typeface="Segoe UI"/>
              </a:defRPr>
            </a:pPr>
            <a:r>
              <a:t>Classic: profit&gt;0 且 pips&lt;0</a:t>
            </a:r>
          </a:p>
          <a:p>
            <a:pPr>
              <a:spcAft>
                <a:spcPts val="400"/>
              </a:spcAft>
              <a:defRPr sz="1000" b="0">
                <a:solidFill>
                  <a:srgbClr val="F0F0F0"/>
                </a:solidFill>
                <a:latin typeface="Segoe UI"/>
              </a:defRPr>
            </a:pPr>
            <a:r>
              <a:t>Reverse: pips&gt;0 且 profit&lt;0</a:t>
            </a:r>
          </a:p>
          <a:p>
            <a:pPr>
              <a:spcAft>
                <a:spcPts val="400"/>
              </a:spcAft>
              <a:defRPr sz="1000" b="0">
                <a:solidFill>
                  <a:srgbClr val="F0F0F0"/>
                </a:solidFill>
                <a:latin typeface="Segoe UI"/>
              </a:defRPr>
            </a:pPr>
            <a:r>
              <a:t>Cost Killed: gross&gt;0 且 net&lt;0</a:t>
            </a:r>
          </a:p>
          <a:p>
            <a:pPr>
              <a:spcAft>
                <a:spcPts val="400"/>
              </a:spcAft>
              <a:defRPr sz="600" b="0">
                <a:solidFill>
                  <a:srgbClr val="F0F0F0"/>
                </a:solidFill>
                <a:latin typeface="Segoe UI"/>
              </a:defRPr>
            </a:pPr>
          </a:p>
          <a:p>
            <a:pPr>
              <a:spcAft>
                <a:spcPts val="400"/>
              </a:spcAft>
              <a:defRPr sz="1200" b="1">
                <a:solidFill>
                  <a:srgbClr val="FF5722"/>
                </a:solidFill>
                <a:latin typeface="Segoe UI"/>
              </a:defRPr>
            </a:pPr>
            <a:r>
              <a:t>⚠️ 51/69 信號有馬丁特徵！</a:t>
            </a:r>
          </a:p>
        </p:txBody>
      </p:sp>
      <p:sp>
        <p:nvSpPr>
          <p:cNvPr id="11" name="Rounded Rectangle 10"/>
          <p:cNvSpPr/>
          <p:nvPr/>
        </p:nvSpPr>
        <p:spPr>
          <a:xfrm>
            <a:off x="621792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234440"/>
            <a:ext cx="2560320" cy="320040"/>
          </a:xfrm>
          <a:prstGeom prst="rect">
            <a:avLst/>
          </a:prstGeom>
          <a:noFill/>
        </p:spPr>
        <p:txBody>
          <a:bodyPr wrap="square">
            <a:spAutoFit/>
          </a:bodyPr>
          <a:lstStyle/>
          <a:p>
            <a:pPr algn="l">
              <a:defRPr sz="1300" b="1">
                <a:solidFill>
                  <a:srgbClr val="E94560"/>
                </a:solidFill>
                <a:latin typeface="Segoe UI"/>
              </a:defRPr>
            </a:pPr>
            <a:r>
              <a:t>📐 TP/SL 分析</a:t>
            </a:r>
          </a:p>
        </p:txBody>
      </p:sp>
      <p:sp>
        <p:nvSpPr>
          <p:cNvPr id="13" name="TextBox 12"/>
          <p:cNvSpPr txBox="1"/>
          <p:nvPr/>
        </p:nvSpPr>
        <p:spPr>
          <a:xfrm>
            <a:off x="635508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優化止損止盈建議</a:t>
            </a:r>
          </a:p>
          <a:p>
            <a:pPr>
              <a:spcAft>
                <a:spcPts val="400"/>
              </a:spcAft>
              <a:defRPr sz="1000" b="0">
                <a:solidFill>
                  <a:srgbClr val="F0F0F0"/>
                </a:solidFill>
                <a:latin typeface="Segoe UI"/>
              </a:defRPr>
            </a:pPr>
            <a:r>
              <a:t>按貨幣對×層數 計算</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公式（P85 基準）：</a:t>
            </a:r>
          </a:p>
          <a:p>
            <a:pPr>
              <a:spcAft>
                <a:spcPts val="400"/>
              </a:spcAft>
              <a:defRPr sz="1000" b="0">
                <a:solidFill>
                  <a:srgbClr val="F0F0F0"/>
                </a:solidFill>
                <a:latin typeface="Segoe UI"/>
              </a:defRPr>
            </a:pPr>
            <a:r>
              <a:t>TP = P85 of Max Pips</a:t>
            </a:r>
          </a:p>
          <a:p>
            <a:pPr>
              <a:spcAft>
                <a:spcPts val="400"/>
              </a:spcAft>
              <a:defRPr sz="1000" b="0">
                <a:solidFill>
                  <a:srgbClr val="A0A8B8"/>
                </a:solidFill>
                <a:latin typeface="Segoe UI"/>
              </a:defRPr>
            </a:pPr>
            <a:r>
              <a:t>  → 85% 盈利交易曾到達此位</a:t>
            </a:r>
          </a:p>
          <a:p>
            <a:pPr>
              <a:spcAft>
                <a:spcPts val="400"/>
              </a:spcAft>
              <a:defRPr sz="1000" b="0">
                <a:solidFill>
                  <a:srgbClr val="F0F0F0"/>
                </a:solidFill>
                <a:latin typeface="Segoe UI"/>
              </a:defRPr>
            </a:pPr>
            <a:r>
              <a:t>SL = P85 of |Max Loss Pips|</a:t>
            </a:r>
          </a:p>
          <a:p>
            <a:pPr>
              <a:spcAft>
                <a:spcPts val="400"/>
              </a:spcAft>
              <a:defRPr sz="1000" b="0">
                <a:solidFill>
                  <a:srgbClr val="A0A8B8"/>
                </a:solidFill>
                <a:latin typeface="Segoe UI"/>
              </a:defRPr>
            </a:pPr>
            <a:r>
              <a:t>  → 85% 交易回撤不超過此值</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小樣本回退：</a:t>
            </a:r>
          </a:p>
          <a:p>
            <a:pPr>
              <a:spcAft>
                <a:spcPts val="400"/>
              </a:spcAft>
              <a:defRPr sz="1000" b="0">
                <a:solidFill>
                  <a:srgbClr val="FF9800"/>
                </a:solidFill>
                <a:latin typeface="Segoe UI"/>
              </a:defRPr>
            </a:pPr>
            <a:r>
              <a:t>n &lt; 30 → 用 global percentiles</a:t>
            </a:r>
          </a:p>
          <a:p>
            <a:pPr>
              <a:spcAft>
                <a:spcPts val="400"/>
              </a:spcAft>
              <a:defRPr sz="1000" b="0">
                <a:solidFill>
                  <a:srgbClr val="F0F0F0"/>
                </a:solidFill>
                <a:latin typeface="Segoe UI"/>
              </a:defRPr>
            </a:pPr>
            <a:r>
              <a:t>69 個信號綜合數據</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1863/2314 配對用 global fallback</a:t>
            </a:r>
          </a:p>
          <a:p>
            <a:pPr>
              <a:spcAft>
                <a:spcPts val="400"/>
              </a:spcAft>
              <a:defRPr sz="1000" b="0">
                <a:solidFill>
                  <a:srgbClr val="FFCCCC"/>
                </a:solidFill>
                <a:latin typeface="Segoe UI"/>
              </a:defRPr>
            </a:pPr>
            <a:r>
              <a:t>• 無 Tick Data，觸發時間為估算</a:t>
            </a:r>
          </a:p>
        </p:txBody>
      </p:sp>
      <p:sp>
        <p:nvSpPr>
          <p:cNvPr id="14" name="Rounded Rectangle 13"/>
          <p:cNvSpPr/>
          <p:nvPr/>
        </p:nvSpPr>
        <p:spPr>
          <a:xfrm>
            <a:off x="914400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1234440"/>
            <a:ext cx="2560320" cy="320040"/>
          </a:xfrm>
          <a:prstGeom prst="rect">
            <a:avLst/>
          </a:prstGeom>
          <a:noFill/>
        </p:spPr>
        <p:txBody>
          <a:bodyPr wrap="square">
            <a:spAutoFit/>
          </a:bodyPr>
          <a:lstStyle/>
          <a:p>
            <a:pPr algn="l">
              <a:defRPr sz="1300" b="1">
                <a:solidFill>
                  <a:srgbClr val="E94560"/>
                </a:solidFill>
                <a:latin typeface="Segoe UI"/>
              </a:defRPr>
            </a:pPr>
            <a:r>
              <a:t>💰 Copy 模擬 (Simulation)</a:t>
            </a:r>
          </a:p>
        </p:txBody>
      </p:sp>
      <p:sp>
        <p:nvSpPr>
          <p:cNvPr id="16" name="TextBox 15"/>
          <p:cNvSpPr txBox="1"/>
          <p:nvPr/>
        </p:nvSpPr>
        <p:spPr>
          <a:xfrm>
            <a:off x="928116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模擬「如果我咁 Copy 會點」</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兩種模式：</a:t>
            </a:r>
          </a:p>
          <a:p>
            <a:pPr>
              <a:spcAft>
                <a:spcPts val="400"/>
              </a:spcAft>
              <a:defRPr sz="1000" b="0">
                <a:solidFill>
                  <a:srgbClr val="4CAF50"/>
                </a:solidFill>
                <a:latin typeface="Segoe UI"/>
              </a:defRPr>
            </a:pPr>
            <a:r>
              <a:t>Copy on Profit（跟勝）</a:t>
            </a:r>
          </a:p>
          <a:p>
            <a:pPr>
              <a:spcAft>
                <a:spcPts val="400"/>
              </a:spcAft>
              <a:defRPr sz="1000" b="0">
                <a:solidFill>
                  <a:srgbClr val="F0F0F0"/>
                </a:solidFill>
                <a:latin typeface="Segoe UI"/>
              </a:defRPr>
            </a:pPr>
            <a:r>
              <a:t>  → 只跟 L1-L2，設獨立止損</a:t>
            </a:r>
          </a:p>
          <a:p>
            <a:pPr>
              <a:spcAft>
                <a:spcPts val="400"/>
              </a:spcAft>
              <a:defRPr sz="1000" b="0">
                <a:solidFill>
                  <a:srgbClr val="A0A8B8"/>
                </a:solidFill>
                <a:latin typeface="Segoe UI"/>
              </a:defRPr>
            </a:pPr>
            <a:r>
              <a:t>  → 保守型，犧牲利潤換準確度</a:t>
            </a:r>
          </a:p>
          <a:p>
            <a:pPr>
              <a:spcAft>
                <a:spcPts val="400"/>
              </a:spcAft>
              <a:defRPr sz="1000" b="0">
                <a:solidFill>
                  <a:srgbClr val="FF9800"/>
                </a:solidFill>
                <a:latin typeface="Segoe UI"/>
              </a:defRPr>
            </a:pPr>
            <a:r>
              <a:t>Copy on Lose（跟虧）</a:t>
            </a:r>
          </a:p>
          <a:p>
            <a:pPr>
              <a:spcAft>
                <a:spcPts val="400"/>
              </a:spcAft>
              <a:defRPr sz="1000" b="0">
                <a:solidFill>
                  <a:srgbClr val="F0F0F0"/>
                </a:solidFill>
                <a:latin typeface="Segoe UI"/>
              </a:defRPr>
            </a:pPr>
            <a:r>
              <a:t>  → 跟所有層數但設上限</a:t>
            </a:r>
          </a:p>
          <a:p>
            <a:pPr>
              <a:spcAft>
                <a:spcPts val="400"/>
              </a:spcAft>
              <a:defRPr sz="1000" b="0">
                <a:solidFill>
                  <a:srgbClr val="A0A8B8"/>
                </a:solidFill>
                <a:latin typeface="Segoe UI"/>
              </a:defRPr>
            </a:pPr>
            <a:r>
              <a:t>  → 博反彈，控制最大虧損</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止損自動填入：</a:t>
            </a:r>
          </a:p>
          <a:p>
            <a:pPr>
              <a:spcAft>
                <a:spcPts val="400"/>
              </a:spcAft>
              <a:defRPr sz="1000" b="0">
                <a:solidFill>
                  <a:srgbClr val="F0F0F0"/>
                </a:solidFill>
                <a:latin typeface="Segoe UI"/>
              </a:defRPr>
            </a:pPr>
            <a:r>
              <a:t>從 TP/SL 分析建議值帶入</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模擬結果≠實際交易結果</a:t>
            </a:r>
          </a:p>
          <a:p>
            <a:pPr>
              <a:spcAft>
                <a:spcPts val="400"/>
              </a:spcAft>
              <a:defRPr sz="1000" b="0">
                <a:solidFill>
                  <a:srgbClr val="FFCCCC"/>
                </a:solidFill>
                <a:latin typeface="Segoe UI"/>
              </a:defRPr>
            </a:pPr>
            <a:r>
              <a:t>• 滑點、流動性未計入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頁面功能 17-20：明細與系統工具</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倉位明細 → 馬丁剖析V3 → SET 參數 → 歷史記錄</a:t>
            </a:r>
          </a:p>
        </p:txBody>
      </p:sp>
      <p:sp>
        <p:nvSpPr>
          <p:cNvPr id="5" name="Rounded Rectangle 4"/>
          <p:cNvSpPr/>
          <p:nvPr/>
        </p:nvSpPr>
        <p:spPr>
          <a:xfrm>
            <a:off x="36576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34440"/>
            <a:ext cx="2560320" cy="320040"/>
          </a:xfrm>
          <a:prstGeom prst="rect">
            <a:avLst/>
          </a:prstGeom>
          <a:noFill/>
        </p:spPr>
        <p:txBody>
          <a:bodyPr wrap="square">
            <a:spAutoFit/>
          </a:bodyPr>
          <a:lstStyle/>
          <a:p>
            <a:pPr algn="l">
              <a:defRPr sz="1300" b="1">
                <a:solidFill>
                  <a:srgbClr val="E94560"/>
                </a:solidFill>
                <a:latin typeface="Segoe UI"/>
              </a:defRPr>
            </a:pPr>
            <a:r>
              <a:t>📋 倉位明細 (Positions)</a:t>
            </a:r>
          </a:p>
        </p:txBody>
      </p:sp>
      <p:sp>
        <p:nvSpPr>
          <p:cNvPr id="7" name="TextBox 6"/>
          <p:cNvSpPr txBox="1"/>
          <p:nvPr/>
        </p:nvSpPr>
        <p:spPr>
          <a:xfrm>
            <a:off x="50292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所有交易逐筆列表</a:t>
            </a:r>
          </a:p>
          <a:p>
            <a:pPr>
              <a:spcAft>
                <a:spcPts val="400"/>
              </a:spcAft>
              <a:defRPr sz="1000" b="0">
                <a:solidFill>
                  <a:srgbClr val="F0F0F0"/>
                </a:solidFill>
                <a:latin typeface="Segoe UI"/>
              </a:defRPr>
            </a:pPr>
            <a:r>
              <a:t>可排序、可篩選</a:t>
            </a:r>
          </a:p>
          <a:p>
            <a:pPr>
              <a:spcAft>
                <a:spcPts val="400"/>
              </a:spcAft>
              <a:defRPr sz="1000" b="0">
                <a:solidFill>
                  <a:srgbClr val="F0F0F0"/>
                </a:solidFill>
                <a:latin typeface="Segoe UI"/>
              </a:defRPr>
            </a:pPr>
            <a:r>
              <a:t>點擊展開詳細資訊</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顯示欄位：</a:t>
            </a:r>
          </a:p>
          <a:p>
            <a:pPr>
              <a:spcAft>
                <a:spcPts val="400"/>
              </a:spcAft>
              <a:defRPr sz="1000" b="0">
                <a:solidFill>
                  <a:srgbClr val="F0F0F0"/>
                </a:solidFill>
                <a:latin typeface="Segoe UI"/>
              </a:defRPr>
            </a:pPr>
            <a:r>
              <a:t>Open/Close Time, Symbol</a:t>
            </a:r>
          </a:p>
          <a:p>
            <a:pPr>
              <a:spcAft>
                <a:spcPts val="400"/>
              </a:spcAft>
              <a:defRPr sz="1000" b="0">
                <a:solidFill>
                  <a:srgbClr val="F0F0F0"/>
                </a:solidFill>
                <a:latin typeface="Segoe UI"/>
              </a:defRPr>
            </a:pPr>
            <a:r>
              <a:t>Type, Lots, Layer</a:t>
            </a:r>
          </a:p>
          <a:p>
            <a:pPr>
              <a:spcAft>
                <a:spcPts val="400"/>
              </a:spcAft>
              <a:defRPr sz="1000" b="0">
                <a:solidFill>
                  <a:srgbClr val="F0F0F0"/>
                </a:solidFill>
                <a:latin typeface="Segoe UI"/>
              </a:defRPr>
            </a:pPr>
            <a:r>
              <a:t>Pips, Profit, Max Pips</a:t>
            </a:r>
          </a:p>
          <a:p>
            <a:pPr>
              <a:spcAft>
                <a:spcPts val="400"/>
              </a:spcAft>
              <a:defRPr sz="1000" b="0">
                <a:solidFill>
                  <a:srgbClr val="F0F0F0"/>
                </a:solidFill>
                <a:latin typeface="Segoe UI"/>
              </a:defRPr>
            </a:pPr>
            <a:r>
              <a:t>Max Loss, Score</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大量交易時渲染慢</a:t>
            </a:r>
          </a:p>
          <a:p>
            <a:pPr>
              <a:spcAft>
                <a:spcPts val="400"/>
              </a:spcAft>
              <a:defRPr sz="1000" b="0">
                <a:solidFill>
                  <a:srgbClr val="FFCCCC"/>
                </a:solidFill>
                <a:latin typeface="Segoe UI"/>
              </a:defRPr>
            </a:pPr>
            <a:r>
              <a:t>• 無匯出功能（需手動 copy）</a:t>
            </a:r>
          </a:p>
        </p:txBody>
      </p:sp>
      <p:sp>
        <p:nvSpPr>
          <p:cNvPr id="8" name="Rounded Rectangle 7"/>
          <p:cNvSpPr/>
          <p:nvPr/>
        </p:nvSpPr>
        <p:spPr>
          <a:xfrm>
            <a:off x="329184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234440"/>
            <a:ext cx="2560320" cy="320040"/>
          </a:xfrm>
          <a:prstGeom prst="rect">
            <a:avLst/>
          </a:prstGeom>
          <a:noFill/>
        </p:spPr>
        <p:txBody>
          <a:bodyPr wrap="square">
            <a:spAutoFit/>
          </a:bodyPr>
          <a:lstStyle/>
          <a:p>
            <a:pPr algn="l">
              <a:defRPr sz="1300" b="1">
                <a:solidFill>
                  <a:srgbClr val="E94560"/>
                </a:solidFill>
                <a:latin typeface="Segoe UI"/>
              </a:defRPr>
            </a:pPr>
            <a:r>
              <a:t>🔬 馬丁剖析V3 (Autopsy)</a:t>
            </a:r>
          </a:p>
        </p:txBody>
      </p:sp>
      <p:sp>
        <p:nvSpPr>
          <p:cNvPr id="10" name="TextBox 9"/>
          <p:cNvSpPr txBox="1"/>
          <p:nvPr/>
        </p:nvSpPr>
        <p:spPr>
          <a:xfrm>
            <a:off x="342900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6 部分完整馬丁剖析報告</a:t>
            </a:r>
          </a:p>
          <a:p>
            <a:pPr>
              <a:spcAft>
                <a:spcPts val="400"/>
              </a:spcAft>
              <a:defRPr sz="600" b="0">
                <a:solidFill>
                  <a:srgbClr val="F0F0F0"/>
                </a:solidFill>
                <a:latin typeface="Segoe UI"/>
              </a:defRPr>
            </a:pPr>
          </a:p>
          <a:p>
            <a:pPr>
              <a:spcAft>
                <a:spcPts val="400"/>
              </a:spcAft>
              <a:defRPr sz="1000" b="0">
                <a:solidFill>
                  <a:srgbClr val="F0F0F0"/>
                </a:solidFill>
                <a:latin typeface="Segoe UI"/>
              </a:defRPr>
            </a:pPr>
            <a:r>
              <a:t>Part 1: CCY×Direction 總覽</a:t>
            </a:r>
          </a:p>
          <a:p>
            <a:pPr>
              <a:spcAft>
                <a:spcPts val="400"/>
              </a:spcAft>
              <a:defRPr sz="1000" b="0">
                <a:solidFill>
                  <a:srgbClr val="A0A8B8"/>
                </a:solidFill>
                <a:latin typeface="Segoe UI"/>
              </a:defRPr>
            </a:pPr>
            <a:r>
              <a:t>  EV$, Odds$, MFE/MAE</a:t>
            </a:r>
          </a:p>
          <a:p>
            <a:pPr>
              <a:spcAft>
                <a:spcPts val="400"/>
              </a:spcAft>
              <a:defRPr sz="1000" b="0">
                <a:solidFill>
                  <a:srgbClr val="F0F0F0"/>
                </a:solidFill>
                <a:latin typeface="Segoe UI"/>
              </a:defRPr>
            </a:pPr>
            <a:r>
              <a:t>Part 2: MFE/MAE 散點圖</a:t>
            </a:r>
          </a:p>
          <a:p>
            <a:pPr>
              <a:spcAft>
                <a:spcPts val="400"/>
              </a:spcAft>
              <a:defRPr sz="1000" b="0">
                <a:solidFill>
                  <a:srgbClr val="F0F0F0"/>
                </a:solidFill>
                <a:latin typeface="Segoe UI"/>
              </a:defRPr>
            </a:pPr>
            <a:r>
              <a:t>Part 3: TP/SL 混合方案</a:t>
            </a:r>
          </a:p>
          <a:p>
            <a:pPr>
              <a:spcAft>
                <a:spcPts val="400"/>
              </a:spcAft>
              <a:defRPr sz="1000" b="0">
                <a:solidFill>
                  <a:srgbClr val="A0A8B8"/>
                </a:solidFill>
                <a:latin typeface="Segoe UI"/>
              </a:defRPr>
            </a:pPr>
            <a:r>
              <a:t>  Soft SL = MAE×1.2</a:t>
            </a:r>
          </a:p>
          <a:p>
            <a:pPr>
              <a:spcAft>
                <a:spcPts val="400"/>
              </a:spcAft>
              <a:defRPr sz="1000" b="0">
                <a:solidFill>
                  <a:srgbClr val="A0A8B8"/>
                </a:solidFill>
                <a:latin typeface="Segoe UI"/>
              </a:defRPr>
            </a:pPr>
            <a:r>
              <a:t>  Hard SL = MaxMAE×1.3</a:t>
            </a:r>
          </a:p>
          <a:p>
            <a:pPr>
              <a:spcAft>
                <a:spcPts val="400"/>
              </a:spcAft>
              <a:defRPr sz="1000" b="0">
                <a:solidFill>
                  <a:srgbClr val="F0F0F0"/>
                </a:solidFill>
                <a:latin typeface="Segoe UI"/>
              </a:defRPr>
            </a:pPr>
            <a:r>
              <a:t>Part 4: 排行榜 (Rating+EV$)</a:t>
            </a:r>
          </a:p>
          <a:p>
            <a:pPr>
              <a:spcAft>
                <a:spcPts val="400"/>
              </a:spcAft>
              <a:defRPr sz="1000" b="0">
                <a:solidFill>
                  <a:srgbClr val="F0F0F0"/>
                </a:solidFill>
                <a:latin typeface="Segoe UI"/>
              </a:defRPr>
            </a:pPr>
            <a:r>
              <a:t>Part 5: 黑名單 (Danger Score)</a:t>
            </a:r>
          </a:p>
          <a:p>
            <a:pPr>
              <a:spcAft>
                <a:spcPts val="400"/>
              </a:spcAft>
              <a:defRPr sz="1000" b="0">
                <a:solidFill>
                  <a:srgbClr val="F0F0F0"/>
                </a:solidFill>
                <a:latin typeface="Segoe UI"/>
              </a:defRPr>
            </a:pPr>
            <a:r>
              <a:t>Part 6: 恢復力分析</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計算量大，大 CSV 較慢</a:t>
            </a:r>
          </a:p>
        </p:txBody>
      </p:sp>
      <p:sp>
        <p:nvSpPr>
          <p:cNvPr id="11" name="Rounded Rectangle 10"/>
          <p:cNvSpPr/>
          <p:nvPr/>
        </p:nvSpPr>
        <p:spPr>
          <a:xfrm>
            <a:off x="621792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234440"/>
            <a:ext cx="2560320" cy="320040"/>
          </a:xfrm>
          <a:prstGeom prst="rect">
            <a:avLst/>
          </a:prstGeom>
          <a:noFill/>
        </p:spPr>
        <p:txBody>
          <a:bodyPr wrap="square">
            <a:spAutoFit/>
          </a:bodyPr>
          <a:lstStyle/>
          <a:p>
            <a:pPr algn="l">
              <a:defRPr sz="1300" b="1">
                <a:solidFill>
                  <a:srgbClr val="E94560"/>
                </a:solidFill>
                <a:latin typeface="Segoe UI"/>
              </a:defRPr>
            </a:pPr>
            <a:r>
              <a:t>⚙️ SET 參數 (SET Params)</a:t>
            </a:r>
          </a:p>
        </p:txBody>
      </p:sp>
      <p:sp>
        <p:nvSpPr>
          <p:cNvPr id="13" name="TextBox 12"/>
          <p:cNvSpPr txBox="1"/>
          <p:nvPr/>
        </p:nvSpPr>
        <p:spPr>
          <a:xfrm>
            <a:off x="635508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解析 .set 設定檔並分類展示</a:t>
            </a:r>
          </a:p>
          <a:p>
            <a:pPr>
              <a:spcAft>
                <a:spcPts val="400"/>
              </a:spcAft>
              <a:defRPr sz="1000" b="0">
                <a:solidFill>
                  <a:srgbClr val="F0F0F0"/>
                </a:solidFill>
                <a:latin typeface="Segoe UI"/>
              </a:defRPr>
            </a:pPr>
            <a:r>
              <a:t>參數分類：加倉/風控/TP/SL</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解析：parseSET()</a:t>
            </a:r>
          </a:p>
          <a:p>
            <a:pPr>
              <a:spcAft>
                <a:spcPts val="400"/>
              </a:spcAft>
              <a:defRPr sz="1000" b="0">
                <a:solidFill>
                  <a:srgbClr val="F0F0F0"/>
                </a:solidFill>
                <a:latin typeface="Segoe UI"/>
              </a:defRPr>
            </a:pPr>
            <a:r>
              <a:t>Key=Value 格式解析</a:t>
            </a:r>
          </a:p>
          <a:p>
            <a:pPr>
              <a:spcAft>
                <a:spcPts val="400"/>
              </a:spcAft>
              <a:defRPr sz="1000" b="0">
                <a:solidFill>
                  <a:srgbClr val="F0F0F0"/>
                </a:solidFill>
                <a:latin typeface="Segoe UI"/>
              </a:defRPr>
            </a:pPr>
            <a:r>
              <a:t>自動識別 EA 家族</a:t>
            </a:r>
          </a:p>
          <a:p>
            <a:pPr>
              <a:spcAft>
                <a:spcPts val="400"/>
              </a:spcAft>
              <a:defRPr sz="1000" b="0">
                <a:solidFill>
                  <a:srgbClr val="F0F0F0"/>
                </a:solidFill>
                <a:latin typeface="Segoe UI"/>
              </a:defRPr>
            </a:pPr>
            <a:r>
              <a:t>renderSETParams() 分類渲染</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新 EA 參數可能未涵蓋</a:t>
            </a:r>
          </a:p>
          <a:p>
            <a:pPr>
              <a:spcAft>
                <a:spcPts val="400"/>
              </a:spcAft>
              <a:defRPr sz="1000" b="0">
                <a:solidFill>
                  <a:srgbClr val="FFCCCC"/>
                </a:solidFill>
                <a:latin typeface="Segoe UI"/>
              </a:defRPr>
            </a:pPr>
            <a:r>
              <a:t>• UseAISignal=1 邏輯未知</a:t>
            </a:r>
          </a:p>
        </p:txBody>
      </p:sp>
      <p:sp>
        <p:nvSpPr>
          <p:cNvPr id="14" name="Rounded Rectangle 13"/>
          <p:cNvSpPr/>
          <p:nvPr/>
        </p:nvSpPr>
        <p:spPr>
          <a:xfrm>
            <a:off x="9144000" y="1188720"/>
            <a:ext cx="283464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1234440"/>
            <a:ext cx="2560320" cy="320040"/>
          </a:xfrm>
          <a:prstGeom prst="rect">
            <a:avLst/>
          </a:prstGeom>
          <a:noFill/>
        </p:spPr>
        <p:txBody>
          <a:bodyPr wrap="square">
            <a:spAutoFit/>
          </a:bodyPr>
          <a:lstStyle/>
          <a:p>
            <a:pPr algn="l">
              <a:defRPr sz="1300" b="1">
                <a:solidFill>
                  <a:srgbClr val="E94560"/>
                </a:solidFill>
                <a:latin typeface="Segoe UI"/>
              </a:defRPr>
            </a:pPr>
            <a:r>
              <a:t>📁 歷史記錄 (Archive)</a:t>
            </a:r>
          </a:p>
        </p:txBody>
      </p:sp>
      <p:sp>
        <p:nvSpPr>
          <p:cNvPr id="16" name="TextBox 15"/>
          <p:cNvSpPr txBox="1"/>
          <p:nvPr/>
        </p:nvSpPr>
        <p:spPr>
          <a:xfrm>
            <a:off x="9281160" y="1600200"/>
            <a:ext cx="2560320" cy="4572000"/>
          </a:xfrm>
          <a:prstGeom prst="rect">
            <a:avLst/>
          </a:prstGeom>
          <a:noFill/>
        </p:spPr>
        <p:txBody>
          <a:bodyPr wrap="square">
            <a:spAutoFit/>
          </a:bodyPr>
          <a:lstStyle/>
          <a:p>
            <a:pPr>
              <a:spcAft>
                <a:spcPts val="400"/>
              </a:spcAft>
              <a:defRPr sz="1100" b="1">
                <a:solidFill>
                  <a:srgbClr val="FFC107"/>
                </a:solidFill>
                <a:latin typeface="Segoe UI"/>
              </a:defRPr>
            </a:pPr>
            <a:r>
              <a:t>功能：</a:t>
            </a:r>
          </a:p>
          <a:p>
            <a:pPr>
              <a:spcAft>
                <a:spcPts val="400"/>
              </a:spcAft>
              <a:defRPr sz="1000" b="0">
                <a:solidFill>
                  <a:srgbClr val="F0F0F0"/>
                </a:solidFill>
                <a:latin typeface="Segoe UI"/>
              </a:defRPr>
            </a:pPr>
            <a:r>
              <a:t>追蹤同一信號歷史表現變化</a:t>
            </a:r>
          </a:p>
          <a:p>
            <a:pPr>
              <a:spcAft>
                <a:spcPts val="400"/>
              </a:spcAft>
              <a:defRPr sz="1000" b="0">
                <a:solidFill>
                  <a:srgbClr val="F0F0F0"/>
                </a:solidFill>
                <a:latin typeface="Segoe UI"/>
              </a:defRPr>
            </a:pPr>
            <a:r>
              <a:t>CSV hash 偵測重複</a:t>
            </a:r>
          </a:p>
          <a:p>
            <a:pPr>
              <a:spcAft>
                <a:spcPts val="400"/>
              </a:spcAft>
              <a:defRPr sz="1000" b="0">
                <a:solidFill>
                  <a:srgbClr val="F0F0F0"/>
                </a:solidFill>
                <a:latin typeface="Segoe UI"/>
              </a:defRPr>
            </a:pPr>
            <a:r>
              <a:t>趨勢迷你圖（勝率/PF/盈虧）</a:t>
            </a:r>
          </a:p>
          <a:p>
            <a:pPr>
              <a:spcAft>
                <a:spcPts val="400"/>
              </a:spcAft>
              <a:defRPr sz="600" b="0">
                <a:solidFill>
                  <a:srgbClr val="F0F0F0"/>
                </a:solidFill>
                <a:latin typeface="Segoe UI"/>
              </a:defRPr>
            </a:pPr>
          </a:p>
          <a:p>
            <a:pPr>
              <a:spcAft>
                <a:spcPts val="400"/>
              </a:spcAft>
              <a:defRPr sz="1100" b="1">
                <a:solidFill>
                  <a:srgbClr val="FFC107"/>
                </a:solidFill>
                <a:latin typeface="Segoe UI"/>
              </a:defRPr>
            </a:pPr>
            <a:r>
              <a:t>存儲：localStorage</a:t>
            </a:r>
          </a:p>
          <a:p>
            <a:pPr>
              <a:spcAft>
                <a:spcPts val="400"/>
              </a:spcAft>
              <a:defRPr sz="1000" b="0">
                <a:solidFill>
                  <a:srgbClr val="FF9800"/>
                </a:solidFill>
                <a:latin typeface="Segoe UI"/>
              </a:defRPr>
            </a:pPr>
            <a:r>
              <a:t>5MB 上限</a:t>
            </a:r>
          </a:p>
          <a:p>
            <a:pPr>
              <a:spcAft>
                <a:spcPts val="400"/>
              </a:spcAft>
              <a:defRPr sz="1000" b="0">
                <a:solidFill>
                  <a:srgbClr val="F0F0F0"/>
                </a:solidFill>
                <a:latin typeface="Segoe UI"/>
              </a:defRPr>
            </a:pPr>
            <a:r>
              <a:t>智能標籤從檔名提取</a:t>
            </a:r>
          </a:p>
          <a:p>
            <a:pPr>
              <a:spcAft>
                <a:spcPts val="400"/>
              </a:spcAft>
              <a:defRPr sz="600" b="0">
                <a:solidFill>
                  <a:srgbClr val="F0F0F0"/>
                </a:solidFill>
                <a:latin typeface="Segoe UI"/>
              </a:defRPr>
            </a:pPr>
          </a:p>
          <a:p>
            <a:pPr>
              <a:spcAft>
                <a:spcPts val="400"/>
              </a:spcAft>
              <a:defRPr sz="1100" b="1">
                <a:solidFill>
                  <a:srgbClr val="FF5722"/>
                </a:solidFill>
                <a:latin typeface="Segoe UI"/>
              </a:defRPr>
            </a:pPr>
            <a:r>
              <a:t>⚠️ 風險：</a:t>
            </a:r>
          </a:p>
          <a:p>
            <a:pPr>
              <a:spcAft>
                <a:spcPts val="400"/>
              </a:spcAft>
              <a:defRPr sz="1000" b="0">
                <a:solidFill>
                  <a:srgbClr val="FFCCCC"/>
                </a:solidFill>
                <a:latin typeface="Segoe UI"/>
              </a:defRPr>
            </a:pPr>
            <a:r>
              <a:t>• localStorage 單用戶限制</a:t>
            </a:r>
          </a:p>
          <a:p>
            <a:pPr>
              <a:spcAft>
                <a:spcPts val="400"/>
              </a:spcAft>
              <a:defRPr sz="1000" b="0">
                <a:solidFill>
                  <a:srgbClr val="FFCCCC"/>
                </a:solidFill>
                <a:latin typeface="Segoe UI"/>
              </a:defRPr>
            </a:pPr>
            <a:r>
              <a:t>• 5MB 可能不夠大量分析</a:t>
            </a:r>
          </a:p>
          <a:p>
            <a:pPr>
              <a:spcAft>
                <a:spcPts val="400"/>
              </a:spcAft>
              <a:defRPr sz="1000" b="0">
                <a:solidFill>
                  <a:srgbClr val="FFCCCC"/>
                </a:solidFill>
                <a:latin typeface="Segoe UI"/>
              </a:defRPr>
            </a:pPr>
            <a:r>
              <a:t>• 清瀏覽器數據會遺失</a:t>
            </a:r>
          </a:p>
          <a:p>
            <a:pPr>
              <a:spcAft>
                <a:spcPts val="400"/>
              </a:spcAft>
              <a:defRPr sz="1000" b="0">
                <a:solidFill>
                  <a:srgbClr val="FFCCCC"/>
                </a:solidFill>
                <a:latin typeface="Segoe UI"/>
              </a:defRPr>
            </a:pPr>
            <a:r>
              <a:t>• 不支持跨設備同步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後端生成報告</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Signal Ranking 排名總表 + Detailed Comparison 詳細報告</a:t>
            </a:r>
          </a:p>
        </p:txBody>
      </p:sp>
      <p:sp>
        <p:nvSpPr>
          <p:cNvPr id="5" name="Rounded Rectangle 4"/>
          <p:cNvSpPr/>
          <p:nvPr/>
        </p:nvSpPr>
        <p:spPr>
          <a:xfrm>
            <a:off x="365760" y="1188720"/>
            <a:ext cx="566928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80160"/>
            <a:ext cx="5303520" cy="365760"/>
          </a:xfrm>
          <a:prstGeom prst="rect">
            <a:avLst/>
          </a:prstGeom>
          <a:noFill/>
        </p:spPr>
        <p:txBody>
          <a:bodyPr wrap="square">
            <a:spAutoFit/>
          </a:bodyPr>
          <a:lstStyle/>
          <a:p>
            <a:pPr algn="l">
              <a:defRPr sz="1600" b="1">
                <a:solidFill>
                  <a:srgbClr val="E94560"/>
                </a:solidFill>
                <a:latin typeface="Segoe UI"/>
              </a:defRPr>
            </a:pPr>
            <a:r>
              <a:t>🏆 Signal Ranking 排名總表</a:t>
            </a:r>
          </a:p>
        </p:txBody>
      </p:sp>
      <p:sp>
        <p:nvSpPr>
          <p:cNvPr id="7" name="TextBox 6"/>
          <p:cNvSpPr txBox="1"/>
          <p:nvPr/>
        </p:nvSpPr>
        <p:spPr>
          <a:xfrm>
            <a:off x="548640" y="1737360"/>
            <a:ext cx="5303520" cy="4572000"/>
          </a:xfrm>
          <a:prstGeom prst="rect">
            <a:avLst/>
          </a:prstGeom>
          <a:noFill/>
        </p:spPr>
        <p:txBody>
          <a:bodyPr wrap="square">
            <a:spAutoFit/>
          </a:bodyPr>
          <a:lstStyle/>
          <a:p>
            <a:pPr>
              <a:spcAft>
                <a:spcPts val="400"/>
              </a:spcAft>
              <a:defRPr sz="1200" b="1">
                <a:solidFill>
                  <a:srgbClr val="FFC107"/>
                </a:solidFill>
                <a:latin typeface="Segoe UI"/>
              </a:defRPr>
            </a:pPr>
            <a:r>
              <a:t>生成方式：</a:t>
            </a:r>
          </a:p>
          <a:p>
            <a:pPr>
              <a:spcAft>
                <a:spcPts val="400"/>
              </a:spcAft>
              <a:defRPr sz="1100" b="0">
                <a:solidFill>
                  <a:srgbClr val="4CAF50"/>
                </a:solidFill>
                <a:latin typeface="Segoe UI"/>
              </a:defRPr>
            </a:pPr>
            <a:r>
              <a:t>python3 generate_signal_ranking.py</a:t>
            </a:r>
          </a:p>
          <a:p>
            <a:pPr>
              <a:spcAft>
                <a:spcPts val="400"/>
              </a:spcAft>
              <a:defRPr sz="1100" b="0">
                <a:solidFill>
                  <a:srgbClr val="A0A8B8"/>
                </a:solidFill>
                <a:latin typeface="Segoe UI"/>
              </a:defRPr>
            </a:pPr>
            <a:r>
              <a:t>→ 從 69 份 detailed reports 提取分數</a:t>
            </a:r>
          </a:p>
          <a:p>
            <a:pPr>
              <a:spcAft>
                <a:spcPts val="400"/>
              </a:spcAft>
              <a:defRPr sz="600" b="0">
                <a:solidFill>
                  <a:srgbClr val="F0F0F0"/>
                </a:solidFill>
                <a:latin typeface="Segoe UI"/>
              </a:defRPr>
            </a:pPr>
          </a:p>
          <a:p>
            <a:pPr>
              <a:spcAft>
                <a:spcPts val="400"/>
              </a:spcAft>
              <a:defRPr sz="1200" b="1">
                <a:solidFill>
                  <a:srgbClr val="FFC107"/>
                </a:solidFill>
                <a:latin typeface="Segoe UI"/>
              </a:defRPr>
            </a:pPr>
            <a:r>
              <a:t>欄位說明（14 欄）：</a:t>
            </a:r>
          </a:p>
          <a:p>
            <a:pPr>
              <a:spcAft>
                <a:spcPts val="400"/>
              </a:spcAft>
              <a:defRPr sz="1100" b="0">
                <a:solidFill>
                  <a:srgbClr val="F0F0F0"/>
                </a:solidFill>
                <a:latin typeface="Segoe UI"/>
              </a:defRPr>
            </a:pPr>
            <a:r>
              <a:t>Signal — 信號 ID（可點擊跳轉 AlgoForest）</a:t>
            </a:r>
          </a:p>
          <a:p>
            <a:pPr>
              <a:spcAft>
                <a:spcPts val="400"/>
              </a:spcAft>
              <a:defRPr sz="1100" b="0">
                <a:solidFill>
                  <a:srgbClr val="F0F0F0"/>
                </a:solidFill>
                <a:latin typeface="Segoe UI"/>
              </a:defRPr>
            </a:pPr>
            <a:r>
              <a:t>Avg Score — DDE v3 平均分（越高越好）</a:t>
            </a:r>
          </a:p>
          <a:p>
            <a:pPr>
              <a:spcAft>
                <a:spcPts val="400"/>
              </a:spcAft>
              <a:defRPr sz="1100" b="0">
                <a:solidFill>
                  <a:srgbClr val="F0F0F0"/>
                </a:solidFill>
                <a:latin typeface="Segoe UI"/>
              </a:defRPr>
            </a:pPr>
            <a:r>
              <a:t>⭐⭐⭐⭐ — 評分 ≥ 80 的組合數量</a:t>
            </a:r>
          </a:p>
          <a:p>
            <a:pPr>
              <a:spcAft>
                <a:spcPts val="400"/>
              </a:spcAft>
              <a:defRPr sz="1100" b="0">
                <a:solidFill>
                  <a:srgbClr val="F0F0F0"/>
                </a:solidFill>
                <a:latin typeface="Segoe UI"/>
              </a:defRPr>
            </a:pPr>
            <a:r>
              <a:t>⭐⭐⭐⭐% — 高評分佔比</a:t>
            </a:r>
          </a:p>
          <a:p>
            <a:pPr>
              <a:spcAft>
                <a:spcPts val="400"/>
              </a:spcAft>
              <a:defRPr sz="1100" b="0">
                <a:solidFill>
                  <a:srgbClr val="F0F0F0"/>
                </a:solidFill>
                <a:latin typeface="Segoe UI"/>
              </a:defRPr>
            </a:pPr>
            <a:r>
              <a:t>Trades / Win% / PF — 基本統計</a:t>
            </a:r>
          </a:p>
          <a:p>
            <a:pPr>
              <a:spcAft>
                <a:spcPts val="400"/>
              </a:spcAft>
              <a:defRPr sz="1100" b="0">
                <a:solidFill>
                  <a:srgbClr val="F0F0F0"/>
                </a:solidFill>
                <a:latin typeface="Segoe UI"/>
              </a:defRPr>
            </a:pPr>
            <a:r>
              <a:t>Total Profit — 總盈利 ($)</a:t>
            </a:r>
          </a:p>
          <a:p>
            <a:pPr>
              <a:spcAft>
                <a:spcPts val="400"/>
              </a:spcAft>
              <a:defRPr sz="1100" b="0">
                <a:solidFill>
                  <a:srgbClr val="F0F0F0"/>
                </a:solidFill>
                <a:latin typeface="Segoe UI"/>
              </a:defRPr>
            </a:pPr>
            <a:r>
              <a:t>TF — 時間框架（M30/H1/H4/D1+）</a:t>
            </a:r>
          </a:p>
          <a:p>
            <a:pPr>
              <a:spcAft>
                <a:spcPts val="400"/>
              </a:spcAft>
              <a:defRPr sz="1100" b="0">
                <a:solidFill>
                  <a:srgbClr val="F0F0F0"/>
                </a:solidFill>
                <a:latin typeface="Segoe UI"/>
              </a:defRPr>
            </a:pPr>
            <a:r>
              <a:t>Cmp — 有效評分維度數</a:t>
            </a:r>
          </a:p>
          <a:p>
            <a:pPr>
              <a:spcAft>
                <a:spcPts val="400"/>
              </a:spcAft>
              <a:defRPr sz="1100" b="0">
                <a:solidFill>
                  <a:srgbClr val="F0F0F0"/>
                </a:solidFill>
                <a:latin typeface="Segoe UI"/>
              </a:defRPr>
            </a:pPr>
            <a:r>
              <a:t>EA — EA 家族標籤（顏色編碼）</a:t>
            </a:r>
          </a:p>
          <a:p>
            <a:pPr>
              <a:spcAft>
                <a:spcPts val="400"/>
              </a:spcAft>
              <a:defRPr sz="1100" b="0">
                <a:solidFill>
                  <a:srgbClr val="F0F0F0"/>
                </a:solidFill>
                <a:latin typeface="Segoe UI"/>
              </a:defRPr>
            </a:pPr>
            <a:r>
              <a:t>LV — 馬丁層數</a:t>
            </a:r>
          </a:p>
          <a:p>
            <a:pPr>
              <a:spcAft>
                <a:spcPts val="400"/>
              </a:spcAft>
              <a:defRPr sz="1100" b="0">
                <a:solidFill>
                  <a:srgbClr val="F0F0F0"/>
                </a:solidFill>
                <a:latin typeface="Segoe UI"/>
              </a:defRPr>
            </a:pPr>
            <a:r>
              <a:t>Eq Max DD — 最大權益回撤</a:t>
            </a:r>
          </a:p>
          <a:p>
            <a:pPr>
              <a:spcAft>
                <a:spcPts val="400"/>
              </a:spcAft>
              <a:defRPr sz="600" b="0">
                <a:solidFill>
                  <a:srgbClr val="F0F0F0"/>
                </a:solidFill>
                <a:latin typeface="Segoe UI"/>
              </a:defRPr>
            </a:pPr>
          </a:p>
          <a:p>
            <a:pPr>
              <a:spcAft>
                <a:spcPts val="400"/>
              </a:spcAft>
              <a:defRPr sz="1100" b="0">
                <a:solidFill>
                  <a:srgbClr val="F0F0F0"/>
                </a:solidFill>
                <a:latin typeface="Segoe UI"/>
              </a:defRPr>
            </a:pPr>
            <a:r>
              <a:t>顏色分級：DD 🟢&lt;$3K 🟡$3-6K 🔴&gt;$6K</a:t>
            </a:r>
          </a:p>
          <a:p>
            <a:pPr>
              <a:spcAft>
                <a:spcPts val="400"/>
              </a:spcAft>
              <a:defRPr sz="1100" b="0">
                <a:solidFill>
                  <a:srgbClr val="F0F0F0"/>
                </a:solidFill>
                <a:latin typeface="Segoe UI"/>
              </a:defRPr>
            </a:pPr>
            <a:r>
              <a:t>Score: 🟢≥90 🟢≥85 🟡≥75 🔴&lt;75</a:t>
            </a:r>
          </a:p>
        </p:txBody>
      </p:sp>
      <p:sp>
        <p:nvSpPr>
          <p:cNvPr id="8" name="Rounded Rectangle 7"/>
          <p:cNvSpPr/>
          <p:nvPr/>
        </p:nvSpPr>
        <p:spPr>
          <a:xfrm>
            <a:off x="6217920" y="1188720"/>
            <a:ext cx="548640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80160"/>
            <a:ext cx="5120640" cy="365760"/>
          </a:xfrm>
          <a:prstGeom prst="rect">
            <a:avLst/>
          </a:prstGeom>
          <a:noFill/>
        </p:spPr>
        <p:txBody>
          <a:bodyPr wrap="square">
            <a:spAutoFit/>
          </a:bodyPr>
          <a:lstStyle/>
          <a:p>
            <a:pPr algn="l">
              <a:defRPr sz="1600" b="1">
                <a:solidFill>
                  <a:srgbClr val="E94560"/>
                </a:solidFill>
                <a:latin typeface="Segoe UI"/>
              </a:defRPr>
            </a:pPr>
            <a:r>
              <a:t>📋 Detailed Comparison 詳細報告</a:t>
            </a:r>
          </a:p>
        </p:txBody>
      </p:sp>
      <p:sp>
        <p:nvSpPr>
          <p:cNvPr id="10" name="TextBox 9"/>
          <p:cNvSpPr txBox="1"/>
          <p:nvPr/>
        </p:nvSpPr>
        <p:spPr>
          <a:xfrm>
            <a:off x="6400800" y="1737360"/>
            <a:ext cx="5120640" cy="4572000"/>
          </a:xfrm>
          <a:prstGeom prst="rect">
            <a:avLst/>
          </a:prstGeom>
          <a:noFill/>
        </p:spPr>
        <p:txBody>
          <a:bodyPr wrap="square">
            <a:spAutoFit/>
          </a:bodyPr>
          <a:lstStyle/>
          <a:p>
            <a:pPr>
              <a:spcAft>
                <a:spcPts val="400"/>
              </a:spcAft>
              <a:defRPr sz="1200" b="1">
                <a:solidFill>
                  <a:srgbClr val="FFC107"/>
                </a:solidFill>
                <a:latin typeface="Segoe UI"/>
              </a:defRPr>
            </a:pPr>
            <a:r>
              <a:t>生成方式：</a:t>
            </a:r>
          </a:p>
          <a:p>
            <a:pPr>
              <a:spcAft>
                <a:spcPts val="400"/>
              </a:spcAft>
              <a:defRPr sz="1100" b="0">
                <a:solidFill>
                  <a:srgbClr val="4CAF50"/>
                </a:solidFill>
                <a:latin typeface="Segoe UI"/>
              </a:defRPr>
            </a:pPr>
            <a:r>
              <a:t>python3 generate_all_levels_from_csv.py --signal {ID}</a:t>
            </a:r>
          </a:p>
          <a:p>
            <a:pPr>
              <a:spcAft>
                <a:spcPts val="400"/>
              </a:spcAft>
              <a:defRPr sz="600" b="0">
                <a:solidFill>
                  <a:srgbClr val="F0F0F0"/>
                </a:solidFill>
                <a:latin typeface="Segoe UI"/>
              </a:defRPr>
            </a:pPr>
          </a:p>
          <a:p>
            <a:pPr>
              <a:spcAft>
                <a:spcPts val="400"/>
              </a:spcAft>
              <a:defRPr sz="1200" b="1">
                <a:solidFill>
                  <a:srgbClr val="FFC107"/>
                </a:solidFill>
                <a:latin typeface="Segoe UI"/>
              </a:defRPr>
            </a:pPr>
            <a:r>
              <a:t>報告結構（3 大區塊）：</a:t>
            </a:r>
          </a:p>
          <a:p>
            <a:pPr>
              <a:spcAft>
                <a:spcPts val="400"/>
              </a:spcAft>
              <a:defRPr sz="400" b="0">
                <a:solidFill>
                  <a:srgbClr val="F0F0F0"/>
                </a:solidFill>
                <a:latin typeface="Segoe UI"/>
              </a:defRPr>
            </a:pPr>
          </a:p>
          <a:p>
            <a:pPr>
              <a:spcAft>
                <a:spcPts val="400"/>
              </a:spcAft>
              <a:defRPr sz="1200" b="1">
                <a:solidFill>
                  <a:srgbClr val="E94560"/>
                </a:solidFill>
                <a:latin typeface="Segoe UI"/>
              </a:defRPr>
            </a:pPr>
            <a:r>
              <a:t>1️⃣ 分析摘要表</a:t>
            </a:r>
          </a:p>
          <a:p>
            <a:pPr>
              <a:spcAft>
                <a:spcPts val="400"/>
              </a:spcAft>
              <a:defRPr sz="1100" b="0">
                <a:solidFill>
                  <a:srgbClr val="F0F0F0"/>
                </a:solidFill>
                <a:latin typeface="Segoe UI"/>
              </a:defRPr>
            </a:pPr>
            <a:r>
              <a:t>   貨幣對 × L1-L4+ 交易數 + 勝率</a:t>
            </a:r>
          </a:p>
          <a:p>
            <a:pPr>
              <a:spcAft>
                <a:spcPts val="400"/>
              </a:spcAft>
              <a:defRPr sz="400" b="0">
                <a:solidFill>
                  <a:srgbClr val="F0F0F0"/>
                </a:solidFill>
                <a:latin typeface="Segoe UI"/>
              </a:defRPr>
            </a:pPr>
          </a:p>
          <a:p>
            <a:pPr>
              <a:spcAft>
                <a:spcPts val="400"/>
              </a:spcAft>
              <a:defRPr sz="1200" b="1">
                <a:solidFill>
                  <a:srgbClr val="E94560"/>
                </a:solidFill>
                <a:latin typeface="Segoe UI"/>
              </a:defRPr>
            </a:pPr>
            <a:r>
              <a:t>2️⃣ 每個貨幣對（8-30 個）：</a:t>
            </a:r>
          </a:p>
          <a:p>
            <a:pPr>
              <a:spcAft>
                <a:spcPts val="400"/>
              </a:spcAft>
              <a:defRPr sz="1100" b="0">
                <a:solidFill>
                  <a:srgbClr val="F0F0F0"/>
                </a:solidFill>
                <a:latin typeface="Segoe UI"/>
              </a:defRPr>
            </a:pPr>
            <a:r>
              <a:t>   📋 分析摘要表（CCY × Level）</a:t>
            </a:r>
          </a:p>
          <a:p>
            <a:pPr>
              <a:spcAft>
                <a:spcPts val="400"/>
              </a:spcAft>
              <a:defRPr sz="1100" b="0">
                <a:solidFill>
                  <a:srgbClr val="F0F0F0"/>
                </a:solidFill>
                <a:latin typeface="Segoe UI"/>
              </a:defRPr>
            </a:pPr>
            <a:r>
              <a:t>   🎯 Copy Trade 建議引擎</a:t>
            </a:r>
          </a:p>
          <a:p>
            <a:pPr>
              <a:spcAft>
                <a:spcPts val="400"/>
              </a:spcAft>
              <a:defRPr sz="1100" b="0">
                <a:solidFill>
                  <a:srgbClr val="A0A8B8"/>
                </a:solidFill>
                <a:latin typeface="Segoe UI"/>
              </a:defRPr>
            </a:pPr>
            <a:r>
              <a:t>      → 決策邏輯 + 信心度</a:t>
            </a:r>
          </a:p>
          <a:p>
            <a:pPr>
              <a:spcAft>
                <a:spcPts val="400"/>
              </a:spcAft>
              <a:defRPr sz="1100" b="0">
                <a:solidFill>
                  <a:srgbClr val="F0F0F0"/>
                </a:solidFill>
                <a:latin typeface="Segoe UI"/>
              </a:defRPr>
            </a:pPr>
            <a:r>
              <a:t>   📈 值博率分析</a:t>
            </a:r>
          </a:p>
          <a:p>
            <a:pPr>
              <a:spcAft>
                <a:spcPts val="400"/>
              </a:spcAft>
              <a:defRPr sz="1100" b="0">
                <a:solidFill>
                  <a:srgbClr val="A0A8B8"/>
                </a:solidFill>
                <a:latin typeface="Segoe UI"/>
              </a:defRPr>
            </a:pPr>
            <a:r>
              <a:t>      → EV + Kelly + Safety Margin</a:t>
            </a:r>
          </a:p>
          <a:p>
            <a:pPr>
              <a:spcAft>
                <a:spcPts val="400"/>
              </a:spcAft>
              <a:defRPr sz="1100" b="0">
                <a:solidFill>
                  <a:srgbClr val="F0F0F0"/>
                </a:solidFill>
                <a:latin typeface="Segoe UI"/>
              </a:defRPr>
            </a:pPr>
            <a:r>
              <a:t>   🎰 馬丁層級深度分析</a:t>
            </a:r>
          </a:p>
          <a:p>
            <a:pPr>
              <a:spcAft>
                <a:spcPts val="400"/>
              </a:spcAft>
              <a:defRPr sz="1100" b="0">
                <a:solidFill>
                  <a:srgbClr val="F0F0F0"/>
                </a:solidFill>
                <a:latin typeface="Segoe UI"/>
              </a:defRPr>
            </a:pPr>
            <a:r>
              <a:t>   CoP 評分表 (Wait 5/10/15/20)</a:t>
            </a:r>
          </a:p>
          <a:p>
            <a:pPr>
              <a:spcAft>
                <a:spcPts val="400"/>
              </a:spcAft>
              <a:defRPr sz="1100" b="0">
                <a:solidFill>
                  <a:srgbClr val="F0F0F0"/>
                </a:solidFill>
                <a:latin typeface="Segoe UI"/>
              </a:defRPr>
            </a:pPr>
            <a:r>
              <a:t>   CoL 評分表 (Wait 10/15/20/25)</a:t>
            </a:r>
          </a:p>
          <a:p>
            <a:pPr>
              <a:spcAft>
                <a:spcPts val="400"/>
              </a:spcAft>
              <a:defRPr sz="400" b="0">
                <a:solidFill>
                  <a:srgbClr val="F0F0F0"/>
                </a:solidFill>
                <a:latin typeface="Segoe UI"/>
              </a:defRPr>
            </a:pPr>
          </a:p>
          <a:p>
            <a:pPr>
              <a:spcAft>
                <a:spcPts val="400"/>
              </a:spcAft>
              <a:defRPr sz="1200" b="1">
                <a:solidFill>
                  <a:srgbClr val="E94560"/>
                </a:solidFill>
                <a:latin typeface="Segoe UI"/>
              </a:defRPr>
            </a:pPr>
            <a:r>
              <a:t>3️⃣ Martin Detection</a:t>
            </a:r>
          </a:p>
          <a:p>
            <a:pPr>
              <a:spcAft>
                <a:spcPts val="400"/>
              </a:spcAft>
              <a:defRPr sz="1100" b="0">
                <a:solidFill>
                  <a:srgbClr val="F0F0F0"/>
                </a:solidFill>
                <a:latin typeface="Segoe UI"/>
              </a:defRPr>
            </a:pPr>
            <a:r>
              <a:t>   Classic / Reverse / Cost Killed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系統整體風險分析</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數據層面、計算層面、架構層面、決策層面</a:t>
            </a:r>
          </a:p>
        </p:txBody>
      </p:sp>
      <p:sp>
        <p:nvSpPr>
          <p:cNvPr id="5" name="Rounded Rectangle 4"/>
          <p:cNvSpPr/>
          <p:nvPr/>
        </p:nvSpPr>
        <p:spPr>
          <a:xfrm>
            <a:off x="365760" y="1188720"/>
            <a:ext cx="5577840" cy="2651760"/>
          </a:xfrm>
          <a:prstGeom prst="roundRect">
            <a:avLst/>
          </a:prstGeom>
          <a:solidFill>
            <a:srgbClr val="2A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61872"/>
            <a:ext cx="5303520" cy="320040"/>
          </a:xfrm>
          <a:prstGeom prst="rect">
            <a:avLst/>
          </a:prstGeom>
          <a:noFill/>
        </p:spPr>
        <p:txBody>
          <a:bodyPr wrap="square">
            <a:spAutoFit/>
          </a:bodyPr>
          <a:lstStyle/>
          <a:p>
            <a:pPr algn="l">
              <a:defRPr sz="1300" b="1">
                <a:solidFill>
                  <a:srgbClr val="FF5722"/>
                </a:solidFill>
                <a:latin typeface="Segoe UI"/>
              </a:defRPr>
            </a:pPr>
            <a:r>
              <a:t>⚠️ 📥 數據風險</a:t>
            </a:r>
          </a:p>
        </p:txBody>
      </p:sp>
      <p:sp>
        <p:nvSpPr>
          <p:cNvPr id="7" name="TextBox 6"/>
          <p:cNvSpPr txBox="1"/>
          <p:nvPr/>
        </p:nvSpPr>
        <p:spPr>
          <a:xfrm>
            <a:off x="502920" y="1554480"/>
            <a:ext cx="5303520" cy="2194560"/>
          </a:xfrm>
          <a:prstGeom prst="rect">
            <a:avLst/>
          </a:prstGeom>
          <a:noFill/>
        </p:spPr>
        <p:txBody>
          <a:bodyPr wrap="square">
            <a:spAutoFit/>
          </a:bodyPr>
          <a:lstStyle/>
          <a:p>
            <a:pPr>
              <a:spcAft>
                <a:spcPts val="400"/>
              </a:spcAft>
              <a:defRPr sz="1100" b="0">
                <a:solidFill>
                  <a:srgbClr val="FFCCCC"/>
                </a:solidFill>
                <a:latin typeface="Segoe UI"/>
              </a:defRPr>
            </a:pPr>
            <a:r>
              <a:t>• 無 Tick Data — 無法精確知道入場後的實時價格走勢</a:t>
            </a:r>
          </a:p>
          <a:p>
            <a:pPr>
              <a:spcAft>
                <a:spcPts val="400"/>
              </a:spcAft>
              <a:defRPr sz="1100" b="0">
                <a:solidFill>
                  <a:srgbClr val="FFCCCC"/>
                </a:solidFill>
                <a:latin typeface="Segoe UI"/>
              </a:defRPr>
            </a:pPr>
            <a:r>
              <a:t>• D1 精度不足 — 對 M5/H1 EA 市況分類不夠精細</a:t>
            </a:r>
          </a:p>
          <a:p>
            <a:pPr>
              <a:spcAft>
                <a:spcPts val="400"/>
              </a:spcAft>
              <a:defRPr sz="1100" b="0">
                <a:solidFill>
                  <a:srgbClr val="FFCCCC"/>
                </a:solidFill>
                <a:latin typeface="Segoe UI"/>
              </a:defRPr>
            </a:pPr>
            <a:r>
              <a:t>• AutoLot 不確定 — 6 個信號的 lot 層級為推算</a:t>
            </a:r>
          </a:p>
          <a:p>
            <a:pPr>
              <a:spcAft>
                <a:spcPts val="400"/>
              </a:spcAft>
              <a:defRPr sz="1100" b="0">
                <a:solidFill>
                  <a:srgbClr val="FFCCCC"/>
                </a:solidFill>
                <a:latin typeface="Segoe UI"/>
              </a:defRPr>
            </a:pPr>
            <a:r>
              <a:t>• CSV 時差 — Scraper vs 手動下載可能有幾行差異</a:t>
            </a:r>
          </a:p>
          <a:p>
            <a:pPr>
              <a:spcAft>
                <a:spcPts val="400"/>
              </a:spcAft>
              <a:defRPr sz="1100" b="0">
                <a:solidFill>
                  <a:srgbClr val="FFCCCC"/>
                </a:solidFill>
                <a:latin typeface="Segoe UI"/>
              </a:defRPr>
            </a:pPr>
            <a:r>
              <a:t>• UseAISignal=1 — SMA SET 的 AI 信號邏輯未知</a:t>
            </a:r>
          </a:p>
        </p:txBody>
      </p:sp>
      <p:sp>
        <p:nvSpPr>
          <p:cNvPr id="8" name="Rounded Rectangle 7"/>
          <p:cNvSpPr/>
          <p:nvPr/>
        </p:nvSpPr>
        <p:spPr>
          <a:xfrm>
            <a:off x="6126480" y="1188720"/>
            <a:ext cx="5577840" cy="2651760"/>
          </a:xfrm>
          <a:prstGeom prst="roundRect">
            <a:avLst/>
          </a:prstGeom>
          <a:solidFill>
            <a:srgbClr val="2A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261872"/>
            <a:ext cx="5303520" cy="320040"/>
          </a:xfrm>
          <a:prstGeom prst="rect">
            <a:avLst/>
          </a:prstGeom>
          <a:noFill/>
        </p:spPr>
        <p:txBody>
          <a:bodyPr wrap="square">
            <a:spAutoFit/>
          </a:bodyPr>
          <a:lstStyle/>
          <a:p>
            <a:pPr algn="l">
              <a:defRPr sz="1300" b="1">
                <a:solidFill>
                  <a:srgbClr val="FF5722"/>
                </a:solidFill>
                <a:latin typeface="Segoe UI"/>
              </a:defRPr>
            </a:pPr>
            <a:r>
              <a:t>⚠️ 🧮 計算風險</a:t>
            </a:r>
          </a:p>
        </p:txBody>
      </p:sp>
      <p:sp>
        <p:nvSpPr>
          <p:cNvPr id="10" name="TextBox 9"/>
          <p:cNvSpPr txBox="1"/>
          <p:nvPr/>
        </p:nvSpPr>
        <p:spPr>
          <a:xfrm>
            <a:off x="6263640" y="1554480"/>
            <a:ext cx="5303520" cy="2194560"/>
          </a:xfrm>
          <a:prstGeom prst="rect">
            <a:avLst/>
          </a:prstGeom>
          <a:noFill/>
        </p:spPr>
        <p:txBody>
          <a:bodyPr wrap="square">
            <a:spAutoFit/>
          </a:bodyPr>
          <a:lstStyle/>
          <a:p>
            <a:pPr>
              <a:spcAft>
                <a:spcPts val="400"/>
              </a:spcAft>
              <a:defRPr sz="1100" b="0">
                <a:solidFill>
                  <a:srgbClr val="FFCCCC"/>
                </a:solidFill>
                <a:latin typeface="Segoe UI"/>
              </a:defRPr>
            </a:pPr>
            <a:r>
              <a:t>• CoP 勝率永遠 100% — 只看盈利交易，20% 權重白送</a:t>
            </a:r>
          </a:p>
          <a:p>
            <a:pPr>
              <a:spcAft>
                <a:spcPts val="400"/>
              </a:spcAft>
              <a:defRPr sz="1100" b="0">
                <a:solidFill>
                  <a:srgbClr val="FFCCCC"/>
                </a:solidFill>
                <a:latin typeface="Segoe UI"/>
              </a:defRPr>
            </a:pPr>
            <a:r>
              <a:t>• P85 基準假設穩定 — 市場 regime change 後失效</a:t>
            </a:r>
          </a:p>
          <a:p>
            <a:pPr>
              <a:spcAft>
                <a:spcPts val="400"/>
              </a:spcAft>
              <a:defRPr sz="1100" b="0">
                <a:solidFill>
                  <a:srgbClr val="FFCCCC"/>
                </a:solidFill>
                <a:latin typeface="Segoe UI"/>
              </a:defRPr>
            </a:pPr>
            <a:r>
              <a:t>• 小樣本回退 — 1863/2314 配對用 global fallback</a:t>
            </a:r>
          </a:p>
          <a:p>
            <a:pPr>
              <a:spcAft>
                <a:spcPts val="400"/>
              </a:spcAft>
              <a:defRPr sz="1100" b="0">
                <a:solidFill>
                  <a:srgbClr val="FFCCCC"/>
                </a:solidFill>
                <a:latin typeface="Segoe UI"/>
              </a:defRPr>
            </a:pPr>
            <a:r>
              <a:t>• 百分位外推 — 未來數據可能超出歷史範圍</a:t>
            </a:r>
          </a:p>
          <a:p>
            <a:pPr>
              <a:spcAft>
                <a:spcPts val="400"/>
              </a:spcAft>
              <a:defRPr sz="1100" b="0">
                <a:solidFill>
                  <a:srgbClr val="FFCCCC"/>
                </a:solidFill>
                <a:latin typeface="Segoe UI"/>
              </a:defRPr>
            </a:pPr>
            <a:r>
              <a:t>• ETE 已廢棄但 DDE 也有盲區（dd_ratio capped 2.0）</a:t>
            </a:r>
          </a:p>
        </p:txBody>
      </p:sp>
      <p:sp>
        <p:nvSpPr>
          <p:cNvPr id="11" name="Rounded Rectangle 10"/>
          <p:cNvSpPr/>
          <p:nvPr/>
        </p:nvSpPr>
        <p:spPr>
          <a:xfrm>
            <a:off x="365760" y="4023360"/>
            <a:ext cx="5577840" cy="2651760"/>
          </a:xfrm>
          <a:prstGeom prst="roundRect">
            <a:avLst/>
          </a:prstGeom>
          <a:solidFill>
            <a:srgbClr val="2A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096512"/>
            <a:ext cx="5303520" cy="320040"/>
          </a:xfrm>
          <a:prstGeom prst="rect">
            <a:avLst/>
          </a:prstGeom>
          <a:noFill/>
        </p:spPr>
        <p:txBody>
          <a:bodyPr wrap="square">
            <a:spAutoFit/>
          </a:bodyPr>
          <a:lstStyle/>
          <a:p>
            <a:pPr algn="l">
              <a:defRPr sz="1300" b="1">
                <a:solidFill>
                  <a:srgbClr val="FF5722"/>
                </a:solidFill>
                <a:latin typeface="Segoe UI"/>
              </a:defRPr>
            </a:pPr>
            <a:r>
              <a:t>⚠️ 🏗️ 架構風險</a:t>
            </a:r>
          </a:p>
        </p:txBody>
      </p:sp>
      <p:sp>
        <p:nvSpPr>
          <p:cNvPr id="13" name="TextBox 12"/>
          <p:cNvSpPr txBox="1"/>
          <p:nvPr/>
        </p:nvSpPr>
        <p:spPr>
          <a:xfrm>
            <a:off x="502920" y="4389120"/>
            <a:ext cx="5303520" cy="2194560"/>
          </a:xfrm>
          <a:prstGeom prst="rect">
            <a:avLst/>
          </a:prstGeom>
          <a:noFill/>
        </p:spPr>
        <p:txBody>
          <a:bodyPr wrap="square">
            <a:spAutoFit/>
          </a:bodyPr>
          <a:lstStyle/>
          <a:p>
            <a:pPr>
              <a:spcAft>
                <a:spcPts val="400"/>
              </a:spcAft>
              <a:defRPr sz="1100" b="0">
                <a:solidFill>
                  <a:srgbClr val="FFCCCC"/>
                </a:solidFill>
                <a:latin typeface="Segoe UI"/>
              </a:defRPr>
            </a:pPr>
            <a:r>
              <a:t>• 單文件 HTML — index.html 已 246KB/5000+ 行，難維護</a:t>
            </a:r>
          </a:p>
          <a:p>
            <a:pPr>
              <a:spcAft>
                <a:spcPts val="400"/>
              </a:spcAft>
              <a:defRPr sz="1100" b="0">
                <a:solidFill>
                  <a:srgbClr val="FFCCCC"/>
                </a:solidFill>
                <a:latin typeface="Segoe UI"/>
              </a:defRPr>
            </a:pPr>
            <a:r>
              <a:t>• localStorage 5MB 上限 — 大量分析可能爆限</a:t>
            </a:r>
          </a:p>
          <a:p>
            <a:pPr>
              <a:spcAft>
                <a:spcPts val="400"/>
              </a:spcAft>
              <a:defRPr sz="1100" b="0">
                <a:solidFill>
                  <a:srgbClr val="FFCCCC"/>
                </a:solidFill>
                <a:latin typeface="Segoe UI"/>
              </a:defRPr>
            </a:pPr>
            <a:r>
              <a:t>• 無多用戶 — 不支持跨設備同步</a:t>
            </a:r>
          </a:p>
          <a:p>
            <a:pPr>
              <a:spcAft>
                <a:spcPts val="400"/>
              </a:spcAft>
              <a:defRPr sz="1100" b="0">
                <a:solidFill>
                  <a:srgbClr val="FFCCCC"/>
                </a:solidFill>
                <a:latin typeface="Segoe UI"/>
              </a:defRPr>
            </a:pPr>
            <a:r>
              <a:t>• localhost:8787 — 貨幣穿透功能依賴本地 API</a:t>
            </a:r>
          </a:p>
          <a:p>
            <a:pPr>
              <a:spcAft>
                <a:spcPts val="400"/>
              </a:spcAft>
              <a:defRPr sz="1100" b="0">
                <a:solidFill>
                  <a:srgbClr val="FFCCCC"/>
                </a:solidFill>
                <a:latin typeface="Segoe UI"/>
              </a:defRPr>
            </a:pPr>
            <a:r>
              <a:t>• Cloudflare 攔截 — AlgoForest scraper 可能被擋</a:t>
            </a:r>
          </a:p>
        </p:txBody>
      </p:sp>
      <p:sp>
        <p:nvSpPr>
          <p:cNvPr id="14" name="Rounded Rectangle 13"/>
          <p:cNvSpPr/>
          <p:nvPr/>
        </p:nvSpPr>
        <p:spPr>
          <a:xfrm>
            <a:off x="6126480" y="4023360"/>
            <a:ext cx="5577840" cy="2651760"/>
          </a:xfrm>
          <a:prstGeom prst="roundRect">
            <a:avLst/>
          </a:prstGeom>
          <a:solidFill>
            <a:srgbClr val="2A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4096512"/>
            <a:ext cx="5303520" cy="320040"/>
          </a:xfrm>
          <a:prstGeom prst="rect">
            <a:avLst/>
          </a:prstGeom>
          <a:noFill/>
        </p:spPr>
        <p:txBody>
          <a:bodyPr wrap="square">
            <a:spAutoFit/>
          </a:bodyPr>
          <a:lstStyle/>
          <a:p>
            <a:pPr algn="l">
              <a:defRPr sz="1300" b="1">
                <a:solidFill>
                  <a:srgbClr val="FF5722"/>
                </a:solidFill>
                <a:latin typeface="Segoe UI"/>
              </a:defRPr>
            </a:pPr>
            <a:r>
              <a:t>⚠️ 💰 決策風險</a:t>
            </a:r>
          </a:p>
        </p:txBody>
      </p:sp>
      <p:sp>
        <p:nvSpPr>
          <p:cNvPr id="16" name="TextBox 15"/>
          <p:cNvSpPr txBox="1"/>
          <p:nvPr/>
        </p:nvSpPr>
        <p:spPr>
          <a:xfrm>
            <a:off x="6263640" y="4389120"/>
            <a:ext cx="5303520" cy="2194560"/>
          </a:xfrm>
          <a:prstGeom prst="rect">
            <a:avLst/>
          </a:prstGeom>
          <a:noFill/>
        </p:spPr>
        <p:txBody>
          <a:bodyPr wrap="square">
            <a:spAutoFit/>
          </a:bodyPr>
          <a:lstStyle/>
          <a:p>
            <a:pPr>
              <a:spcAft>
                <a:spcPts val="400"/>
              </a:spcAft>
              <a:defRPr sz="1100" b="0">
                <a:solidFill>
                  <a:srgbClr val="FFCCCC"/>
                </a:solidFill>
                <a:latin typeface="Segoe UI"/>
              </a:defRPr>
            </a:pPr>
            <a:r>
              <a:t>• 歷史表現 ≠ 未來保證 — 所有評分基於回顧數據</a:t>
            </a:r>
          </a:p>
          <a:p>
            <a:pPr>
              <a:spcAft>
                <a:spcPts val="400"/>
              </a:spcAft>
              <a:defRPr sz="1100" b="0">
                <a:solidFill>
                  <a:srgbClr val="FFCCCC"/>
                </a:solidFill>
                <a:latin typeface="Segoe UI"/>
              </a:defRPr>
            </a:pPr>
            <a:r>
              <a:t>• 馬丁依賴 — 74% 信號有馬丁特徵，獲利可能是假象</a:t>
            </a:r>
          </a:p>
          <a:p>
            <a:pPr>
              <a:spcAft>
                <a:spcPts val="400"/>
              </a:spcAft>
              <a:defRPr sz="1100" b="0">
                <a:solidFill>
                  <a:srgbClr val="FFCCCC"/>
                </a:solidFill>
                <a:latin typeface="Segoe UI"/>
              </a:defRPr>
            </a:pPr>
            <a:r>
              <a:t>• L4+ 爆倉高危 — 即使回歸率 70%，30% 失敗 = 巨虧</a:t>
            </a:r>
          </a:p>
          <a:p>
            <a:pPr>
              <a:spcAft>
                <a:spcPts val="400"/>
              </a:spcAft>
              <a:defRPr sz="1100" b="0">
                <a:solidFill>
                  <a:srgbClr val="FFCCCC"/>
                </a:solidFill>
                <a:latin typeface="Segoe UI"/>
              </a:defRPr>
            </a:pPr>
            <a:r>
              <a:t>• 模擬 ≠ 實際 — 滑點、流動性、延遲未計入</a:t>
            </a:r>
          </a:p>
          <a:p>
            <a:pPr>
              <a:spcAft>
                <a:spcPts val="400"/>
              </a:spcAft>
              <a:defRPr sz="1100" b="0">
                <a:solidFill>
                  <a:srgbClr val="FFCCCC"/>
                </a:solidFill>
                <a:latin typeface="Segoe UI"/>
              </a:defRPr>
            </a:pPr>
            <a:r>
              <a:t>• 黑天鵝事件 — 歷史數據無法預測極端市況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完整使用流程 — 從數據到決策</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以「分析一個新 Signal」為例</a:t>
            </a:r>
          </a:p>
        </p:txBody>
      </p:sp>
      <p:sp>
        <p:nvSpPr>
          <p:cNvPr id="5" name="Rounded Rectangle 4"/>
          <p:cNvSpPr/>
          <p:nvPr/>
        </p:nvSpPr>
        <p:spPr>
          <a:xfrm>
            <a:off x="457200" y="1371600"/>
            <a:ext cx="1463040" cy="640080"/>
          </a:xfrm>
          <a:prstGeom prst="roundRect">
            <a:avLst/>
          </a:prstGeom>
          <a:solidFill>
            <a:srgbClr val="0F3D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Step 1</a:t>
            </a:r>
            <a:br/>
            <a:r>
              <a:t>📥 取得數據</a:t>
            </a:r>
          </a:p>
        </p:txBody>
      </p:sp>
      <p:sp>
        <p:nvSpPr>
          <p:cNvPr id="6" name="Rounded Rectangle 5"/>
          <p:cNvSpPr/>
          <p:nvPr/>
        </p:nvSpPr>
        <p:spPr>
          <a:xfrm>
            <a:off x="457200" y="210312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194560"/>
            <a:ext cx="3291840" cy="1463040"/>
          </a:xfrm>
          <a:prstGeom prst="rect">
            <a:avLst/>
          </a:prstGeom>
          <a:noFill/>
        </p:spPr>
        <p:txBody>
          <a:bodyPr wrap="square">
            <a:spAutoFit/>
          </a:bodyPr>
          <a:lstStyle/>
          <a:p>
            <a:pPr algn="l">
              <a:defRPr sz="1200" b="0">
                <a:solidFill>
                  <a:srgbClr val="F0F0F0"/>
                </a:solidFill>
                <a:latin typeface="Segoe UI"/>
              </a:defRPr>
            </a:pPr>
            <a:r>
              <a:t>AlgoForest 網站</a:t>
            </a:r>
            <a:br/>
            <a:r>
              <a:t>下載 CSV + SET</a:t>
            </a:r>
            <a:br/>
            <a:r>
              <a:t>或用 Scraper 自動</a:t>
            </a:r>
          </a:p>
        </p:txBody>
      </p:sp>
      <p:sp>
        <p:nvSpPr>
          <p:cNvPr id="8" name="Rounded Rectangle 7"/>
          <p:cNvSpPr/>
          <p:nvPr/>
        </p:nvSpPr>
        <p:spPr>
          <a:xfrm>
            <a:off x="4297680" y="1371600"/>
            <a:ext cx="1463040" cy="64008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Step 2</a:t>
            </a:r>
            <a:br/>
            <a:r>
              <a:t>🖥️ 上傳分析</a:t>
            </a:r>
          </a:p>
        </p:txBody>
      </p:sp>
      <p:sp>
        <p:nvSpPr>
          <p:cNvPr id="9" name="Rounded Rectangle 8"/>
          <p:cNvSpPr/>
          <p:nvPr/>
        </p:nvSpPr>
        <p:spPr>
          <a:xfrm>
            <a:off x="4297680" y="210312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2194560"/>
            <a:ext cx="3291840" cy="1463040"/>
          </a:xfrm>
          <a:prstGeom prst="rect">
            <a:avLst/>
          </a:prstGeom>
          <a:noFill/>
        </p:spPr>
        <p:txBody>
          <a:bodyPr wrap="square">
            <a:spAutoFit/>
          </a:bodyPr>
          <a:lstStyle/>
          <a:p>
            <a:pPr algn="l">
              <a:defRPr sz="1200" b="0">
                <a:solidFill>
                  <a:srgbClr val="F0F0F0"/>
                </a:solidFill>
                <a:latin typeface="Segoe UI"/>
              </a:defRPr>
            </a:pPr>
            <a:r>
              <a:t>打開 index.html</a:t>
            </a:r>
            <a:br/>
            <a:r>
              <a:t>上傳 CSV（必須）</a:t>
            </a:r>
            <a:br/>
            <a:r>
              <a:t>上傳 SET（可選）</a:t>
            </a:r>
          </a:p>
        </p:txBody>
      </p:sp>
      <p:sp>
        <p:nvSpPr>
          <p:cNvPr id="11" name="Rounded Rectangle 10"/>
          <p:cNvSpPr/>
          <p:nvPr/>
        </p:nvSpPr>
        <p:spPr>
          <a:xfrm>
            <a:off x="8138160" y="1371600"/>
            <a:ext cx="1463040" cy="64008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Step 3</a:t>
            </a:r>
            <a:br/>
            <a:r>
              <a:t>📈 初步觀察</a:t>
            </a:r>
          </a:p>
        </p:txBody>
      </p:sp>
      <p:sp>
        <p:nvSpPr>
          <p:cNvPr id="12" name="Rounded Rectangle 11"/>
          <p:cNvSpPr/>
          <p:nvPr/>
        </p:nvSpPr>
        <p:spPr>
          <a:xfrm>
            <a:off x="8138160" y="210312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194560"/>
            <a:ext cx="3291840" cy="1463040"/>
          </a:xfrm>
          <a:prstGeom prst="rect">
            <a:avLst/>
          </a:prstGeom>
          <a:noFill/>
        </p:spPr>
        <p:txBody>
          <a:bodyPr wrap="square">
            <a:spAutoFit/>
          </a:bodyPr>
          <a:lstStyle/>
          <a:p>
            <a:pPr algn="l">
              <a:defRPr sz="1200" b="0">
                <a:solidFill>
                  <a:srgbClr val="F0F0F0"/>
                </a:solidFill>
                <a:latin typeface="Segoe UI"/>
              </a:defRPr>
            </a:pPr>
            <a:r>
              <a:t>收益曲線 Tab</a:t>
            </a:r>
            <a:br/>
            <a:r>
              <a:t>睇總體盈虧趨勢</a:t>
            </a:r>
            <a:br/>
            <a:r>
              <a:t>確認數據正常</a:t>
            </a:r>
          </a:p>
        </p:txBody>
      </p:sp>
      <p:sp>
        <p:nvSpPr>
          <p:cNvPr id="14" name="Rounded Rectangle 13"/>
          <p:cNvSpPr/>
          <p:nvPr/>
        </p:nvSpPr>
        <p:spPr>
          <a:xfrm>
            <a:off x="457200" y="4114800"/>
            <a:ext cx="1463040" cy="640080"/>
          </a:xfrm>
          <a:prstGeom prst="round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Step 4</a:t>
            </a:r>
            <a:br/>
            <a:r>
              <a:t>🎯 質量評估</a:t>
            </a:r>
          </a:p>
        </p:txBody>
      </p:sp>
      <p:sp>
        <p:nvSpPr>
          <p:cNvPr id="15" name="Rounded Rectangle 14"/>
          <p:cNvSpPr/>
          <p:nvPr/>
        </p:nvSpPr>
        <p:spPr>
          <a:xfrm>
            <a:off x="457200" y="484632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937760"/>
            <a:ext cx="3291840" cy="1463040"/>
          </a:xfrm>
          <a:prstGeom prst="rect">
            <a:avLst/>
          </a:prstGeom>
          <a:noFill/>
        </p:spPr>
        <p:txBody>
          <a:bodyPr wrap="square">
            <a:spAutoFit/>
          </a:bodyPr>
          <a:lstStyle/>
          <a:p>
            <a:pPr algn="l">
              <a:defRPr sz="1200" b="0">
                <a:solidFill>
                  <a:srgbClr val="F0F0F0"/>
                </a:solidFill>
                <a:latin typeface="Segoe UI"/>
              </a:defRPr>
            </a:pPr>
            <a:r>
              <a:t>質量評分 Tab</a:t>
            </a:r>
            <a:br/>
            <a:r>
              <a:t>Entry + Strategy Score</a:t>
            </a:r>
            <a:br/>
            <a:r>
              <a:t>識別弱項</a:t>
            </a:r>
          </a:p>
        </p:txBody>
      </p:sp>
      <p:sp>
        <p:nvSpPr>
          <p:cNvPr id="17" name="Rounded Rectangle 16"/>
          <p:cNvSpPr/>
          <p:nvPr/>
        </p:nvSpPr>
        <p:spPr>
          <a:xfrm>
            <a:off x="4297680" y="4114800"/>
            <a:ext cx="1463040" cy="640080"/>
          </a:xfrm>
          <a:prstGeom prst="roundRect">
            <a:avLst/>
          </a:prstGeom>
          <a:solidFill>
            <a:srgbClr val="4A14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Step 5</a:t>
            </a:r>
            <a:br/>
            <a:r>
              <a:t>📚 深入分析</a:t>
            </a:r>
          </a:p>
        </p:txBody>
      </p:sp>
      <p:sp>
        <p:nvSpPr>
          <p:cNvPr id="18" name="Rounded Rectangle 17"/>
          <p:cNvSpPr/>
          <p:nvPr/>
        </p:nvSpPr>
        <p:spPr>
          <a:xfrm>
            <a:off x="4297680" y="484632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4937760"/>
            <a:ext cx="3291840" cy="1463040"/>
          </a:xfrm>
          <a:prstGeom prst="rect">
            <a:avLst/>
          </a:prstGeom>
          <a:noFill/>
        </p:spPr>
        <p:txBody>
          <a:bodyPr wrap="square">
            <a:spAutoFit/>
          </a:bodyPr>
          <a:lstStyle/>
          <a:p>
            <a:pPr algn="l">
              <a:defRPr sz="1200" b="0">
                <a:solidFill>
                  <a:srgbClr val="F0F0F0"/>
                </a:solidFill>
                <a:latin typeface="Segoe UI"/>
              </a:defRPr>
            </a:pPr>
            <a:r>
              <a:t>層數/馬丁/TP/SL</a:t>
            </a:r>
            <a:br/>
            <a:r>
              <a:t>識別爆倉風險</a:t>
            </a:r>
            <a:br/>
            <a:r>
              <a:t>優化止損止盈</a:t>
            </a:r>
          </a:p>
        </p:txBody>
      </p:sp>
      <p:sp>
        <p:nvSpPr>
          <p:cNvPr id="20" name="Rounded Rectangle 19"/>
          <p:cNvSpPr/>
          <p:nvPr/>
        </p:nvSpPr>
        <p:spPr>
          <a:xfrm>
            <a:off x="8138160" y="4114800"/>
            <a:ext cx="1463040" cy="640080"/>
          </a:xfrm>
          <a:prstGeom prst="roundRect">
            <a:avLst/>
          </a:prstGeom>
          <a:solidFill>
            <a:srgbClr val="006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Step 6</a:t>
            </a:r>
            <a:br/>
            <a:r>
              <a:t>🏆 Copy 決策</a:t>
            </a:r>
          </a:p>
        </p:txBody>
      </p:sp>
      <p:sp>
        <p:nvSpPr>
          <p:cNvPr id="21" name="Rounded Rectangle 20"/>
          <p:cNvSpPr/>
          <p:nvPr/>
        </p:nvSpPr>
        <p:spPr>
          <a:xfrm>
            <a:off x="8138160" y="484632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4937760"/>
            <a:ext cx="3291840" cy="1463040"/>
          </a:xfrm>
          <a:prstGeom prst="rect">
            <a:avLst/>
          </a:prstGeom>
          <a:noFill/>
        </p:spPr>
        <p:txBody>
          <a:bodyPr wrap="square">
            <a:spAutoFit/>
          </a:bodyPr>
          <a:lstStyle/>
          <a:p>
            <a:pPr algn="l">
              <a:defRPr sz="1200" b="0">
                <a:solidFill>
                  <a:srgbClr val="F0F0F0"/>
                </a:solidFill>
                <a:latin typeface="Segoe UI"/>
              </a:defRPr>
            </a:pPr>
            <a:r>
              <a:t>Copy 推薦矩陣</a:t>
            </a:r>
            <a:br/>
            <a:r>
              <a:t>Copy 模擬驗證</a:t>
            </a:r>
            <a:br/>
            <a:r>
              <a:t>最終決定跟唔跟</a:t>
            </a:r>
          </a:p>
        </p:txBody>
      </p:sp>
      <p:sp>
        <p:nvSpPr>
          <p:cNvPr id="23" name="Rounded Rectangle 22"/>
          <p:cNvSpPr/>
          <p:nvPr/>
        </p:nvSpPr>
        <p:spPr>
          <a:xfrm>
            <a:off x="457200" y="5303520"/>
            <a:ext cx="11247120" cy="1188720"/>
          </a:xfrm>
          <a:prstGeom prst="roundRect">
            <a:avLst/>
          </a:prstGeom>
          <a:solidFill>
            <a:srgbClr val="1B2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394960"/>
            <a:ext cx="10881360" cy="1005840"/>
          </a:xfrm>
          <a:prstGeom prst="rect">
            <a:avLst/>
          </a:prstGeom>
          <a:noFill/>
        </p:spPr>
        <p:txBody>
          <a:bodyPr wrap="square">
            <a:spAutoFit/>
          </a:bodyPr>
          <a:lstStyle/>
          <a:p>
            <a:pPr>
              <a:spcAft>
                <a:spcPts val="400"/>
              </a:spcAft>
              <a:defRPr sz="1300" b="1">
                <a:solidFill>
                  <a:srgbClr val="4CAF50"/>
                </a:solidFill>
                <a:latin typeface="Segoe UI"/>
              </a:defRPr>
            </a:pPr>
            <a:r>
              <a:t>💻 快速指令參考：</a:t>
            </a:r>
          </a:p>
          <a:p>
            <a:pPr>
              <a:spcAft>
                <a:spcPts val="400"/>
              </a:spcAft>
              <a:defRPr sz="1100" b="0">
                <a:solidFill>
                  <a:srgbClr val="F0F0F0"/>
                </a:solidFill>
                <a:latin typeface="Segoe UI"/>
              </a:defRPr>
            </a:pPr>
            <a:r>
              <a:t>後端分析：python3 generate_all_levels_from_csv.py --signal {ID} --csv samples/{ID}.csv</a:t>
            </a:r>
          </a:p>
          <a:p>
            <a:pPr>
              <a:spcAft>
                <a:spcPts val="400"/>
              </a:spcAft>
              <a:defRPr sz="1100" b="0">
                <a:solidFill>
                  <a:srgbClr val="F0F0F0"/>
                </a:solidFill>
                <a:latin typeface="Segoe UI"/>
              </a:defRPr>
            </a:pPr>
            <a:r>
              <a:t>排名生成：python3 generate_signal_ranking.py                    |  Skill 觸發：跟丁蟹講「分析 signal {ID}」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TP/SL 計算原理深入</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P85 百分位法 + 小樣本回退 + 實例演算</a:t>
            </a:r>
          </a:p>
        </p:txBody>
      </p:sp>
      <p:sp>
        <p:nvSpPr>
          <p:cNvPr id="5" name="Rounded Rectangle 4"/>
          <p:cNvSpPr/>
          <p:nvPr/>
        </p:nvSpPr>
        <p:spPr>
          <a:xfrm>
            <a:off x="457200" y="1280160"/>
            <a:ext cx="5486400" cy="27432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5120640" cy="2560320"/>
          </a:xfrm>
          <a:prstGeom prst="rect">
            <a:avLst/>
          </a:prstGeom>
          <a:noFill/>
        </p:spPr>
        <p:txBody>
          <a:bodyPr wrap="square">
            <a:spAutoFit/>
          </a:bodyPr>
          <a:lstStyle/>
          <a:p>
            <a:pPr>
              <a:spcAft>
                <a:spcPts val="400"/>
              </a:spcAft>
              <a:defRPr sz="1600" b="1">
                <a:solidFill>
                  <a:srgbClr val="E94560"/>
                </a:solidFill>
                <a:latin typeface="Segoe UI"/>
              </a:defRPr>
            </a:pPr>
            <a:r>
              <a:t>📐 TP/SL 建議公式</a:t>
            </a:r>
          </a:p>
          <a:p>
            <a:pPr>
              <a:spcAft>
                <a:spcPts val="400"/>
              </a:spcAft>
              <a:defRPr sz="600" b="0">
                <a:solidFill>
                  <a:srgbClr val="F0F0F0"/>
                </a:solidFill>
                <a:latin typeface="Segoe UI"/>
              </a:defRPr>
            </a:pPr>
          </a:p>
          <a:p>
            <a:pPr>
              <a:spcAft>
                <a:spcPts val="400"/>
              </a:spcAft>
              <a:defRPr sz="1300" b="1">
                <a:solidFill>
                  <a:srgbClr val="4CAF50"/>
                </a:solidFill>
                <a:latin typeface="Segoe UI"/>
              </a:defRPr>
            </a:pPr>
            <a:r>
              <a:t>TP（Take Profit 建議值）</a:t>
            </a:r>
          </a:p>
          <a:p>
            <a:pPr>
              <a:spcAft>
                <a:spcPts val="400"/>
              </a:spcAft>
              <a:defRPr sz="1200" b="0">
                <a:solidFill>
                  <a:srgbClr val="F0F0F0"/>
                </a:solidFill>
                <a:latin typeface="Segoe UI"/>
              </a:defRPr>
            </a:pPr>
            <a:r>
              <a:t>TP = P85 of Max Pips（盈利交易）</a:t>
            </a:r>
          </a:p>
          <a:p>
            <a:pPr>
              <a:spcAft>
                <a:spcPts val="400"/>
              </a:spcAft>
              <a:defRPr sz="1100" b="0">
                <a:solidFill>
                  <a:srgbClr val="A0A8B8"/>
                </a:solidFill>
                <a:latin typeface="Segoe UI"/>
              </a:defRPr>
            </a:pPr>
            <a:r>
              <a:t>含義：85% 嘅盈利交易曾到達此位置</a:t>
            </a:r>
          </a:p>
          <a:p>
            <a:pPr>
              <a:spcAft>
                <a:spcPts val="400"/>
              </a:spcAft>
              <a:defRPr sz="1100" b="0">
                <a:solidFill>
                  <a:srgbClr val="A0A8B8"/>
                </a:solidFill>
                <a:latin typeface="Segoe UI"/>
              </a:defRPr>
            </a:pPr>
            <a:r>
              <a:t>即「85% 可達成」</a:t>
            </a:r>
          </a:p>
          <a:p>
            <a:pPr>
              <a:spcAft>
                <a:spcPts val="400"/>
              </a:spcAft>
              <a:defRPr sz="600" b="0">
                <a:solidFill>
                  <a:srgbClr val="F0F0F0"/>
                </a:solidFill>
                <a:latin typeface="Segoe UI"/>
              </a:defRPr>
            </a:pPr>
          </a:p>
          <a:p>
            <a:pPr>
              <a:spcAft>
                <a:spcPts val="400"/>
              </a:spcAft>
              <a:defRPr sz="1300" b="1">
                <a:solidFill>
                  <a:srgbClr val="FF5722"/>
                </a:solidFill>
                <a:latin typeface="Segoe UI"/>
              </a:defRPr>
            </a:pPr>
            <a:r>
              <a:t>SL（Stop Loss 建議值）</a:t>
            </a:r>
          </a:p>
          <a:p>
            <a:pPr>
              <a:spcAft>
                <a:spcPts val="400"/>
              </a:spcAft>
              <a:defRPr sz="1200" b="0">
                <a:solidFill>
                  <a:srgbClr val="F0F0F0"/>
                </a:solidFill>
                <a:latin typeface="Segoe UI"/>
              </a:defRPr>
            </a:pPr>
            <a:r>
              <a:t>SL = P85 of |Max Loss Pips|（所有交易）</a:t>
            </a:r>
          </a:p>
          <a:p>
            <a:pPr>
              <a:spcAft>
                <a:spcPts val="400"/>
              </a:spcAft>
              <a:defRPr sz="1100" b="0">
                <a:solidFill>
                  <a:srgbClr val="A0A8B8"/>
                </a:solidFill>
                <a:latin typeface="Segoe UI"/>
              </a:defRPr>
            </a:pPr>
            <a:r>
              <a:t>含義：85% 嘅交易最大回撤不超過此值</a:t>
            </a:r>
          </a:p>
          <a:p>
            <a:pPr>
              <a:spcAft>
                <a:spcPts val="400"/>
              </a:spcAft>
              <a:defRPr sz="1100" b="0">
                <a:solidFill>
                  <a:srgbClr val="A0A8B8"/>
                </a:solidFill>
                <a:latin typeface="Segoe UI"/>
              </a:defRPr>
            </a:pPr>
            <a:r>
              <a:t>即「85% 扛得住」</a:t>
            </a:r>
          </a:p>
        </p:txBody>
      </p:sp>
      <p:sp>
        <p:nvSpPr>
          <p:cNvPr id="7" name="Rounded Rectangle 6"/>
          <p:cNvSpPr/>
          <p:nvPr/>
        </p:nvSpPr>
        <p:spPr>
          <a:xfrm>
            <a:off x="6217920" y="1280160"/>
            <a:ext cx="5486400" cy="27432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5120640" cy="2560320"/>
          </a:xfrm>
          <a:prstGeom prst="rect">
            <a:avLst/>
          </a:prstGeom>
          <a:noFill/>
        </p:spPr>
        <p:txBody>
          <a:bodyPr wrap="square">
            <a:spAutoFit/>
          </a:bodyPr>
          <a:lstStyle/>
          <a:p>
            <a:pPr>
              <a:spcAft>
                <a:spcPts val="400"/>
              </a:spcAft>
              <a:defRPr sz="1600" b="1">
                <a:solidFill>
                  <a:srgbClr val="E94560"/>
                </a:solidFill>
                <a:latin typeface="Segoe UI"/>
              </a:defRPr>
            </a:pPr>
            <a:r>
              <a:t>🔄 小樣本回退機制</a:t>
            </a:r>
          </a:p>
          <a:p>
            <a:pPr>
              <a:spcAft>
                <a:spcPts val="400"/>
              </a:spcAft>
              <a:defRPr sz="600" b="0">
                <a:solidFill>
                  <a:srgbClr val="F0F0F0"/>
                </a:solidFill>
                <a:latin typeface="Segoe UI"/>
              </a:defRPr>
            </a:pPr>
          </a:p>
          <a:p>
            <a:pPr>
              <a:spcAft>
                <a:spcPts val="400"/>
              </a:spcAft>
              <a:defRPr sz="1200" b="0">
                <a:solidFill>
                  <a:srgbClr val="F0F0F0"/>
                </a:solidFill>
                <a:latin typeface="Segoe UI"/>
              </a:defRPr>
            </a:pPr>
            <a:r>
              <a:t>問題：某 CCY×Level 可能只有幾筆交易</a:t>
            </a:r>
          </a:p>
          <a:p>
            <a:pPr>
              <a:spcAft>
                <a:spcPts val="400"/>
              </a:spcAft>
              <a:defRPr sz="1200" b="0">
                <a:solidFill>
                  <a:srgbClr val="FF9800"/>
                </a:solidFill>
                <a:latin typeface="Segoe UI"/>
              </a:defRPr>
            </a:pPr>
            <a:r>
              <a:t>P85 在小樣本時不穩定</a:t>
            </a:r>
          </a:p>
          <a:p>
            <a:pPr>
              <a:spcAft>
                <a:spcPts val="400"/>
              </a:spcAft>
              <a:defRPr sz="600" b="0">
                <a:solidFill>
                  <a:srgbClr val="F0F0F0"/>
                </a:solidFill>
                <a:latin typeface="Segoe UI"/>
              </a:defRPr>
            </a:pPr>
          </a:p>
          <a:p>
            <a:pPr>
              <a:spcAft>
                <a:spcPts val="400"/>
              </a:spcAft>
              <a:defRPr sz="1300" b="1">
                <a:solidFill>
                  <a:srgbClr val="FFC107"/>
                </a:solidFill>
                <a:latin typeface="Segoe UI"/>
              </a:defRPr>
            </a:pPr>
            <a:r>
              <a:t>解決方案：</a:t>
            </a:r>
          </a:p>
          <a:p>
            <a:pPr>
              <a:spcAft>
                <a:spcPts val="400"/>
              </a:spcAft>
              <a:defRPr sz="1200" b="0">
                <a:solidFill>
                  <a:srgbClr val="4CAF50"/>
                </a:solidFill>
                <a:latin typeface="Segoe UI"/>
              </a:defRPr>
            </a:pPr>
            <a:r>
              <a:t>n ≥ 30 → 用信號自身 percentiles</a:t>
            </a:r>
          </a:p>
          <a:p>
            <a:pPr>
              <a:spcAft>
                <a:spcPts val="400"/>
              </a:spcAft>
              <a:defRPr sz="1200" b="0">
                <a:solidFill>
                  <a:srgbClr val="FF9800"/>
                </a:solidFill>
                <a:latin typeface="Segoe UI"/>
              </a:defRPr>
            </a:pPr>
            <a:r>
              <a:t>n &lt; 30 → 自動混和 global percentiles</a:t>
            </a:r>
          </a:p>
          <a:p>
            <a:pPr>
              <a:spcAft>
                <a:spcPts val="400"/>
              </a:spcAft>
              <a:defRPr sz="1100" b="0">
                <a:solidFill>
                  <a:srgbClr val="A0A8B8"/>
                </a:solidFill>
                <a:latin typeface="Segoe UI"/>
              </a:defRPr>
            </a:pPr>
            <a:r>
              <a:t>Global = 69 個信號綜合數據</a:t>
            </a:r>
          </a:p>
          <a:p>
            <a:pPr>
              <a:spcAft>
                <a:spcPts val="400"/>
              </a:spcAft>
              <a:defRPr sz="600" b="0">
                <a:solidFill>
                  <a:srgbClr val="F0F0F0"/>
                </a:solidFill>
                <a:latin typeface="Segoe UI"/>
              </a:defRPr>
            </a:pPr>
          </a:p>
          <a:p>
            <a:pPr>
              <a:spcAft>
                <a:spcPts val="400"/>
              </a:spcAft>
              <a:defRPr sz="1200" b="0">
                <a:solidFill>
                  <a:srgbClr val="F0F0F0"/>
                </a:solidFill>
                <a:latin typeface="Segoe UI"/>
              </a:defRPr>
            </a:pPr>
            <a:r>
              <a:t>統計：P85 足夠 193 / Hybrid 258 / Global 1863</a:t>
            </a:r>
          </a:p>
          <a:p>
            <a:pPr>
              <a:spcAft>
                <a:spcPts val="400"/>
              </a:spcAft>
              <a:defRPr sz="1200" b="0">
                <a:solidFill>
                  <a:srgbClr val="FF5722"/>
                </a:solidFill>
                <a:latin typeface="Segoe UI"/>
              </a:defRPr>
            </a:pPr>
            <a:r>
              <a:t>⚠️ 大部分依賴 global fallback</a:t>
            </a:r>
          </a:p>
        </p:txBody>
      </p:sp>
      <p:sp>
        <p:nvSpPr>
          <p:cNvPr id="9" name="Rounded Rectangle 8"/>
          <p:cNvSpPr/>
          <p:nvPr/>
        </p:nvSpPr>
        <p:spPr>
          <a:xfrm>
            <a:off x="457200" y="4206240"/>
            <a:ext cx="11247120" cy="2377440"/>
          </a:xfrm>
          <a:prstGeom prst="roundRect">
            <a:avLst/>
          </a:prstGeom>
          <a:solidFill>
            <a:srgbClr val="1B2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297680"/>
            <a:ext cx="10881360" cy="2194560"/>
          </a:xfrm>
          <a:prstGeom prst="rect">
            <a:avLst/>
          </a:prstGeom>
          <a:noFill/>
        </p:spPr>
        <p:txBody>
          <a:bodyPr wrap="square">
            <a:spAutoFit/>
          </a:bodyPr>
          <a:lstStyle/>
          <a:p>
            <a:pPr>
              <a:spcAft>
                <a:spcPts val="400"/>
              </a:spcAft>
              <a:defRPr sz="1400" b="1">
                <a:solidFill>
                  <a:srgbClr val="4CAF50"/>
                </a:solidFill>
                <a:latin typeface="Segoe UI"/>
              </a:defRPr>
            </a:pPr>
            <a:r>
              <a:t>📝 實例演算：Signal 22200 / AUDCAD / L1 / CoP</a:t>
            </a:r>
          </a:p>
          <a:p>
            <a:pPr>
              <a:spcAft>
                <a:spcPts val="400"/>
              </a:spcAft>
              <a:defRPr sz="400" b="0">
                <a:solidFill>
                  <a:srgbClr val="F0F0F0"/>
                </a:solidFill>
                <a:latin typeface="Segoe UI"/>
              </a:defRPr>
            </a:pPr>
          </a:p>
          <a:p>
            <a:pPr>
              <a:spcAft>
                <a:spcPts val="400"/>
              </a:spcAft>
              <a:defRPr sz="1100" b="0">
                <a:solidFill>
                  <a:srgbClr val="F0F0F0"/>
                </a:solidFill>
                <a:latin typeface="Segoe UI"/>
              </a:defRPr>
            </a:pPr>
            <a:r>
              <a:t>盈利交易 Max Pips 排序（從小到大）：12, 18, 22, 25, 28, 30, 33, 35, 38, 40, 42, 45, 48, 50, 52, 55, 58, 60, 65, 70, 75, 80, 88, 95, 110, 125, 140, 165, 190, 220, 280, 350</a:t>
            </a:r>
          </a:p>
          <a:p>
            <a:pPr>
              <a:spcAft>
                <a:spcPts val="400"/>
              </a:spcAft>
              <a:defRPr sz="1100" b="0">
                <a:solidFill>
                  <a:srgbClr val="4CAF50"/>
                </a:solidFill>
                <a:latin typeface="Segoe UI"/>
              </a:defRPr>
            </a:pPr>
            <a:r>
              <a:t>n = 32 筆 ≥ 30，使用信號自身 percentiles</a:t>
            </a:r>
          </a:p>
          <a:p>
            <a:pPr>
              <a:spcAft>
                <a:spcPts val="400"/>
              </a:spcAft>
              <a:defRPr sz="1100" b="0">
                <a:solidFill>
                  <a:srgbClr val="F0F0F0"/>
                </a:solidFill>
                <a:latin typeface="Segoe UI"/>
              </a:defRPr>
            </a:pPr>
            <a:r>
              <a:t>P85 位置 = 32 × 0.85 = 27.2 → 取第 28 個值 = 165 pips</a:t>
            </a:r>
          </a:p>
          <a:p>
            <a:pPr>
              <a:spcAft>
                <a:spcPts val="400"/>
              </a:spcAft>
              <a:defRPr sz="1200" b="1">
                <a:solidFill>
                  <a:srgbClr val="E94560"/>
                </a:solidFill>
                <a:latin typeface="Segoe UI"/>
              </a:defRPr>
            </a:pPr>
            <a:r>
              <a:t>→ TP 建議 = 165 pips（85% 盈利交易曾到達此位）</a:t>
            </a:r>
          </a:p>
          <a:p>
            <a:pPr>
              <a:spcAft>
                <a:spcPts val="400"/>
              </a:spcAft>
              <a:defRPr sz="400" b="0">
                <a:solidFill>
                  <a:srgbClr val="F0F0F0"/>
                </a:solidFill>
                <a:latin typeface="Segoe UI"/>
              </a:defRPr>
            </a:pPr>
          </a:p>
          <a:p>
            <a:pPr>
              <a:spcAft>
                <a:spcPts val="400"/>
              </a:spcAft>
              <a:defRPr sz="1100" b="0">
                <a:solidFill>
                  <a:srgbClr val="F0F0F0"/>
                </a:solidFill>
                <a:latin typeface="Segoe UI"/>
              </a:defRPr>
            </a:pPr>
            <a:r>
              <a:t>所有交易 |Max Loss Pips| 排序：...  P85 = 95 pips</a:t>
            </a:r>
          </a:p>
          <a:p>
            <a:pPr>
              <a:spcAft>
                <a:spcPts val="400"/>
              </a:spcAft>
              <a:defRPr sz="1200" b="1">
                <a:solidFill>
                  <a:srgbClr val="E94560"/>
                </a:solidFill>
                <a:latin typeface="Segoe UI"/>
              </a:defRPr>
            </a:pPr>
            <a:r>
              <a:t>→ SL 建議 = 95 pips（85% 交易回撤不超過此值）</a:t>
            </a:r>
          </a:p>
          <a:p>
            <a:pPr>
              <a:spcAft>
                <a:spcPts val="400"/>
              </a:spcAft>
              <a:defRPr sz="1200" b="1">
                <a:solidFill>
                  <a:srgbClr val="4CAF50"/>
                </a:solidFill>
                <a:latin typeface="Segoe UI"/>
              </a:defRPr>
            </a:pPr>
            <a:r>
              <a:t>→ R:R = 165/95 = 1.74  |  盈虧比合理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馬丁偵測與風險分析</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74% 信號有馬丁特徵 — 這是最大的結構性風險</a:t>
            </a:r>
          </a:p>
        </p:txBody>
      </p:sp>
      <p:sp>
        <p:nvSpPr>
          <p:cNvPr id="5" name="Rounded Rectangle 4"/>
          <p:cNvSpPr/>
          <p:nvPr/>
        </p:nvSpPr>
        <p:spPr>
          <a:xfrm>
            <a:off x="365760" y="1280160"/>
            <a:ext cx="3657600" cy="30175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25880"/>
            <a:ext cx="3383280" cy="411480"/>
          </a:xfrm>
          <a:prstGeom prst="rect">
            <a:avLst/>
          </a:prstGeom>
          <a:noFill/>
        </p:spPr>
        <p:txBody>
          <a:bodyPr wrap="square">
            <a:spAutoFit/>
          </a:bodyPr>
          <a:lstStyle/>
          <a:p>
            <a:pPr algn="l">
              <a:defRPr sz="1300" b="1">
                <a:solidFill>
                  <a:srgbClr val="FF9800"/>
                </a:solidFill>
                <a:latin typeface="Segoe UI"/>
              </a:defRPr>
            </a:pPr>
            <a:r>
              <a:t>Classic Martin</a:t>
            </a:r>
            <a:br/>
            <a:r>
              <a:t>（經典馬丁）</a:t>
            </a:r>
          </a:p>
        </p:txBody>
      </p:sp>
      <p:sp>
        <p:nvSpPr>
          <p:cNvPr id="7" name="TextBox 6"/>
          <p:cNvSpPr txBox="1"/>
          <p:nvPr/>
        </p:nvSpPr>
        <p:spPr>
          <a:xfrm>
            <a:off x="502920" y="1783080"/>
            <a:ext cx="3383280" cy="2377440"/>
          </a:xfrm>
          <a:prstGeom prst="rect">
            <a:avLst/>
          </a:prstGeom>
          <a:noFill/>
        </p:spPr>
        <p:txBody>
          <a:bodyPr wrap="square">
            <a:spAutoFit/>
          </a:bodyPr>
          <a:lstStyle/>
          <a:p>
            <a:pPr>
              <a:spcAft>
                <a:spcPts val="400"/>
              </a:spcAft>
              <a:defRPr sz="1000" b="0">
                <a:solidFill>
                  <a:srgbClr val="A0A8B8"/>
                </a:solidFill>
                <a:latin typeface="Segoe UI"/>
              </a:defRPr>
            </a:pPr>
            <a:r>
              <a:t>條件：profit &gt; 0 且 pips &lt; 0</a:t>
            </a:r>
          </a:p>
          <a:p>
            <a:pPr>
              <a:spcAft>
                <a:spcPts val="400"/>
              </a:spcAft>
              <a:defRPr sz="400" b="0">
                <a:solidFill>
                  <a:srgbClr val="F0F0F0"/>
                </a:solidFill>
                <a:latin typeface="Segoe UI"/>
              </a:defRPr>
            </a:pPr>
          </a:p>
          <a:p>
            <a:pPr>
              <a:spcAft>
                <a:spcPts val="400"/>
              </a:spcAft>
              <a:defRPr sz="1000" b="0">
                <a:solidFill>
                  <a:srgbClr val="F0F0F0"/>
                </a:solidFill>
                <a:latin typeface="Segoe UI"/>
              </a:defRPr>
            </a:pPr>
            <a:r>
              <a:t>方向錯了但靠加倉拉平成本獲利</a:t>
            </a:r>
            <a:br/>
            <a:r>
              <a:t>盈利是假象，依賴越來越大的注碼</a:t>
            </a:r>
          </a:p>
          <a:p>
            <a:pPr>
              <a:spcAft>
                <a:spcPts val="400"/>
              </a:spcAft>
              <a:defRPr sz="600" b="0">
                <a:solidFill>
                  <a:srgbClr val="F0F0F0"/>
                </a:solidFill>
                <a:latin typeface="Segoe UI"/>
              </a:defRPr>
            </a:pPr>
          </a:p>
          <a:p>
            <a:pPr>
              <a:spcAft>
                <a:spcPts val="400"/>
              </a:spcAft>
              <a:defRPr sz="900" b="0">
                <a:solidFill>
                  <a:srgbClr val="A0A8B8"/>
                </a:solidFill>
                <a:latin typeface="Segoe UI"/>
              </a:defRPr>
            </a:pPr>
            <a:r>
              <a:t>例子：AUDCAD SELL: pips=-45 但 profit=$12</a:t>
            </a:r>
            <a:br/>
            <a:r>
              <a:t>→ 因為 L3 層 lots 大，少少反彈就賺</a:t>
            </a:r>
          </a:p>
        </p:txBody>
      </p:sp>
      <p:sp>
        <p:nvSpPr>
          <p:cNvPr id="8" name="Rounded Rectangle 7"/>
          <p:cNvSpPr/>
          <p:nvPr/>
        </p:nvSpPr>
        <p:spPr>
          <a:xfrm>
            <a:off x="4206240" y="1280160"/>
            <a:ext cx="3657600" cy="30175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325880"/>
            <a:ext cx="3383280" cy="411480"/>
          </a:xfrm>
          <a:prstGeom prst="rect">
            <a:avLst/>
          </a:prstGeom>
          <a:noFill/>
        </p:spPr>
        <p:txBody>
          <a:bodyPr wrap="square">
            <a:spAutoFit/>
          </a:bodyPr>
          <a:lstStyle/>
          <a:p>
            <a:pPr algn="l">
              <a:defRPr sz="1300" b="1">
                <a:solidFill>
                  <a:srgbClr val="FFC107"/>
                </a:solidFill>
                <a:latin typeface="Segoe UI"/>
              </a:defRPr>
            </a:pPr>
            <a:r>
              <a:t>Reverse Martin</a:t>
            </a:r>
            <a:br/>
            <a:r>
              <a:t>（反向馬丁）</a:t>
            </a:r>
          </a:p>
        </p:txBody>
      </p:sp>
      <p:sp>
        <p:nvSpPr>
          <p:cNvPr id="10" name="TextBox 9"/>
          <p:cNvSpPr txBox="1"/>
          <p:nvPr/>
        </p:nvSpPr>
        <p:spPr>
          <a:xfrm>
            <a:off x="4343400" y="1783080"/>
            <a:ext cx="3383280" cy="2377440"/>
          </a:xfrm>
          <a:prstGeom prst="rect">
            <a:avLst/>
          </a:prstGeom>
          <a:noFill/>
        </p:spPr>
        <p:txBody>
          <a:bodyPr wrap="square">
            <a:spAutoFit/>
          </a:bodyPr>
          <a:lstStyle/>
          <a:p>
            <a:pPr>
              <a:spcAft>
                <a:spcPts val="400"/>
              </a:spcAft>
              <a:defRPr sz="1000" b="0">
                <a:solidFill>
                  <a:srgbClr val="A0A8B8"/>
                </a:solidFill>
                <a:latin typeface="Segoe UI"/>
              </a:defRPr>
            </a:pPr>
            <a:r>
              <a:t>條件：pips &gt; 0 且 profit &lt; 0</a:t>
            </a:r>
          </a:p>
          <a:p>
            <a:pPr>
              <a:spcAft>
                <a:spcPts val="400"/>
              </a:spcAft>
              <a:defRPr sz="400" b="0">
                <a:solidFill>
                  <a:srgbClr val="F0F0F0"/>
                </a:solidFill>
                <a:latin typeface="Segoe UI"/>
              </a:defRPr>
            </a:pPr>
          </a:p>
          <a:p>
            <a:pPr>
              <a:spcAft>
                <a:spcPts val="400"/>
              </a:spcAft>
              <a:defRPr sz="1000" b="0">
                <a:solidFill>
                  <a:srgbClr val="F0F0F0"/>
                </a:solidFill>
                <a:latin typeface="Segoe UI"/>
              </a:defRPr>
            </a:pPr>
            <a:r>
              <a:t>方向對了但 swap/commission 吃掉利潤</a:t>
            </a:r>
            <a:br/>
            <a:r>
              <a:t>策略成本太高</a:t>
            </a:r>
          </a:p>
          <a:p>
            <a:pPr>
              <a:spcAft>
                <a:spcPts val="400"/>
              </a:spcAft>
              <a:defRPr sz="600" b="0">
                <a:solidFill>
                  <a:srgbClr val="F0F0F0"/>
                </a:solidFill>
                <a:latin typeface="Segoe UI"/>
              </a:defRPr>
            </a:pPr>
          </a:p>
          <a:p>
            <a:pPr>
              <a:spcAft>
                <a:spcPts val="400"/>
              </a:spcAft>
              <a:defRPr sz="900" b="0">
                <a:solidFill>
                  <a:srgbClr val="A0A8B8"/>
                </a:solidFill>
                <a:latin typeface="Segoe UI"/>
              </a:defRPr>
            </a:pPr>
            <a:r>
              <a:t>例子：EURCHF BUY: pips=+15 但 profit=-$3</a:t>
            </a:r>
            <a:br/>
            <a:r>
              <a:t>→ 持倉 5 天，swap 吃掉所有利潤</a:t>
            </a:r>
          </a:p>
        </p:txBody>
      </p:sp>
      <p:sp>
        <p:nvSpPr>
          <p:cNvPr id="11" name="Rounded Rectangle 10"/>
          <p:cNvSpPr/>
          <p:nvPr/>
        </p:nvSpPr>
        <p:spPr>
          <a:xfrm>
            <a:off x="8046720" y="1280160"/>
            <a:ext cx="3657600" cy="30175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325880"/>
            <a:ext cx="3383280" cy="411480"/>
          </a:xfrm>
          <a:prstGeom prst="rect">
            <a:avLst/>
          </a:prstGeom>
          <a:noFill/>
        </p:spPr>
        <p:txBody>
          <a:bodyPr wrap="square">
            <a:spAutoFit/>
          </a:bodyPr>
          <a:lstStyle/>
          <a:p>
            <a:pPr algn="l">
              <a:defRPr sz="1300" b="1">
                <a:solidFill>
                  <a:srgbClr val="FF5722"/>
                </a:solidFill>
                <a:latin typeface="Segoe UI"/>
              </a:defRPr>
            </a:pPr>
            <a:r>
              <a:t>Cost Killed</a:t>
            </a:r>
            <a:br/>
            <a:r>
              <a:t>（成本殺手）</a:t>
            </a:r>
          </a:p>
        </p:txBody>
      </p:sp>
      <p:sp>
        <p:nvSpPr>
          <p:cNvPr id="13" name="TextBox 12"/>
          <p:cNvSpPr txBox="1"/>
          <p:nvPr/>
        </p:nvSpPr>
        <p:spPr>
          <a:xfrm>
            <a:off x="8183880" y="1783080"/>
            <a:ext cx="3383280" cy="2377440"/>
          </a:xfrm>
          <a:prstGeom prst="rect">
            <a:avLst/>
          </a:prstGeom>
          <a:noFill/>
        </p:spPr>
        <p:txBody>
          <a:bodyPr wrap="square">
            <a:spAutoFit/>
          </a:bodyPr>
          <a:lstStyle/>
          <a:p>
            <a:pPr>
              <a:spcAft>
                <a:spcPts val="400"/>
              </a:spcAft>
              <a:defRPr sz="1000" b="0">
                <a:solidFill>
                  <a:srgbClr val="A0A8B8"/>
                </a:solidFill>
                <a:latin typeface="Segoe UI"/>
              </a:defRPr>
            </a:pPr>
            <a:r>
              <a:t>條件：gross_profit &gt; 0 且 net_profit &lt; 0</a:t>
            </a:r>
          </a:p>
          <a:p>
            <a:pPr>
              <a:spcAft>
                <a:spcPts val="400"/>
              </a:spcAft>
              <a:defRPr sz="400" b="0">
                <a:solidFill>
                  <a:srgbClr val="F0F0F0"/>
                </a:solidFill>
                <a:latin typeface="Segoe UI"/>
              </a:defRPr>
            </a:pPr>
          </a:p>
          <a:p>
            <a:pPr>
              <a:spcAft>
                <a:spcPts val="400"/>
              </a:spcAft>
              <a:defRPr sz="1000" b="0">
                <a:solidFill>
                  <a:srgbClr val="F0F0F0"/>
                </a:solidFill>
                <a:latin typeface="Segoe UI"/>
              </a:defRPr>
            </a:pPr>
            <a:r>
              <a:t>毛利正但成本（commission+swap）吃掉淨利</a:t>
            </a:r>
            <a:br/>
            <a:r>
              <a:t>手續費/隔夜息太高</a:t>
            </a:r>
          </a:p>
          <a:p>
            <a:pPr>
              <a:spcAft>
                <a:spcPts val="400"/>
              </a:spcAft>
              <a:defRPr sz="600" b="0">
                <a:solidFill>
                  <a:srgbClr val="F0F0F0"/>
                </a:solidFill>
                <a:latin typeface="Segoe UI"/>
              </a:defRPr>
            </a:pPr>
          </a:p>
          <a:p>
            <a:pPr>
              <a:spcAft>
                <a:spcPts val="400"/>
              </a:spcAft>
              <a:defRPr sz="900" b="0">
                <a:solidFill>
                  <a:srgbClr val="A0A8B8"/>
                </a:solidFill>
                <a:latin typeface="Segoe UI"/>
              </a:defRPr>
            </a:pPr>
            <a:r>
              <a:t>例子：XAUUSD BUY: gross=$8 但 net=-$2</a:t>
            </a:r>
            <a:br/>
            <a:r>
              <a:t>→ commission=$5 + swap=$5 吃掉</a:t>
            </a:r>
          </a:p>
        </p:txBody>
      </p:sp>
      <p:sp>
        <p:nvSpPr>
          <p:cNvPr id="14" name="Rounded Rectangle 13"/>
          <p:cNvSpPr/>
          <p:nvPr/>
        </p:nvSpPr>
        <p:spPr>
          <a:xfrm>
            <a:off x="365760" y="4480560"/>
            <a:ext cx="5486400" cy="2103120"/>
          </a:xfrm>
          <a:prstGeom prst="roundRect">
            <a:avLst/>
          </a:prstGeom>
          <a:solidFill>
            <a:srgbClr val="2A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572000"/>
            <a:ext cx="5120640" cy="1920240"/>
          </a:xfrm>
          <a:prstGeom prst="rect">
            <a:avLst/>
          </a:prstGeom>
          <a:noFill/>
        </p:spPr>
        <p:txBody>
          <a:bodyPr wrap="square">
            <a:spAutoFit/>
          </a:bodyPr>
          <a:lstStyle/>
          <a:p>
            <a:pPr>
              <a:spcAft>
                <a:spcPts val="400"/>
              </a:spcAft>
              <a:defRPr sz="1400" b="1">
                <a:solidFill>
                  <a:srgbClr val="FF5722"/>
                </a:solidFill>
                <a:latin typeface="Segoe UI"/>
              </a:defRPr>
            </a:pPr>
            <a:r>
              <a:t>⚠️ 馬丁風險統計（69 Signals）</a:t>
            </a:r>
          </a:p>
          <a:p>
            <a:pPr>
              <a:spcAft>
                <a:spcPts val="400"/>
              </a:spcAft>
              <a:defRPr sz="400" b="0">
                <a:solidFill>
                  <a:srgbClr val="F0F0F0"/>
                </a:solidFill>
                <a:latin typeface="Segoe UI"/>
              </a:defRPr>
            </a:pPr>
          </a:p>
          <a:p>
            <a:pPr>
              <a:spcAft>
                <a:spcPts val="400"/>
              </a:spcAft>
              <a:defRPr sz="1200" b="0">
                <a:solidFill>
                  <a:srgbClr val="F0F0F0"/>
                </a:solidFill>
                <a:latin typeface="Segoe UI"/>
              </a:defRPr>
            </a:pPr>
            <a:r>
              <a:t>• 51/69 個信號（74%）有馬丁特徵</a:t>
            </a:r>
          </a:p>
          <a:p>
            <a:pPr>
              <a:spcAft>
                <a:spcPts val="400"/>
              </a:spcAft>
              <a:defRPr sz="1200" b="0">
                <a:solidFill>
                  <a:srgbClr val="F0F0F0"/>
                </a:solidFill>
                <a:latin typeface="Segoe UI"/>
              </a:defRPr>
            </a:pPr>
            <a:r>
              <a:t>• 112 個 Classic Martin 貨幣對</a:t>
            </a:r>
          </a:p>
          <a:p>
            <a:pPr>
              <a:spcAft>
                <a:spcPts val="400"/>
              </a:spcAft>
              <a:defRPr sz="1200" b="0">
                <a:solidFill>
                  <a:srgbClr val="FF9800"/>
                </a:solidFill>
                <a:latin typeface="Segoe UI"/>
              </a:defRPr>
            </a:pPr>
            <a:r>
              <a:t>• L4+ 交易佔比越高 = 爆倉風險越大</a:t>
            </a:r>
          </a:p>
          <a:p>
            <a:pPr>
              <a:spcAft>
                <a:spcPts val="400"/>
              </a:spcAft>
              <a:defRPr sz="1200" b="0">
                <a:solidFill>
                  <a:srgbClr val="F0F0F0"/>
                </a:solidFill>
                <a:latin typeface="Segoe UI"/>
              </a:defRPr>
            </a:pPr>
            <a:r>
              <a:t>• L4+ 回歸率 ≥ 70% 先算「可接受」</a:t>
            </a:r>
          </a:p>
          <a:p>
            <a:pPr>
              <a:spcAft>
                <a:spcPts val="400"/>
              </a:spcAft>
              <a:defRPr sz="1200" b="0">
                <a:solidFill>
                  <a:srgbClr val="FF5722"/>
                </a:solidFill>
                <a:latin typeface="Segoe UI"/>
              </a:defRPr>
            </a:pPr>
            <a:r>
              <a:t>• 但 30% 失敗 = 巨額虧損</a:t>
            </a:r>
          </a:p>
        </p:txBody>
      </p:sp>
      <p:sp>
        <p:nvSpPr>
          <p:cNvPr id="16" name="Rounded Rectangle 15"/>
          <p:cNvSpPr/>
          <p:nvPr/>
        </p:nvSpPr>
        <p:spPr>
          <a:xfrm>
            <a:off x="6217920" y="4480560"/>
            <a:ext cx="5486400" cy="21031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572000"/>
            <a:ext cx="5120640" cy="1920240"/>
          </a:xfrm>
          <a:prstGeom prst="rect">
            <a:avLst/>
          </a:prstGeom>
          <a:noFill/>
        </p:spPr>
        <p:txBody>
          <a:bodyPr wrap="square">
            <a:spAutoFit/>
          </a:bodyPr>
          <a:lstStyle/>
          <a:p>
            <a:pPr>
              <a:spcAft>
                <a:spcPts val="400"/>
              </a:spcAft>
              <a:defRPr sz="1400" b="1">
                <a:solidFill>
                  <a:srgbClr val="4CAF50"/>
                </a:solidFill>
                <a:latin typeface="Segoe UI"/>
              </a:defRPr>
            </a:pPr>
            <a:r>
              <a:t>🛡️ 風險緩解措施</a:t>
            </a:r>
          </a:p>
          <a:p>
            <a:pPr>
              <a:spcAft>
                <a:spcPts val="400"/>
              </a:spcAft>
              <a:defRPr sz="400" b="0">
                <a:solidFill>
                  <a:srgbClr val="F0F0F0"/>
                </a:solidFill>
                <a:latin typeface="Segoe UI"/>
              </a:defRPr>
            </a:pPr>
          </a:p>
          <a:p>
            <a:pPr>
              <a:spcAft>
                <a:spcPts val="400"/>
              </a:spcAft>
              <a:defRPr sz="1200" b="0">
                <a:solidFill>
                  <a:srgbClr val="F0F0F0"/>
                </a:solidFill>
                <a:latin typeface="Segoe UI"/>
              </a:defRPr>
            </a:pPr>
            <a:r>
              <a:t>1. 優先 Copy L1-L2 交易（淺層安全）</a:t>
            </a:r>
          </a:p>
          <a:p>
            <a:pPr>
              <a:spcAft>
                <a:spcPts val="400"/>
              </a:spcAft>
              <a:defRPr sz="1200" b="0">
                <a:solidFill>
                  <a:srgbClr val="F0F0F0"/>
                </a:solidFill>
                <a:latin typeface="Segoe UI"/>
              </a:defRPr>
            </a:pPr>
            <a:r>
              <a:t>2. 設硬止損（P85 of Max Loss Pips）</a:t>
            </a:r>
          </a:p>
          <a:p>
            <a:pPr>
              <a:spcAft>
                <a:spcPts val="400"/>
              </a:spcAft>
              <a:defRPr sz="1200" b="0">
                <a:solidFill>
                  <a:srgbClr val="F0F0F0"/>
                </a:solidFill>
                <a:latin typeface="Segoe UI"/>
              </a:defRPr>
            </a:pPr>
            <a:r>
              <a:t>3. 用 Copy on Profit 策略（確認方向後跟）</a:t>
            </a:r>
          </a:p>
          <a:p>
            <a:pPr>
              <a:spcAft>
                <a:spcPts val="400"/>
              </a:spcAft>
              <a:defRPr sz="1200" b="0">
                <a:solidFill>
                  <a:srgbClr val="F0F0F0"/>
                </a:solidFill>
                <a:latin typeface="Segoe UI"/>
              </a:defRPr>
            </a:pPr>
            <a:r>
              <a:t>4. 限制單一信號投入資金比例</a:t>
            </a:r>
          </a:p>
          <a:p>
            <a:pPr>
              <a:spcAft>
                <a:spcPts val="400"/>
              </a:spcAft>
              <a:defRPr sz="1200" b="0">
                <a:solidFill>
                  <a:srgbClr val="F0F0F0"/>
                </a:solidFill>
                <a:latin typeface="Segoe UI"/>
              </a:defRPr>
            </a:pPr>
            <a:r>
              <a:t>5. 定期重新分析（市場環境變化）</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Copy Trade 決策流程</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400" b="0">
                <a:solidFill>
                  <a:srgbClr val="A0A8B8"/>
                </a:solidFill>
                <a:latin typeface="Segoe UI"/>
              </a:defRPr>
            </a:pPr>
            <a:r>
              <a:t>從分析到最終跟單建議的完整決策樹</a:t>
            </a:r>
          </a:p>
        </p:txBody>
      </p:sp>
      <p:sp>
        <p:nvSpPr>
          <p:cNvPr id="5" name="Rounded Rectangle 4"/>
          <p:cNvSpPr/>
          <p:nvPr/>
        </p:nvSpPr>
        <p:spPr>
          <a:xfrm>
            <a:off x="457200" y="1371600"/>
            <a:ext cx="2743200" cy="640080"/>
          </a:xfrm>
          <a:prstGeom prst="roundRect">
            <a:avLst/>
          </a:prstGeom>
          <a:solidFill>
            <a:srgbClr val="0F3D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開始：上傳 CSV + SET</a:t>
            </a:r>
          </a:p>
        </p:txBody>
      </p:sp>
      <p:sp>
        <p:nvSpPr>
          <p:cNvPr id="6" name="Rounded Rectangle 5"/>
          <p:cNvSpPr/>
          <p:nvPr/>
        </p:nvSpPr>
        <p:spPr>
          <a:xfrm>
            <a:off x="3657600" y="1371600"/>
            <a:ext cx="3200400" cy="64008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計算 DDE v3 Score</a:t>
            </a:r>
          </a:p>
        </p:txBody>
      </p:sp>
      <p:sp>
        <p:nvSpPr>
          <p:cNvPr id="7" name="Rounded Rectangle 6"/>
          <p:cNvSpPr/>
          <p:nvPr/>
        </p:nvSpPr>
        <p:spPr>
          <a:xfrm>
            <a:off x="7498079" y="1371600"/>
            <a:ext cx="4206240" cy="64008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Avg Score ≥ 80？</a:t>
            </a:r>
            <a:br/>
            <a:r>
              <a:t>⭐⭐⭐⭐ 信號</a:t>
            </a:r>
          </a:p>
        </p:txBody>
      </p:sp>
      <p:sp>
        <p:nvSpPr>
          <p:cNvPr id="8" name="Rounded Rectangle 7"/>
          <p:cNvSpPr/>
          <p:nvPr/>
        </p:nvSpPr>
        <p:spPr>
          <a:xfrm>
            <a:off x="457200" y="2560320"/>
            <a:ext cx="3200400" cy="640080"/>
          </a:xfrm>
          <a:prstGeom prst="round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檢查馬丁依賴度</a:t>
            </a:r>
          </a:p>
        </p:txBody>
      </p:sp>
      <p:sp>
        <p:nvSpPr>
          <p:cNvPr id="9" name="Rounded Rectangle 8"/>
          <p:cNvSpPr/>
          <p:nvPr/>
        </p:nvSpPr>
        <p:spPr>
          <a:xfrm>
            <a:off x="4114800" y="2560320"/>
            <a:ext cx="3200400" cy="64008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依賴 &lt; 30% AND 勝率 &gt; 60%?</a:t>
            </a:r>
          </a:p>
        </p:txBody>
      </p:sp>
      <p:sp>
        <p:nvSpPr>
          <p:cNvPr id="10" name="Rounded Rectangle 9"/>
          <p:cNvSpPr/>
          <p:nvPr/>
        </p:nvSpPr>
        <p:spPr>
          <a:xfrm>
            <a:off x="7772400" y="2560320"/>
            <a:ext cx="3931920" cy="640080"/>
          </a:xfrm>
          <a:prstGeom prst="round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Copy on Profit</a:t>
            </a:r>
            <a:br/>
            <a:r>
              <a:t>Wait = 最佳 CoP</a:t>
            </a:r>
          </a:p>
        </p:txBody>
      </p:sp>
      <p:sp>
        <p:nvSpPr>
          <p:cNvPr id="11" name="Rounded Rectangle 10"/>
          <p:cNvSpPr/>
          <p:nvPr/>
        </p:nvSpPr>
        <p:spPr>
          <a:xfrm>
            <a:off x="457200" y="3749039"/>
            <a:ext cx="3200400" cy="64008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依賴 ≥ 30% 有 CoL 數據？</a:t>
            </a:r>
          </a:p>
        </p:txBody>
      </p:sp>
      <p:sp>
        <p:nvSpPr>
          <p:cNvPr id="12" name="Rounded Rectangle 11"/>
          <p:cNvSpPr/>
          <p:nvPr/>
        </p:nvSpPr>
        <p:spPr>
          <a:xfrm>
            <a:off x="4114800" y="3749039"/>
            <a:ext cx="3200400" cy="640080"/>
          </a:xfrm>
          <a:prstGeom prst="round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Copy on Lose</a:t>
            </a:r>
            <a:br/>
            <a:r>
              <a:t>Wait = 最佳 CoL</a:t>
            </a:r>
          </a:p>
        </p:txBody>
      </p:sp>
      <p:sp>
        <p:nvSpPr>
          <p:cNvPr id="13" name="Rounded Rectangle 12"/>
          <p:cNvSpPr/>
          <p:nvPr/>
        </p:nvSpPr>
        <p:spPr>
          <a:xfrm>
            <a:off x="7772400" y="3749039"/>
            <a:ext cx="3931920" cy="640080"/>
          </a:xfrm>
          <a:prstGeom prst="round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0F0F0"/>
                </a:solidFill>
                <a:latin typeface="Segoe UI"/>
              </a:defRPr>
            </a:pPr>
            <a:r>
              <a:t>❌ 不建議 Copy</a:t>
            </a:r>
            <a:br/>
            <a:r>
              <a:t>期望值 &lt; 0.1R</a:t>
            </a:r>
          </a:p>
        </p:txBody>
      </p:sp>
      <p:sp>
        <p:nvSpPr>
          <p:cNvPr id="14" name="TextBox 13"/>
          <p:cNvSpPr txBox="1"/>
          <p:nvPr/>
        </p:nvSpPr>
        <p:spPr>
          <a:xfrm>
            <a:off x="3200400" y="1554480"/>
            <a:ext cx="457200" cy="274320"/>
          </a:xfrm>
          <a:prstGeom prst="rect">
            <a:avLst/>
          </a:prstGeom>
          <a:noFill/>
        </p:spPr>
        <p:txBody>
          <a:bodyPr wrap="square">
            <a:spAutoFit/>
          </a:bodyPr>
          <a:lstStyle/>
          <a:p>
            <a:pPr algn="ctr">
              <a:defRPr sz="1800" b="0">
                <a:solidFill>
                  <a:srgbClr val="A0A8B8"/>
                </a:solidFill>
                <a:latin typeface="Segoe UI"/>
              </a:defRPr>
            </a:pPr>
            <a:r>
              <a:t>→</a:t>
            </a:r>
          </a:p>
        </p:txBody>
      </p:sp>
      <p:sp>
        <p:nvSpPr>
          <p:cNvPr id="15" name="TextBox 14"/>
          <p:cNvSpPr txBox="1"/>
          <p:nvPr/>
        </p:nvSpPr>
        <p:spPr>
          <a:xfrm>
            <a:off x="7040880" y="1554480"/>
            <a:ext cx="457200" cy="274320"/>
          </a:xfrm>
          <a:prstGeom prst="rect">
            <a:avLst/>
          </a:prstGeom>
          <a:noFill/>
        </p:spPr>
        <p:txBody>
          <a:bodyPr wrap="square">
            <a:spAutoFit/>
          </a:bodyPr>
          <a:lstStyle/>
          <a:p>
            <a:pPr algn="ctr">
              <a:defRPr sz="1800" b="0">
                <a:solidFill>
                  <a:srgbClr val="A0A8B8"/>
                </a:solidFill>
                <a:latin typeface="Segoe UI"/>
              </a:defRPr>
            </a:pPr>
            <a:r>
              <a:t>→</a:t>
            </a:r>
          </a:p>
        </p:txBody>
      </p:sp>
      <p:sp>
        <p:nvSpPr>
          <p:cNvPr id="16" name="TextBox 15"/>
          <p:cNvSpPr txBox="1"/>
          <p:nvPr/>
        </p:nvSpPr>
        <p:spPr>
          <a:xfrm>
            <a:off x="2011680" y="2011680"/>
            <a:ext cx="274320" cy="457200"/>
          </a:xfrm>
          <a:prstGeom prst="rect">
            <a:avLst/>
          </a:prstGeom>
          <a:noFill/>
        </p:spPr>
        <p:txBody>
          <a:bodyPr wrap="square">
            <a:spAutoFit/>
          </a:bodyPr>
          <a:lstStyle/>
          <a:p>
            <a:pPr algn="ctr">
              <a:defRPr sz="1800" b="0">
                <a:solidFill>
                  <a:srgbClr val="A0A8B8"/>
                </a:solidFill>
                <a:latin typeface="Segoe UI"/>
              </a:defRPr>
            </a:pPr>
            <a:r>
              <a:t>↓</a:t>
            </a:r>
          </a:p>
        </p:txBody>
      </p:sp>
      <p:sp>
        <p:nvSpPr>
          <p:cNvPr id="17" name="TextBox 16"/>
          <p:cNvSpPr txBox="1"/>
          <p:nvPr/>
        </p:nvSpPr>
        <p:spPr>
          <a:xfrm>
            <a:off x="5669280" y="2011680"/>
            <a:ext cx="274320" cy="457200"/>
          </a:xfrm>
          <a:prstGeom prst="rect">
            <a:avLst/>
          </a:prstGeom>
          <a:noFill/>
        </p:spPr>
        <p:txBody>
          <a:bodyPr wrap="square">
            <a:spAutoFit/>
          </a:bodyPr>
          <a:lstStyle/>
          <a:p>
            <a:pPr algn="ctr">
              <a:defRPr sz="1000" b="0">
                <a:solidFill>
                  <a:srgbClr val="A0A8B8"/>
                </a:solidFill>
                <a:latin typeface="Segoe UI"/>
              </a:defRPr>
            </a:pPr>
            <a:r>
              <a:t>↓ Yes    ↓ No</a:t>
            </a:r>
          </a:p>
        </p:txBody>
      </p:sp>
      <p:sp>
        <p:nvSpPr>
          <p:cNvPr id="18" name="TextBox 17"/>
          <p:cNvSpPr txBox="1"/>
          <p:nvPr/>
        </p:nvSpPr>
        <p:spPr>
          <a:xfrm>
            <a:off x="2011680" y="3200400"/>
            <a:ext cx="274320" cy="457200"/>
          </a:xfrm>
          <a:prstGeom prst="rect">
            <a:avLst/>
          </a:prstGeom>
          <a:noFill/>
        </p:spPr>
        <p:txBody>
          <a:bodyPr wrap="square">
            <a:spAutoFit/>
          </a:bodyPr>
          <a:lstStyle/>
          <a:p>
            <a:pPr algn="ctr">
              <a:defRPr sz="1800" b="0">
                <a:solidFill>
                  <a:srgbClr val="A0A8B8"/>
                </a:solidFill>
                <a:latin typeface="Segoe UI"/>
              </a:defRPr>
            </a:pPr>
            <a:r>
              <a:t>↓</a:t>
            </a:r>
          </a:p>
        </p:txBody>
      </p:sp>
      <p:sp>
        <p:nvSpPr>
          <p:cNvPr id="19" name="TextBox 18"/>
          <p:cNvSpPr txBox="1"/>
          <p:nvPr/>
        </p:nvSpPr>
        <p:spPr>
          <a:xfrm>
            <a:off x="5669280" y="3200400"/>
            <a:ext cx="274320" cy="457200"/>
          </a:xfrm>
          <a:prstGeom prst="rect">
            <a:avLst/>
          </a:prstGeom>
          <a:noFill/>
        </p:spPr>
        <p:txBody>
          <a:bodyPr wrap="square">
            <a:spAutoFit/>
          </a:bodyPr>
          <a:lstStyle/>
          <a:p>
            <a:pPr algn="ctr">
              <a:defRPr sz="1000" b="0">
                <a:solidFill>
                  <a:srgbClr val="A0A8B8"/>
                </a:solidFill>
                <a:latin typeface="Segoe UI"/>
              </a:defRPr>
            </a:pPr>
            <a:r>
              <a:t>↓ Yes    ↓ No</a:t>
            </a:r>
          </a:p>
        </p:txBody>
      </p:sp>
      <p:sp>
        <p:nvSpPr>
          <p:cNvPr id="20" name="Rounded Rectangle 19"/>
          <p:cNvSpPr/>
          <p:nvPr/>
        </p:nvSpPr>
        <p:spPr>
          <a:xfrm>
            <a:off x="457200" y="4846320"/>
            <a:ext cx="11247120" cy="17373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937760"/>
            <a:ext cx="10881360" cy="1554480"/>
          </a:xfrm>
          <a:prstGeom prst="rect">
            <a:avLst/>
          </a:prstGeom>
          <a:noFill/>
        </p:spPr>
        <p:txBody>
          <a:bodyPr wrap="square">
            <a:spAutoFit/>
          </a:bodyPr>
          <a:lstStyle/>
          <a:p>
            <a:pPr>
              <a:spcAft>
                <a:spcPts val="400"/>
              </a:spcAft>
              <a:defRPr sz="1400" b="1">
                <a:solidFill>
                  <a:srgbClr val="FFC107"/>
                </a:solidFill>
                <a:latin typeface="Segoe UI"/>
              </a:defRPr>
            </a:pPr>
            <a:r>
              <a:t>信心度分級：</a:t>
            </a:r>
          </a:p>
          <a:p>
            <a:pPr>
              <a:spcAft>
                <a:spcPts val="400"/>
              </a:spcAft>
              <a:defRPr sz="400" b="0">
                <a:solidFill>
                  <a:srgbClr val="F0F0F0"/>
                </a:solidFill>
                <a:latin typeface="Segoe UI"/>
              </a:defRPr>
            </a:pPr>
          </a:p>
          <a:p>
            <a:pPr>
              <a:spcAft>
                <a:spcPts val="400"/>
              </a:spcAft>
              <a:defRPr sz="1200" b="0">
                <a:solidFill>
                  <a:srgbClr val="4CAF50"/>
                </a:solidFill>
                <a:latin typeface="Segoe UI"/>
              </a:defRPr>
            </a:pPr>
            <a:r>
              <a:t>🟢 高信心 — 期望值 &gt; 0.5R + 馬丁依賴 &lt; 20% + 勝率 &gt; 80%  →  可以放心 Copy，但永遠設止損</a:t>
            </a:r>
          </a:p>
          <a:p>
            <a:pPr>
              <a:spcAft>
                <a:spcPts val="400"/>
              </a:spcAft>
              <a:defRPr sz="1200" b="0">
                <a:solidFill>
                  <a:srgbClr val="FFC107"/>
                </a:solidFill>
                <a:latin typeface="Segoe UI"/>
              </a:defRPr>
            </a:pPr>
            <a:r>
              <a:t>🟡 中信心 — 介於高與低之間  →  可以 Copy 但要嚴格控制倉位，定期檢討</a:t>
            </a:r>
          </a:p>
          <a:p>
            <a:pPr>
              <a:spcAft>
                <a:spcPts val="400"/>
              </a:spcAft>
              <a:defRPr sz="1200" b="0">
                <a:solidFill>
                  <a:srgbClr val="FF5722"/>
                </a:solidFill>
                <a:latin typeface="Segoe UI"/>
              </a:defRPr>
            </a:pPr>
            <a:r>
              <a:t>🔴 低信心 — 期望值 &lt; 0.1R OR 馬丁依賴 &gt; 70%  →  不建議 Copy，或只用極小倉位試水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spAutoFit/>
          </a:bodyPr>
          <a:lstStyle/>
          <a:p>
            <a:pPr algn="l">
              <a:defRPr sz="2800" b="1">
                <a:solidFill>
                  <a:srgbClr val="E94560"/>
                </a:solidFill>
                <a:latin typeface="Segoe UI"/>
              </a:defRPr>
            </a:pPr>
            <a:r>
              <a:t>📖 術語對照表與快速參考</a:t>
            </a:r>
          </a:p>
        </p:txBody>
      </p:sp>
      <p:sp>
        <p:nvSpPr>
          <p:cNvPr id="4" name="Rounded Rectangle 3"/>
          <p:cNvSpPr/>
          <p:nvPr/>
        </p:nvSpPr>
        <p:spPr>
          <a:xfrm>
            <a:off x="365760" y="1188720"/>
            <a:ext cx="566928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5303520" cy="5212080"/>
          </a:xfrm>
          <a:prstGeom prst="rect">
            <a:avLst/>
          </a:prstGeom>
          <a:noFill/>
        </p:spPr>
        <p:txBody>
          <a:bodyPr wrap="square">
            <a:spAutoFit/>
          </a:bodyPr>
          <a:lstStyle/>
          <a:p>
            <a:pPr>
              <a:spcAft>
                <a:spcPts val="400"/>
              </a:spcAft>
              <a:defRPr sz="1600" b="1">
                <a:solidFill>
                  <a:srgbClr val="E94560"/>
                </a:solidFill>
                <a:latin typeface="Segoe UI"/>
              </a:defRPr>
            </a:pPr>
            <a:r>
              <a:t>🔤 核心術語</a:t>
            </a:r>
          </a:p>
          <a:p>
            <a:pPr>
              <a:spcAft>
                <a:spcPts val="400"/>
              </a:spcAft>
              <a:defRPr sz="400" b="0">
                <a:solidFill>
                  <a:srgbClr val="F0F0F0"/>
                </a:solidFill>
                <a:latin typeface="Segoe UI"/>
              </a:defRPr>
            </a:pPr>
          </a:p>
          <a:p>
            <a:pPr>
              <a:spcAft>
                <a:spcPts val="400"/>
              </a:spcAft>
              <a:defRPr sz="1200" b="0">
                <a:solidFill>
                  <a:srgbClr val="F0F0F0"/>
                </a:solidFill>
                <a:latin typeface="Segoe UI"/>
              </a:defRPr>
            </a:pPr>
            <a:r>
              <a:t>DDE — Drawdown Efficiency 回撤效率</a:t>
            </a:r>
          </a:p>
          <a:p>
            <a:pPr>
              <a:spcAft>
                <a:spcPts val="400"/>
              </a:spcAft>
              <a:defRPr sz="1200" b="0">
                <a:solidFill>
                  <a:srgbClr val="F0F0F0"/>
                </a:solidFill>
                <a:latin typeface="Segoe UI"/>
              </a:defRPr>
            </a:pPr>
            <a:r>
              <a:t>CoP — Copy on Profit 跟單盈利（確認方向後進場）</a:t>
            </a:r>
          </a:p>
          <a:p>
            <a:pPr>
              <a:spcAft>
                <a:spcPts val="400"/>
              </a:spcAft>
              <a:defRPr sz="1200" b="0">
                <a:solidFill>
                  <a:srgbClr val="F0F0F0"/>
                </a:solidFill>
                <a:latin typeface="Segoe UI"/>
              </a:defRPr>
            </a:pPr>
            <a:r>
              <a:t>CoL — Copy on Lose 跟單虧損（博反彈進場）</a:t>
            </a:r>
          </a:p>
          <a:p>
            <a:pPr>
              <a:spcAft>
                <a:spcPts val="400"/>
              </a:spcAft>
              <a:defRPr sz="1200" b="0">
                <a:solidFill>
                  <a:srgbClr val="F0F0F0"/>
                </a:solidFill>
                <a:latin typeface="Segoe UI"/>
              </a:defRPr>
            </a:pPr>
            <a:r>
              <a:t>PF — Profit Factor 盈利因子</a:t>
            </a:r>
          </a:p>
          <a:p>
            <a:pPr>
              <a:spcAft>
                <a:spcPts val="400"/>
              </a:spcAft>
              <a:defRPr sz="1200" b="0">
                <a:solidFill>
                  <a:srgbClr val="F0F0F0"/>
                </a:solidFill>
                <a:latin typeface="Segoe UI"/>
              </a:defRPr>
            </a:pPr>
            <a:r>
              <a:t>WR — Win Rate 勝率</a:t>
            </a:r>
          </a:p>
          <a:p>
            <a:pPr>
              <a:spcAft>
                <a:spcPts val="400"/>
              </a:spcAft>
              <a:defRPr sz="1200" b="0">
                <a:solidFill>
                  <a:srgbClr val="F0F0F0"/>
                </a:solidFill>
                <a:latin typeface="Segoe UI"/>
              </a:defRPr>
            </a:pPr>
            <a:r>
              <a:t>LV — Layer 層數（馬丁加倉層級）</a:t>
            </a:r>
          </a:p>
          <a:p>
            <a:pPr>
              <a:spcAft>
                <a:spcPts val="400"/>
              </a:spcAft>
              <a:defRPr sz="1200" b="0">
                <a:solidFill>
                  <a:srgbClr val="F0F0F0"/>
                </a:solidFill>
                <a:latin typeface="Segoe UI"/>
              </a:defRPr>
            </a:pPr>
            <a:r>
              <a:t>MFE — Maximum Favorable Excursion 最大有利偏移</a:t>
            </a:r>
          </a:p>
          <a:p>
            <a:pPr>
              <a:spcAft>
                <a:spcPts val="400"/>
              </a:spcAft>
              <a:defRPr sz="1200" b="0">
                <a:solidFill>
                  <a:srgbClr val="F0F0F0"/>
                </a:solidFill>
                <a:latin typeface="Segoe UI"/>
              </a:defRPr>
            </a:pPr>
            <a:r>
              <a:t>MAE — Maximum Adverse Excursion 最大不利偏移</a:t>
            </a:r>
          </a:p>
          <a:p>
            <a:pPr>
              <a:spcAft>
                <a:spcPts val="400"/>
              </a:spcAft>
              <a:defRPr sz="1200" b="0">
                <a:solidFill>
                  <a:srgbClr val="F0F0F0"/>
                </a:solidFill>
                <a:latin typeface="Segoe UI"/>
              </a:defRPr>
            </a:pPr>
            <a:r>
              <a:t>EV — Expected Value 期望值</a:t>
            </a:r>
          </a:p>
          <a:p>
            <a:pPr>
              <a:spcAft>
                <a:spcPts val="400"/>
              </a:spcAft>
              <a:defRPr sz="1200" b="0">
                <a:solidFill>
                  <a:srgbClr val="F0F0F0"/>
                </a:solidFill>
                <a:latin typeface="Segoe UI"/>
              </a:defRPr>
            </a:pPr>
            <a:r>
              <a:t>ATR — Average True Range 平均真實波幅</a:t>
            </a:r>
          </a:p>
          <a:p>
            <a:pPr>
              <a:spcAft>
                <a:spcPts val="400"/>
              </a:spcAft>
              <a:defRPr sz="1200" b="0">
                <a:solidFill>
                  <a:srgbClr val="F0F0F0"/>
                </a:solidFill>
                <a:latin typeface="Segoe UI"/>
              </a:defRPr>
            </a:pPr>
            <a:r>
              <a:t>P85 — 第 85 百分位數</a:t>
            </a:r>
          </a:p>
          <a:p>
            <a:pPr>
              <a:spcAft>
                <a:spcPts val="400"/>
              </a:spcAft>
              <a:defRPr sz="1200" b="0">
                <a:solidFill>
                  <a:srgbClr val="F0F0F0"/>
                </a:solidFill>
                <a:latin typeface="Segoe UI"/>
              </a:defRPr>
            </a:pPr>
            <a:r>
              <a:t>SET — EA 策略設定檔（key=value 格式）</a:t>
            </a:r>
          </a:p>
          <a:p>
            <a:pPr>
              <a:spcAft>
                <a:spcPts val="400"/>
              </a:spcAft>
              <a:defRPr sz="1200" b="0">
                <a:solidFill>
                  <a:srgbClr val="F0F0F0"/>
                </a:solidFill>
                <a:latin typeface="Segoe UI"/>
              </a:defRPr>
            </a:pPr>
            <a:r>
              <a:t>DD — Drawdown 回撤</a:t>
            </a:r>
          </a:p>
          <a:p>
            <a:pPr>
              <a:spcAft>
                <a:spcPts val="400"/>
              </a:spcAft>
              <a:defRPr sz="1200" b="0">
                <a:solidFill>
                  <a:srgbClr val="F0F0F0"/>
                </a:solidFill>
                <a:latin typeface="Segoe UI"/>
              </a:defRPr>
            </a:pPr>
            <a:r>
              <a:t>R:R — Reward:Risk Ratio 盈虧比</a:t>
            </a:r>
          </a:p>
          <a:p>
            <a:pPr>
              <a:spcAft>
                <a:spcPts val="400"/>
              </a:spcAft>
              <a:defRPr sz="1200" b="0">
                <a:solidFill>
                  <a:srgbClr val="F0F0F0"/>
                </a:solidFill>
                <a:latin typeface="Segoe UI"/>
              </a:defRPr>
            </a:pPr>
            <a:r>
              <a:t>Kelly — Kelly Criterion 凱利公式（最優注碼比例）</a:t>
            </a:r>
          </a:p>
        </p:txBody>
      </p:sp>
      <p:sp>
        <p:nvSpPr>
          <p:cNvPr id="6" name="Rounded Rectangle 5"/>
          <p:cNvSpPr/>
          <p:nvPr/>
        </p:nvSpPr>
        <p:spPr>
          <a:xfrm>
            <a:off x="6217920" y="1188720"/>
            <a:ext cx="5486400" cy="53949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280160"/>
            <a:ext cx="5120640" cy="5212080"/>
          </a:xfrm>
          <a:prstGeom prst="rect">
            <a:avLst/>
          </a:prstGeom>
          <a:noFill/>
        </p:spPr>
        <p:txBody>
          <a:bodyPr wrap="square">
            <a:spAutoFit/>
          </a:bodyPr>
          <a:lstStyle/>
          <a:p>
            <a:pPr>
              <a:spcAft>
                <a:spcPts val="400"/>
              </a:spcAft>
              <a:defRPr sz="1600" b="1">
                <a:solidFill>
                  <a:srgbClr val="E94560"/>
                </a:solidFill>
                <a:latin typeface="Segoe UI"/>
              </a:defRPr>
            </a:pPr>
            <a:r>
              <a:t>⚡ 快速操作指南</a:t>
            </a:r>
          </a:p>
          <a:p>
            <a:pPr>
              <a:spcAft>
                <a:spcPts val="400"/>
              </a:spcAft>
              <a:defRPr sz="400" b="0">
                <a:solidFill>
                  <a:srgbClr val="F0F0F0"/>
                </a:solidFill>
                <a:latin typeface="Segoe UI"/>
              </a:defRPr>
            </a:pPr>
          </a:p>
          <a:p>
            <a:pPr>
              <a:spcAft>
                <a:spcPts val="400"/>
              </a:spcAft>
              <a:defRPr sz="1300" b="1">
                <a:solidFill>
                  <a:srgbClr val="FFC107"/>
                </a:solidFill>
                <a:latin typeface="Segoe UI"/>
              </a:defRPr>
            </a:pPr>
            <a:r>
              <a:t>前端（瀏覽器）：</a:t>
            </a:r>
          </a:p>
          <a:p>
            <a:pPr>
              <a:spcAft>
                <a:spcPts val="400"/>
              </a:spcAft>
              <a:defRPr sz="1100" b="0">
                <a:solidFill>
                  <a:srgbClr val="4CAF50"/>
                </a:solidFill>
                <a:latin typeface="Segoe UI"/>
              </a:defRPr>
            </a:pPr>
            <a:r>
              <a:t>URL: https://alvin-forex.github.io/trade-strategy-analyzer/</a:t>
            </a:r>
          </a:p>
          <a:p>
            <a:pPr>
              <a:spcAft>
                <a:spcPts val="400"/>
              </a:spcAft>
              <a:defRPr sz="1100" b="0">
                <a:solidFill>
                  <a:srgbClr val="A0A8B8"/>
                </a:solidFill>
                <a:latin typeface="Segoe UI"/>
              </a:defRPr>
            </a:pPr>
            <a:r>
              <a:t>或本地打開 docs/index.html</a:t>
            </a:r>
          </a:p>
          <a:p>
            <a:pPr>
              <a:spcAft>
                <a:spcPts val="400"/>
              </a:spcAft>
              <a:defRPr sz="600" b="0">
                <a:solidFill>
                  <a:srgbClr val="F0F0F0"/>
                </a:solidFill>
                <a:latin typeface="Segoe UI"/>
              </a:defRPr>
            </a:pPr>
          </a:p>
          <a:p>
            <a:pPr>
              <a:spcAft>
                <a:spcPts val="400"/>
              </a:spcAft>
              <a:defRPr sz="1300" b="1">
                <a:solidFill>
                  <a:srgbClr val="FFC107"/>
                </a:solidFill>
                <a:latin typeface="Segoe UI"/>
              </a:defRPr>
            </a:pPr>
            <a:r>
              <a:t>後端分析（終端）：</a:t>
            </a:r>
          </a:p>
          <a:p>
            <a:pPr>
              <a:spcAft>
                <a:spcPts val="400"/>
              </a:spcAft>
              <a:defRPr sz="1100" b="0">
                <a:solidFill>
                  <a:srgbClr val="F0F0F0"/>
                </a:solidFill>
                <a:latin typeface="Segoe UI"/>
              </a:defRPr>
            </a:pPr>
            <a:r>
              <a:t># 單一信號分析</a:t>
            </a:r>
          </a:p>
          <a:p>
            <a:pPr>
              <a:spcAft>
                <a:spcPts val="400"/>
              </a:spcAft>
              <a:defRPr sz="1000" b="0">
                <a:solidFill>
                  <a:srgbClr val="4CAF50"/>
                </a:solidFill>
                <a:latin typeface="Segoe UI"/>
              </a:defRPr>
            </a:pPr>
            <a:r>
              <a:t>python3 generate_all_levels_from_csv.py \</a:t>
            </a:r>
          </a:p>
          <a:p>
            <a:pPr>
              <a:spcAft>
                <a:spcPts val="400"/>
              </a:spcAft>
              <a:defRPr sz="1000" b="0">
                <a:solidFill>
                  <a:srgbClr val="4CAF50"/>
                </a:solidFill>
                <a:latin typeface="Segoe UI"/>
              </a:defRPr>
            </a:pPr>
            <a:r>
              <a:t>  --signal {ID} --csv samples/{ID}.csv</a:t>
            </a:r>
          </a:p>
          <a:p>
            <a:pPr>
              <a:spcAft>
                <a:spcPts val="400"/>
              </a:spcAft>
              <a:defRPr sz="400" b="0">
                <a:solidFill>
                  <a:srgbClr val="F0F0F0"/>
                </a:solidFill>
                <a:latin typeface="Segoe UI"/>
              </a:defRPr>
            </a:pPr>
          </a:p>
          <a:p>
            <a:pPr>
              <a:spcAft>
                <a:spcPts val="400"/>
              </a:spcAft>
              <a:defRPr sz="1100" b="0">
                <a:solidFill>
                  <a:srgbClr val="F0F0F0"/>
                </a:solidFill>
                <a:latin typeface="Segoe UI"/>
              </a:defRPr>
            </a:pPr>
            <a:r>
              <a:t># 生成排名總表</a:t>
            </a:r>
          </a:p>
          <a:p>
            <a:pPr>
              <a:spcAft>
                <a:spcPts val="400"/>
              </a:spcAft>
              <a:defRPr sz="1000" b="0">
                <a:solidFill>
                  <a:srgbClr val="4CAF50"/>
                </a:solidFill>
                <a:latin typeface="Segoe UI"/>
              </a:defRPr>
            </a:pPr>
            <a:r>
              <a:t>python3 generate_signal_ranking.py</a:t>
            </a:r>
          </a:p>
          <a:p>
            <a:pPr>
              <a:spcAft>
                <a:spcPts val="400"/>
              </a:spcAft>
              <a:defRPr sz="400" b="0">
                <a:solidFill>
                  <a:srgbClr val="F0F0F0"/>
                </a:solidFill>
                <a:latin typeface="Segoe UI"/>
              </a:defRPr>
            </a:pPr>
          </a:p>
          <a:p>
            <a:pPr>
              <a:spcAft>
                <a:spcPts val="400"/>
              </a:spcAft>
              <a:defRPr sz="1100" b="0">
                <a:solidFill>
                  <a:srgbClr val="F0F0F0"/>
                </a:solidFill>
                <a:latin typeface="Segoe UI"/>
              </a:defRPr>
            </a:pPr>
            <a:r>
              <a:t># 批量分析所有信號</a:t>
            </a:r>
          </a:p>
          <a:p>
            <a:pPr>
              <a:spcAft>
                <a:spcPts val="400"/>
              </a:spcAft>
              <a:defRPr sz="1000" b="0">
                <a:solidFill>
                  <a:srgbClr val="4CAF50"/>
                </a:solidFill>
                <a:latin typeface="Segoe UI"/>
              </a:defRPr>
            </a:pPr>
            <a:r>
              <a:t>python3 batch_detailed_all.py</a:t>
            </a:r>
          </a:p>
          <a:p>
            <a:pPr>
              <a:spcAft>
                <a:spcPts val="400"/>
              </a:spcAft>
              <a:defRPr sz="400" b="0">
                <a:solidFill>
                  <a:srgbClr val="F0F0F0"/>
                </a:solidFill>
                <a:latin typeface="Segoe UI"/>
              </a:defRPr>
            </a:pPr>
          </a:p>
          <a:p>
            <a:pPr>
              <a:spcAft>
                <a:spcPts val="400"/>
              </a:spcAft>
              <a:defRPr sz="1100" b="0">
                <a:solidFill>
                  <a:srgbClr val="F0F0F0"/>
                </a:solidFill>
                <a:latin typeface="Segoe UI"/>
              </a:defRPr>
            </a:pPr>
            <a:r>
              <a:t># 馬丁剖析 V3</a:t>
            </a:r>
          </a:p>
          <a:p>
            <a:pPr>
              <a:spcAft>
                <a:spcPts val="400"/>
              </a:spcAft>
              <a:defRPr sz="1000" b="0">
                <a:solidFill>
                  <a:srgbClr val="4CAF50"/>
                </a:solidFill>
                <a:latin typeface="Segoe UI"/>
              </a:defRPr>
            </a:pPr>
            <a:r>
              <a:t>python3 generate_martin_autopsy_v3.py {csv}</a:t>
            </a:r>
          </a:p>
          <a:p>
            <a:pPr>
              <a:spcAft>
                <a:spcPts val="400"/>
              </a:spcAft>
              <a:defRPr sz="400" b="0">
                <a:solidFill>
                  <a:srgbClr val="F0F0F0"/>
                </a:solidFill>
                <a:latin typeface="Segoe UI"/>
              </a:defRPr>
            </a:pPr>
          </a:p>
          <a:p>
            <a:pPr>
              <a:spcAft>
                <a:spcPts val="400"/>
              </a:spcAft>
              <a:defRPr sz="1300" b="1">
                <a:solidFill>
                  <a:srgbClr val="FFC107"/>
                </a:solidFill>
                <a:latin typeface="Segoe UI"/>
              </a:defRPr>
            </a:pPr>
            <a:r>
              <a:t># Skill 快捷指令</a:t>
            </a:r>
          </a:p>
          <a:p>
            <a:pPr>
              <a:spcAft>
                <a:spcPts val="400"/>
              </a:spcAft>
              <a:defRPr sz="1100" b="0">
                <a:solidFill>
                  <a:srgbClr val="E94560"/>
                </a:solidFill>
                <a:latin typeface="Segoe UI"/>
              </a:defRPr>
            </a:pPr>
            <a:r>
              <a:t>跟丁蟹講：「分析 signal {ID}」</a:t>
            </a:r>
          </a:p>
          <a:p>
            <a:pPr>
              <a:spcAft>
                <a:spcPts val="400"/>
              </a:spcAft>
              <a:defRPr sz="1100" b="0">
                <a:solidFill>
                  <a:srgbClr val="A0A8B8"/>
                </a:solidFill>
                <a:latin typeface="Segoe UI"/>
              </a:defRPr>
            </a:pPr>
            <a:r>
              <a:t>→ 自動下載 CSV + 分析 + Telegram 發送</a:t>
            </a:r>
          </a:p>
          <a:p>
            <a:pPr>
              <a:spcAft>
                <a:spcPts val="400"/>
              </a:spcAft>
              <a:defRPr sz="600" b="0">
                <a:solidFill>
                  <a:srgbClr val="F0F0F0"/>
                </a:solidFill>
                <a:latin typeface="Segoe UI"/>
              </a:defRPr>
            </a:pPr>
          </a:p>
          <a:p>
            <a:pPr>
              <a:spcAft>
                <a:spcPts val="400"/>
              </a:spcAft>
              <a:defRPr sz="1300" b="1">
                <a:solidFill>
                  <a:srgbClr val="FFC107"/>
                </a:solidFill>
                <a:latin typeface="Segoe UI"/>
              </a:defRPr>
            </a:pPr>
            <a:r>
              <a:t>報告查詢命令：</a:t>
            </a:r>
          </a:p>
          <a:p>
            <a:pPr>
              <a:spcAft>
                <a:spcPts val="400"/>
              </a:spcAft>
              <a:defRPr sz="1100" b="0">
                <a:solidFill>
                  <a:srgbClr val="F0F0F0"/>
                </a:solidFill>
                <a:latin typeface="Segoe UI"/>
              </a:defRPr>
            </a:pPr>
            <a:r>
              <a:t>/history — 最近 5 條分析</a:t>
            </a:r>
          </a:p>
          <a:p>
            <a:pPr>
              <a:spcAft>
                <a:spcPts val="400"/>
              </a:spcAft>
              <a:defRPr sz="1100" b="0">
                <a:solidFill>
                  <a:srgbClr val="F0F0F0"/>
                </a:solidFill>
                <a:latin typeface="Segoe UI"/>
              </a:defRPr>
            </a:pPr>
            <a:r>
              <a:t>/summary {id} — 查看詳情</a:t>
            </a:r>
          </a:p>
          <a:p>
            <a:pPr>
              <a:spcAft>
                <a:spcPts val="400"/>
              </a:spcAft>
              <a:defRPr sz="1100" b="0">
                <a:solidFill>
                  <a:srgbClr val="F0F0F0"/>
                </a:solidFill>
                <a:latin typeface="Segoe UI"/>
              </a:defRPr>
            </a:pPr>
            <a:r>
              <a:t>/compare {signal} {v1} {v2} — 版本對比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2286000"/>
            <a:ext cx="12191695" cy="2560320"/>
          </a:xfrm>
          <a:prstGeom prst="rect">
            <a:avLst/>
          </a:prstGeom>
          <a:solidFill>
            <a:srgbClr val="0F3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457200"/>
          </a:xfrm>
          <a:prstGeom prst="rect">
            <a:avLst/>
          </a:prstGeom>
          <a:noFill/>
        </p:spPr>
        <p:txBody>
          <a:bodyPr wrap="square">
            <a:spAutoFit/>
          </a:bodyPr>
          <a:lstStyle/>
          <a:p>
            <a:pPr algn="l">
              <a:defRPr sz="1600" b="1">
                <a:solidFill>
                  <a:srgbClr val="A0A8B8"/>
                </a:solidFill>
                <a:latin typeface="Segoe UI"/>
              </a:defRPr>
            </a:pPr>
            <a:r>
              <a:t>TRADE STRATEGY ANALYZER</a:t>
            </a:r>
          </a:p>
        </p:txBody>
      </p:sp>
      <p:sp>
        <p:nvSpPr>
          <p:cNvPr id="4" name="TextBox 3"/>
          <p:cNvSpPr txBox="1"/>
          <p:nvPr/>
        </p:nvSpPr>
        <p:spPr>
          <a:xfrm>
            <a:off x="914400" y="2468880"/>
            <a:ext cx="10058400" cy="914400"/>
          </a:xfrm>
          <a:prstGeom prst="rect">
            <a:avLst/>
          </a:prstGeom>
          <a:noFill/>
        </p:spPr>
        <p:txBody>
          <a:bodyPr wrap="square">
            <a:spAutoFit/>
          </a:bodyPr>
          <a:lstStyle/>
          <a:p>
            <a:pPr algn="l">
              <a:defRPr sz="4400" b="1">
                <a:solidFill>
                  <a:srgbClr val="F0F0F0"/>
                </a:solidFill>
                <a:latin typeface="Segoe UI"/>
              </a:defRPr>
            </a:pPr>
            <a:r>
              <a:t>系統說明書完</a:t>
            </a:r>
          </a:p>
        </p:txBody>
      </p:sp>
      <p:sp>
        <p:nvSpPr>
          <p:cNvPr id="5" name="TextBox 4"/>
          <p:cNvSpPr txBox="1"/>
          <p:nvPr/>
        </p:nvSpPr>
        <p:spPr>
          <a:xfrm>
            <a:off x="914400" y="3474720"/>
            <a:ext cx="10058400" cy="548640"/>
          </a:xfrm>
          <a:prstGeom prst="rect">
            <a:avLst/>
          </a:prstGeom>
          <a:noFill/>
        </p:spPr>
        <p:txBody>
          <a:bodyPr wrap="square">
            <a:spAutoFit/>
          </a:bodyPr>
          <a:lstStyle/>
          <a:p>
            <a:pPr algn="l">
              <a:defRPr sz="1600" b="0">
                <a:solidFill>
                  <a:srgbClr val="FFC107"/>
                </a:solidFill>
                <a:latin typeface="Segoe UI"/>
              </a:defRPr>
            </a:pPr>
            <a:r>
              <a:t>所有分析基於歷史數據，不構成投資建議。交易有風險，入市需謹慎。</a:t>
            </a:r>
          </a:p>
        </p:txBody>
      </p:sp>
      <p:sp>
        <p:nvSpPr>
          <p:cNvPr id="6" name="TextBox 5"/>
          <p:cNvSpPr txBox="1"/>
          <p:nvPr/>
        </p:nvSpPr>
        <p:spPr>
          <a:xfrm>
            <a:off x="914400" y="5303520"/>
            <a:ext cx="10058400" cy="1097280"/>
          </a:xfrm>
          <a:prstGeom prst="rect">
            <a:avLst/>
          </a:prstGeom>
          <a:noFill/>
        </p:spPr>
        <p:txBody>
          <a:bodyPr wrap="square">
            <a:spAutoFit/>
          </a:bodyPr>
          <a:lstStyle/>
          <a:p>
            <a:pPr>
              <a:spcAft>
                <a:spcPts val="400"/>
              </a:spcAft>
              <a:defRPr sz="1400" b="0">
                <a:solidFill>
                  <a:srgbClr val="A0A8B8"/>
                </a:solidFill>
                <a:latin typeface="Segoe UI"/>
              </a:defRPr>
            </a:pPr>
            <a:r>
              <a:t>📅 版本 v0.7  |  日期 2026-05-18  |  丁蟹 🦀 + Alvin</a:t>
            </a:r>
          </a:p>
          <a:p>
            <a:pPr>
              <a:spcAft>
                <a:spcPts val="400"/>
              </a:spcAft>
              <a:defRPr sz="1300" b="0">
                <a:solidFill>
                  <a:srgbClr val="90CAF9"/>
                </a:solidFill>
                <a:latin typeface="Segoe UI"/>
              </a:defRPr>
            </a:pPr>
            <a:r>
              <a:t>前端：https://alvin-forex.github.io/trade-strategy-analyzer/</a:t>
            </a:r>
          </a:p>
          <a:p>
            <a:pPr>
              <a:spcAft>
                <a:spcPts val="400"/>
              </a:spcAft>
              <a:defRPr sz="1300" b="0">
                <a:solidFill>
                  <a:srgbClr val="A0A8B8"/>
                </a:solidFill>
                <a:latin typeface="Segoe UI"/>
              </a:defRPr>
            </a:pPr>
            <a:r>
              <a:t>後端：localhost:8787  |  Skill：「分析 signal {ID}」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